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4" r:id="rId1"/>
  </p:sldMasterIdLst>
  <p:notesMasterIdLst>
    <p:notesMasterId r:id="rId230"/>
  </p:notesMasterIdLst>
  <p:handoutMasterIdLst>
    <p:handoutMasterId r:id="rId231"/>
  </p:handoutMasterIdLst>
  <p:sldIdLst>
    <p:sldId id="262" r:id="rId2"/>
    <p:sldId id="369" r:id="rId3"/>
    <p:sldId id="370" r:id="rId4"/>
    <p:sldId id="583" r:id="rId5"/>
    <p:sldId id="372" r:id="rId6"/>
    <p:sldId id="368" r:id="rId7"/>
    <p:sldId id="373" r:id="rId8"/>
    <p:sldId id="605" r:id="rId9"/>
    <p:sldId id="606" r:id="rId10"/>
    <p:sldId id="607" r:id="rId11"/>
    <p:sldId id="604" r:id="rId12"/>
    <p:sldId id="608" r:id="rId13"/>
    <p:sldId id="444" r:id="rId14"/>
    <p:sldId id="609" r:id="rId15"/>
    <p:sldId id="454" r:id="rId16"/>
    <p:sldId id="611" r:id="rId17"/>
    <p:sldId id="448" r:id="rId18"/>
    <p:sldId id="612" r:id="rId19"/>
    <p:sldId id="457" r:id="rId20"/>
    <p:sldId id="613" r:id="rId21"/>
    <p:sldId id="441" r:id="rId22"/>
    <p:sldId id="440" r:id="rId23"/>
    <p:sldId id="453" r:id="rId24"/>
    <p:sldId id="443" r:id="rId25"/>
    <p:sldId id="587" r:id="rId26"/>
    <p:sldId id="458" r:id="rId27"/>
    <p:sldId id="584" r:id="rId28"/>
    <p:sldId id="462" r:id="rId29"/>
    <p:sldId id="460" r:id="rId30"/>
    <p:sldId id="461" r:id="rId31"/>
    <p:sldId id="616" r:id="rId32"/>
    <p:sldId id="617" r:id="rId33"/>
    <p:sldId id="618" r:id="rId34"/>
    <p:sldId id="272" r:id="rId35"/>
    <p:sldId id="277" r:id="rId36"/>
    <p:sldId id="614" r:id="rId37"/>
    <p:sldId id="619" r:id="rId38"/>
    <p:sldId id="620" r:id="rId39"/>
    <p:sldId id="621" r:id="rId40"/>
    <p:sldId id="622" r:id="rId41"/>
    <p:sldId id="623" r:id="rId42"/>
    <p:sldId id="627" r:id="rId43"/>
    <p:sldId id="624" r:id="rId44"/>
    <p:sldId id="625" r:id="rId45"/>
    <p:sldId id="626" r:id="rId46"/>
    <p:sldId id="463" r:id="rId47"/>
    <p:sldId id="278" r:id="rId48"/>
    <p:sldId id="628" r:id="rId49"/>
    <p:sldId id="629" r:id="rId50"/>
    <p:sldId id="630" r:id="rId51"/>
    <p:sldId id="631" r:id="rId52"/>
    <p:sldId id="632" r:id="rId53"/>
    <p:sldId id="290" r:id="rId54"/>
    <p:sldId id="633" r:id="rId55"/>
    <p:sldId id="467" r:id="rId56"/>
    <p:sldId id="602" r:id="rId57"/>
    <p:sldId id="634" r:id="rId58"/>
    <p:sldId id="292" r:id="rId59"/>
    <p:sldId id="294" r:id="rId60"/>
    <p:sldId id="501" r:id="rId61"/>
    <p:sldId id="637" r:id="rId62"/>
    <p:sldId id="638" r:id="rId63"/>
    <p:sldId id="635" r:id="rId64"/>
    <p:sldId id="636" r:id="rId65"/>
    <p:sldId id="650" r:id="rId66"/>
    <p:sldId id="651" r:id="rId67"/>
    <p:sldId id="293" r:id="rId68"/>
    <p:sldId id="652" r:id="rId69"/>
    <p:sldId id="639" r:id="rId70"/>
    <p:sldId id="295" r:id="rId71"/>
    <p:sldId id="296" r:id="rId72"/>
    <p:sldId id="297" r:id="rId73"/>
    <p:sldId id="298" r:id="rId74"/>
    <p:sldId id="299" r:id="rId75"/>
    <p:sldId id="655" r:id="rId76"/>
    <p:sldId id="653" r:id="rId77"/>
    <p:sldId id="656" r:id="rId78"/>
    <p:sldId id="657" r:id="rId79"/>
    <p:sldId id="658" r:id="rId80"/>
    <p:sldId id="304" r:id="rId81"/>
    <p:sldId id="377" r:id="rId82"/>
    <p:sldId id="480" r:id="rId83"/>
    <p:sldId id="479" r:id="rId84"/>
    <p:sldId id="305" r:id="rId85"/>
    <p:sldId id="309" r:id="rId86"/>
    <p:sldId id="306" r:id="rId87"/>
    <p:sldId id="640" r:id="rId88"/>
    <p:sldId id="641" r:id="rId89"/>
    <p:sldId id="643" r:id="rId90"/>
    <p:sldId id="642" r:id="rId91"/>
    <p:sldId id="659" r:id="rId92"/>
    <p:sldId id="481" r:id="rId93"/>
    <p:sldId id="483" r:id="rId94"/>
    <p:sldId id="482" r:id="rId95"/>
    <p:sldId id="660" r:id="rId96"/>
    <p:sldId id="661" r:id="rId97"/>
    <p:sldId id="662" r:id="rId98"/>
    <p:sldId id="644" r:id="rId99"/>
    <p:sldId id="645" r:id="rId100"/>
    <p:sldId id="301" r:id="rId101"/>
    <p:sldId id="647" r:id="rId102"/>
    <p:sldId id="648" r:id="rId103"/>
    <p:sldId id="649" r:id="rId104"/>
    <p:sldId id="663" r:id="rId105"/>
    <p:sldId id="646" r:id="rId106"/>
    <p:sldId id="664" r:id="rId107"/>
    <p:sldId id="665" r:id="rId108"/>
    <p:sldId id="666" r:id="rId109"/>
    <p:sldId id="667" r:id="rId110"/>
    <p:sldId id="485" r:id="rId111"/>
    <p:sldId id="336" r:id="rId112"/>
    <p:sldId id="684" r:id="rId113"/>
    <p:sldId id="552" r:id="rId114"/>
    <p:sldId id="553" r:id="rId115"/>
    <p:sldId id="554" r:id="rId116"/>
    <p:sldId id="555" r:id="rId117"/>
    <p:sldId id="561" r:id="rId118"/>
    <p:sldId id="556" r:id="rId119"/>
    <p:sldId id="562" r:id="rId120"/>
    <p:sldId id="558" r:id="rId121"/>
    <p:sldId id="670" r:id="rId122"/>
    <p:sldId id="337" r:id="rId123"/>
    <p:sldId id="338" r:id="rId124"/>
    <p:sldId id="339" r:id="rId125"/>
    <p:sldId id="340" r:id="rId126"/>
    <p:sldId id="341" r:id="rId127"/>
    <p:sldId id="668" r:id="rId128"/>
    <p:sldId id="669" r:id="rId129"/>
    <p:sldId id="345" r:id="rId130"/>
    <p:sldId id="347" r:id="rId131"/>
    <p:sldId id="671" r:id="rId132"/>
    <p:sldId id="350" r:id="rId133"/>
    <p:sldId id="351" r:id="rId134"/>
    <p:sldId id="672" r:id="rId135"/>
    <p:sldId id="673" r:id="rId136"/>
    <p:sldId id="674" r:id="rId137"/>
    <p:sldId id="675" r:id="rId138"/>
    <p:sldId id="676" r:id="rId139"/>
    <p:sldId id="677" r:id="rId140"/>
    <p:sldId id="678" r:id="rId141"/>
    <p:sldId id="679" r:id="rId142"/>
    <p:sldId id="680" r:id="rId143"/>
    <p:sldId id="681" r:id="rId144"/>
    <p:sldId id="682" r:id="rId145"/>
    <p:sldId id="683" r:id="rId146"/>
    <p:sldId id="356" r:id="rId147"/>
    <p:sldId id="686" r:id="rId148"/>
    <p:sldId id="685" r:id="rId149"/>
    <p:sldId id="687" r:id="rId150"/>
    <p:sldId id="688" r:id="rId151"/>
    <p:sldId id="689" r:id="rId152"/>
    <p:sldId id="690" r:id="rId153"/>
    <p:sldId id="691" r:id="rId154"/>
    <p:sldId id="694" r:id="rId155"/>
    <p:sldId id="692" r:id="rId156"/>
    <p:sldId id="693" r:id="rId157"/>
    <p:sldId id="695" r:id="rId158"/>
    <p:sldId id="696" r:id="rId159"/>
    <p:sldId id="378" r:id="rId160"/>
    <p:sldId id="310" r:id="rId161"/>
    <p:sldId id="311" r:id="rId162"/>
    <p:sldId id="585" r:id="rId163"/>
    <p:sldId id="317" r:id="rId164"/>
    <p:sldId id="363" r:id="rId165"/>
    <p:sldId id="697" r:id="rId166"/>
    <p:sldId id="596" r:id="rId167"/>
    <p:sldId id="600" r:id="rId168"/>
    <p:sldId id="598" r:id="rId169"/>
    <p:sldId id="698" r:id="rId170"/>
    <p:sldId id="601" r:id="rId171"/>
    <p:sldId id="597" r:id="rId172"/>
    <p:sldId id="599" r:id="rId173"/>
    <p:sldId id="379" r:id="rId174"/>
    <p:sldId id="541" r:id="rId175"/>
    <p:sldId id="322" r:id="rId176"/>
    <p:sldId id="323" r:id="rId177"/>
    <p:sldId id="324" r:id="rId178"/>
    <p:sldId id="325" r:id="rId179"/>
    <p:sldId id="326" r:id="rId180"/>
    <p:sldId id="543" r:id="rId181"/>
    <p:sldId id="546" r:id="rId182"/>
    <p:sldId id="699" r:id="rId183"/>
    <p:sldId id="545" r:id="rId184"/>
    <p:sldId id="465" r:id="rId185"/>
    <p:sldId id="575" r:id="rId186"/>
    <p:sldId id="507" r:id="rId187"/>
    <p:sldId id="508" r:id="rId188"/>
    <p:sldId id="568" r:id="rId189"/>
    <p:sldId id="523" r:id="rId190"/>
    <p:sldId id="579" r:id="rId191"/>
    <p:sldId id="524" r:id="rId192"/>
    <p:sldId id="576" r:id="rId193"/>
    <p:sldId id="577" r:id="rId194"/>
    <p:sldId id="603" r:id="rId195"/>
    <p:sldId id="700" r:id="rId196"/>
    <p:sldId id="701" r:id="rId197"/>
    <p:sldId id="702" r:id="rId198"/>
    <p:sldId id="544" r:id="rId199"/>
    <p:sldId id="588" r:id="rId200"/>
    <p:sldId id="589" r:id="rId201"/>
    <p:sldId id="590" r:id="rId202"/>
    <p:sldId id="591" r:id="rId203"/>
    <p:sldId id="400" r:id="rId204"/>
    <p:sldId id="704" r:id="rId205"/>
    <p:sldId id="705" r:id="rId206"/>
    <p:sldId id="707" r:id="rId207"/>
    <p:sldId id="708" r:id="rId208"/>
    <p:sldId id="706" r:id="rId209"/>
    <p:sldId id="709" r:id="rId210"/>
    <p:sldId id="374" r:id="rId211"/>
    <p:sldId id="710" r:id="rId212"/>
    <p:sldId id="375" r:id="rId213"/>
    <p:sldId id="287" r:id="rId214"/>
    <p:sldId id="712" r:id="rId215"/>
    <p:sldId id="288" r:id="rId216"/>
    <p:sldId id="291" r:id="rId217"/>
    <p:sldId id="703" r:id="rId218"/>
    <p:sldId id="716" r:id="rId219"/>
    <p:sldId id="713" r:id="rId220"/>
    <p:sldId id="714" r:id="rId221"/>
    <p:sldId id="279" r:id="rId222"/>
    <p:sldId id="280" r:id="rId223"/>
    <p:sldId id="281" r:id="rId224"/>
    <p:sldId id="282" r:id="rId225"/>
    <p:sldId id="283" r:id="rId226"/>
    <p:sldId id="715" r:id="rId227"/>
    <p:sldId id="285" r:id="rId228"/>
    <p:sldId id="286" r:id="rId229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50000"/>
      </a:spcBef>
      <a:spcAft>
        <a:spcPct val="0"/>
      </a:spcAft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37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7E9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1" autoAdjust="0"/>
  </p:normalViewPr>
  <p:slideViewPr>
    <p:cSldViewPr>
      <p:cViewPr varScale="1">
        <p:scale>
          <a:sx n="112" d="100"/>
          <a:sy n="112" d="100"/>
        </p:scale>
        <p:origin x="1620" y="9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4032" y="102"/>
      </p:cViewPr>
      <p:guideLst>
        <p:guide orient="horz" pos="3037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notesMaster" Target="notesMasters/notesMaster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231" Type="http://schemas.openxmlformats.org/officeDocument/2006/relationships/handoutMaster" Target="handoutMasters/handoutMaster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presProps" Target="pres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viewProps" Target="viewProp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tableStyles" Target="tableStyles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2A18F8D-BAB4-5742-D59F-5F3275563A7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06" tIns="47753" rIns="95506" bIns="47753" numCol="1" anchor="t" anchorCtr="0" compatLnSpc="1">
            <a:prstTxWarp prst="textNoShape">
              <a:avLst/>
            </a:prstTxWarp>
          </a:bodyPr>
          <a:lstStyle>
            <a:lvl1pPr defTabSz="955675" eaLnBrk="0" hangingPunct="0">
              <a:spcBef>
                <a:spcPct val="0"/>
              </a:spcBef>
              <a:defRPr sz="1300" b="0">
                <a:solidFill>
                  <a:schemeClr val="bg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73F6E3A-D69D-E324-9311-9259A099C70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06" tIns="47753" rIns="95506" bIns="47753" numCol="1" anchor="t" anchorCtr="0" compatLnSpc="1">
            <a:prstTxWarp prst="textNoShape">
              <a:avLst/>
            </a:prstTxWarp>
          </a:bodyPr>
          <a:lstStyle>
            <a:lvl1pPr algn="r" defTabSz="955675" eaLnBrk="0" hangingPunct="0">
              <a:spcBef>
                <a:spcPct val="0"/>
              </a:spcBef>
              <a:defRPr sz="1300" b="0">
                <a:solidFill>
                  <a:schemeClr val="bg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1DCA16A2-62F8-2C08-A6E5-B289D0347D5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691688"/>
            <a:ext cx="3074988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06" tIns="47753" rIns="95506" bIns="47753" numCol="1" anchor="b" anchorCtr="0" compatLnSpc="1">
            <a:prstTxWarp prst="textNoShape">
              <a:avLst/>
            </a:prstTxWarp>
          </a:bodyPr>
          <a:lstStyle>
            <a:lvl1pPr defTabSz="955675" eaLnBrk="0" hangingPunct="0">
              <a:spcBef>
                <a:spcPct val="0"/>
              </a:spcBef>
              <a:defRPr sz="1300" b="0">
                <a:solidFill>
                  <a:schemeClr val="bg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18FF5CDF-608A-9C7E-4663-A70CF1327D1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691688"/>
            <a:ext cx="3074987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06" tIns="47753" rIns="95506" bIns="47753" numCol="1" anchor="b" anchorCtr="0" compatLnSpc="1">
            <a:prstTxWarp prst="textNoShape">
              <a:avLst/>
            </a:prstTxWarp>
          </a:bodyPr>
          <a:lstStyle>
            <a:lvl1pPr algn="r" defTabSz="955675" eaLnBrk="0" hangingPunct="0">
              <a:spcBef>
                <a:spcPct val="0"/>
              </a:spcBef>
              <a:defRPr sz="13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fld id="{D9D3D762-F1BE-4554-A395-3D19C5794C0E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050">
            <a:extLst>
              <a:ext uri="{FF2B5EF4-FFF2-40B4-BE49-F238E27FC236}">
                <a16:creationId xmlns:a16="http://schemas.microsoft.com/office/drawing/2014/main" id="{BA02FAF7-E1C6-ED23-8C05-37C6D1F99F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276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15988" eaLnBrk="0" hangingPunct="0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7651" name="Rectangle 2051">
            <a:extLst>
              <a:ext uri="{FF2B5EF4-FFF2-40B4-BE49-F238E27FC236}">
                <a16:creationId xmlns:a16="http://schemas.microsoft.com/office/drawing/2014/main" id="{762DE3F2-CA4E-03DC-93FD-7BE8A6B5794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46538" y="0"/>
            <a:ext cx="305276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915988" eaLnBrk="0" hangingPunct="0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5828" name="Rectangle 2052">
            <a:extLst>
              <a:ext uri="{FF2B5EF4-FFF2-40B4-BE49-F238E27FC236}">
                <a16:creationId xmlns:a16="http://schemas.microsoft.com/office/drawing/2014/main" id="{151B2746-D275-197E-A43E-E3B2DD36468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4575" y="763588"/>
            <a:ext cx="5086350" cy="38147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3" name="Rectangle 2053">
            <a:extLst>
              <a:ext uri="{FF2B5EF4-FFF2-40B4-BE49-F238E27FC236}">
                <a16:creationId xmlns:a16="http://schemas.microsoft.com/office/drawing/2014/main" id="{8D78FBB9-40BC-8D79-CD8B-6E3F3D9A03D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988" y="4883150"/>
            <a:ext cx="5267325" cy="457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Textformatierung des Masters zu bearbeiten.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7654" name="Rectangle 2054">
            <a:extLst>
              <a:ext uri="{FF2B5EF4-FFF2-40B4-BE49-F238E27FC236}">
                <a16:creationId xmlns:a16="http://schemas.microsoft.com/office/drawing/2014/main" id="{E4701A0E-1597-13CC-BC75-9F647099C1E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88513"/>
            <a:ext cx="305276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15988" eaLnBrk="0" hangingPunct="0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7655" name="Rectangle 2055">
            <a:extLst>
              <a:ext uri="{FF2B5EF4-FFF2-40B4-BE49-F238E27FC236}">
                <a16:creationId xmlns:a16="http://schemas.microsoft.com/office/drawing/2014/main" id="{0477901A-7069-A262-4F46-C670786073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46538" y="9688513"/>
            <a:ext cx="305276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15988" eaLnBrk="0" hangingPunct="0">
              <a:spcBef>
                <a:spcPct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fld id="{67B4F00C-4967-4A3C-821C-8D4B950B0DC6}" type="slidenum">
              <a:rPr lang="de-DE" altLang="de-DE"/>
              <a:pPr/>
              <a:t>‹#›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Folienbildplatzhalter 1">
            <a:extLst>
              <a:ext uri="{FF2B5EF4-FFF2-40B4-BE49-F238E27FC236}">
                <a16:creationId xmlns:a16="http://schemas.microsoft.com/office/drawing/2014/main" id="{82C91C58-844B-8B39-BD23-2E1C34275E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687388" y="617538"/>
            <a:ext cx="5710237" cy="4283075"/>
          </a:xfrm>
          <a:ln/>
        </p:spPr>
      </p:sp>
      <p:sp>
        <p:nvSpPr>
          <p:cNvPr id="206851" name="Notizenplatzhalter 2">
            <a:extLst>
              <a:ext uri="{FF2B5EF4-FFF2-40B4-BE49-F238E27FC236}">
                <a16:creationId xmlns:a16="http://schemas.microsoft.com/office/drawing/2014/main" id="{83FAED3E-6B6F-9275-3081-93C283A1B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</p:spPr>
        <p:txBody>
          <a:bodyPr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Folienbildplatzhalter 1">
            <a:extLst>
              <a:ext uri="{FF2B5EF4-FFF2-40B4-BE49-F238E27FC236}">
                <a16:creationId xmlns:a16="http://schemas.microsoft.com/office/drawing/2014/main" id="{51A164CD-6774-3909-4812-44570D1690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687388" y="617538"/>
            <a:ext cx="5710237" cy="4283075"/>
          </a:xfrm>
          <a:ln/>
        </p:spPr>
      </p:sp>
      <p:sp>
        <p:nvSpPr>
          <p:cNvPr id="207875" name="Notizenplatzhalter 2">
            <a:extLst>
              <a:ext uri="{FF2B5EF4-FFF2-40B4-BE49-F238E27FC236}">
                <a16:creationId xmlns:a16="http://schemas.microsoft.com/office/drawing/2014/main" id="{DD25B3C0-61C4-2E2C-245A-60BB36820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</p:spPr>
        <p:txBody>
          <a:bodyPr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Folienbildplatzhalter 1">
            <a:extLst>
              <a:ext uri="{FF2B5EF4-FFF2-40B4-BE49-F238E27FC236}">
                <a16:creationId xmlns:a16="http://schemas.microsoft.com/office/drawing/2014/main" id="{7B23BCAF-7807-ACE9-622A-5B448937CC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687388" y="619125"/>
            <a:ext cx="5708650" cy="4281488"/>
          </a:xfrm>
          <a:ln/>
        </p:spPr>
      </p:sp>
      <p:sp>
        <p:nvSpPr>
          <p:cNvPr id="208899" name="Notizenplatzhalter 2">
            <a:extLst>
              <a:ext uri="{FF2B5EF4-FFF2-40B4-BE49-F238E27FC236}">
                <a16:creationId xmlns:a16="http://schemas.microsoft.com/office/drawing/2014/main" id="{23D404C3-4322-D381-27FD-435E402C0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</p:spPr>
        <p:txBody>
          <a:bodyPr lIns="99038" tIns="49520" rIns="99038" bIns="49520"/>
          <a:lstStyle/>
          <a:p>
            <a:endParaRPr lang="de-DE" altLang="de-DE"/>
          </a:p>
        </p:txBody>
      </p:sp>
      <p:sp>
        <p:nvSpPr>
          <p:cNvPr id="208900" name="Foliennummernplatzhalter 3">
            <a:extLst>
              <a:ext uri="{FF2B5EF4-FFF2-40B4-BE49-F238E27FC236}">
                <a16:creationId xmlns:a16="http://schemas.microsoft.com/office/drawing/2014/main" id="{64C146B8-613B-0890-0BA3-A559ABE56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noFill/>
        </p:spPr>
        <p:txBody>
          <a:bodyPr lIns="99038" tIns="49520" rIns="99038" bIns="49520"/>
          <a:lstStyle>
            <a:lvl1pPr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2AF409B8-50DA-4F77-8612-968773960957}" type="slidenum">
              <a:rPr lang="de-DE" altLang="de-DE" sz="1200" b="0">
                <a:solidFill>
                  <a:schemeClr val="tx1"/>
                </a:solidFill>
              </a:rPr>
              <a:pPr/>
              <a:t>5</a:t>
            </a:fld>
            <a:endParaRPr lang="de-DE" altLang="de-DE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055">
            <a:extLst>
              <a:ext uri="{FF2B5EF4-FFF2-40B4-BE49-F238E27FC236}">
                <a16:creationId xmlns:a16="http://schemas.microsoft.com/office/drawing/2014/main" id="{A519D15B-213E-6FBC-11EF-80E892ACC3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C5D7CB89-6746-4F5C-9E87-3246C68FC802}" type="slidenum">
              <a:rPr lang="de-DE" altLang="de-DE" sz="1200" b="0">
                <a:solidFill>
                  <a:schemeClr val="tx1"/>
                </a:solidFill>
              </a:rPr>
              <a:pPr/>
              <a:t>13</a:t>
            </a:fld>
            <a:endParaRPr lang="de-DE" altLang="de-DE" sz="1200" b="0">
              <a:solidFill>
                <a:schemeClr val="tx1"/>
              </a:solidFill>
            </a:endParaRPr>
          </a:p>
        </p:txBody>
      </p:sp>
      <p:sp>
        <p:nvSpPr>
          <p:cNvPr id="209923" name="Rectangle 1">
            <a:extLst>
              <a:ext uri="{FF2B5EF4-FFF2-40B4-BE49-F238E27FC236}">
                <a16:creationId xmlns:a16="http://schemas.microsoft.com/office/drawing/2014/main" id="{C481310D-2F00-7903-499C-D00730305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09924" name="Rectangle 2">
            <a:extLst>
              <a:ext uri="{FF2B5EF4-FFF2-40B4-BE49-F238E27FC236}">
                <a16:creationId xmlns:a16="http://schemas.microsoft.com/office/drawing/2014/main" id="{632244F1-7F41-95F3-6D98-E8261BAC2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>
            <a:extLst>
              <a:ext uri="{FF2B5EF4-FFF2-40B4-BE49-F238E27FC236}">
                <a16:creationId xmlns:a16="http://schemas.microsoft.com/office/drawing/2014/main" id="{98032A9A-7D39-AC72-5DD3-C32F6463C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1AC8ABA1-59DA-46D1-9EAB-A7A116747B3C}" type="slidenum">
              <a:rPr lang="de-DE" altLang="de-DE" sz="1200" b="0">
                <a:solidFill>
                  <a:schemeClr val="tx1"/>
                </a:solidFill>
              </a:rPr>
              <a:pPr/>
              <a:t>17</a:t>
            </a:fld>
            <a:endParaRPr lang="de-DE" altLang="de-DE" sz="1200" b="0">
              <a:solidFill>
                <a:schemeClr val="tx1"/>
              </a:solidFill>
            </a:endParaRPr>
          </a:p>
        </p:txBody>
      </p:sp>
      <p:sp>
        <p:nvSpPr>
          <p:cNvPr id="210947" name="Rectangle 1">
            <a:extLst>
              <a:ext uri="{FF2B5EF4-FFF2-40B4-BE49-F238E27FC236}">
                <a16:creationId xmlns:a16="http://schemas.microsoft.com/office/drawing/2014/main" id="{3162D41A-401C-B034-7CC0-B377AE08BF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10948" name="Rectangle 2">
            <a:extLst>
              <a:ext uri="{FF2B5EF4-FFF2-40B4-BE49-F238E27FC236}">
                <a16:creationId xmlns:a16="http://schemas.microsoft.com/office/drawing/2014/main" id="{E5F47B46-0107-E55D-1639-312EA8F8C5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88185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>
            <a:extLst>
              <a:ext uri="{FF2B5EF4-FFF2-40B4-BE49-F238E27FC236}">
                <a16:creationId xmlns:a16="http://schemas.microsoft.com/office/drawing/2014/main" id="{E9E8A842-0D3E-4222-7188-64E5AEF746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326EA6CA-F316-4796-B9E1-CBCE3DDA5CA3}" type="slidenum">
              <a:rPr lang="de-DE" altLang="de-DE" sz="1200" b="0">
                <a:solidFill>
                  <a:schemeClr val="tx1"/>
                </a:solidFill>
              </a:rPr>
              <a:pPr/>
              <a:t>34</a:t>
            </a:fld>
            <a:endParaRPr lang="de-DE" altLang="de-DE" sz="1200" b="0">
              <a:solidFill>
                <a:schemeClr val="tx1"/>
              </a:solidFill>
            </a:endParaRPr>
          </a:p>
        </p:txBody>
      </p:sp>
      <p:sp>
        <p:nvSpPr>
          <p:cNvPr id="211971" name="Rectangle 1">
            <a:extLst>
              <a:ext uri="{FF2B5EF4-FFF2-40B4-BE49-F238E27FC236}">
                <a16:creationId xmlns:a16="http://schemas.microsoft.com/office/drawing/2014/main" id="{DDAEEBE6-A2D0-67A3-3EEA-34536589C8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11972" name="Rectangle 2">
            <a:extLst>
              <a:ext uri="{FF2B5EF4-FFF2-40B4-BE49-F238E27FC236}">
                <a16:creationId xmlns:a16="http://schemas.microsoft.com/office/drawing/2014/main" id="{B5F09402-C1F2-F0E0-8F2C-605752561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>
            <a:extLst>
              <a:ext uri="{FF2B5EF4-FFF2-40B4-BE49-F238E27FC236}">
                <a16:creationId xmlns:a16="http://schemas.microsoft.com/office/drawing/2014/main" id="{656A6B9B-B06C-C645-B461-B758275374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79113E3F-7C9F-4714-9A0F-008941576099}" type="slidenum">
              <a:rPr lang="de-DE" altLang="de-DE" sz="1200" b="0">
                <a:solidFill>
                  <a:schemeClr val="tx1"/>
                </a:solidFill>
              </a:rPr>
              <a:pPr/>
              <a:t>35</a:t>
            </a:fld>
            <a:endParaRPr lang="de-DE" altLang="de-DE" sz="1200" b="0">
              <a:solidFill>
                <a:schemeClr val="tx1"/>
              </a:solidFill>
            </a:endParaRPr>
          </a:p>
        </p:txBody>
      </p:sp>
      <p:sp>
        <p:nvSpPr>
          <p:cNvPr id="215043" name="Rectangle 1">
            <a:extLst>
              <a:ext uri="{FF2B5EF4-FFF2-40B4-BE49-F238E27FC236}">
                <a16:creationId xmlns:a16="http://schemas.microsoft.com/office/drawing/2014/main" id="{1296912C-DA4C-8F47-C21F-65CA46787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15044" name="Rectangle 2">
            <a:extLst>
              <a:ext uri="{FF2B5EF4-FFF2-40B4-BE49-F238E27FC236}">
                <a16:creationId xmlns:a16="http://schemas.microsoft.com/office/drawing/2014/main" id="{4337907F-735B-A5E6-485D-FEFC3518B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03047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>
            <a:extLst>
              <a:ext uri="{FF2B5EF4-FFF2-40B4-BE49-F238E27FC236}">
                <a16:creationId xmlns:a16="http://schemas.microsoft.com/office/drawing/2014/main" id="{951462A9-1380-9BB7-A64B-38B572689E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5D6C187B-2908-4FCD-A131-7D35B283B172}" type="slidenum">
              <a:rPr lang="de-DE" altLang="de-DE" sz="1200" b="0">
                <a:solidFill>
                  <a:schemeClr val="tx1"/>
                </a:solidFill>
              </a:rPr>
              <a:pPr/>
              <a:t>46</a:t>
            </a:fld>
            <a:endParaRPr lang="de-DE" altLang="de-DE" sz="1200" b="0">
              <a:solidFill>
                <a:schemeClr val="tx1"/>
              </a:solidFill>
            </a:endParaRPr>
          </a:p>
        </p:txBody>
      </p:sp>
      <p:sp>
        <p:nvSpPr>
          <p:cNvPr id="212995" name="Rectangle 1">
            <a:extLst>
              <a:ext uri="{FF2B5EF4-FFF2-40B4-BE49-F238E27FC236}">
                <a16:creationId xmlns:a16="http://schemas.microsoft.com/office/drawing/2014/main" id="{7C5C844A-A0FF-FA6B-D226-684E7430BA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12996" name="Rectangle 2">
            <a:extLst>
              <a:ext uri="{FF2B5EF4-FFF2-40B4-BE49-F238E27FC236}">
                <a16:creationId xmlns:a16="http://schemas.microsoft.com/office/drawing/2014/main" id="{A6FAD3CE-EB35-8AEA-145C-BEF9BB434E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>
            <a:extLst>
              <a:ext uri="{FF2B5EF4-FFF2-40B4-BE49-F238E27FC236}">
                <a16:creationId xmlns:a16="http://schemas.microsoft.com/office/drawing/2014/main" id="{E51DB931-ABB2-EBE2-59F7-96D9E61BD1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1596E36C-B7AB-402D-88E7-520968FA9211}" type="slidenum">
              <a:rPr lang="de-DE" altLang="de-DE" sz="1200" b="0">
                <a:solidFill>
                  <a:schemeClr val="tx1"/>
                </a:solidFill>
              </a:rPr>
              <a:pPr/>
              <a:t>47</a:t>
            </a:fld>
            <a:endParaRPr lang="de-DE" altLang="de-DE" sz="1200" b="0">
              <a:solidFill>
                <a:schemeClr val="tx1"/>
              </a:solidFill>
            </a:endParaRPr>
          </a:p>
        </p:txBody>
      </p:sp>
      <p:sp>
        <p:nvSpPr>
          <p:cNvPr id="216067" name="Rectangle 1">
            <a:extLst>
              <a:ext uri="{FF2B5EF4-FFF2-40B4-BE49-F238E27FC236}">
                <a16:creationId xmlns:a16="http://schemas.microsoft.com/office/drawing/2014/main" id="{52B0ED8C-21A5-0ED6-F65F-D425D2318A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16068" name="Rectangle 2">
            <a:extLst>
              <a:ext uri="{FF2B5EF4-FFF2-40B4-BE49-F238E27FC236}">
                <a16:creationId xmlns:a16="http://schemas.microsoft.com/office/drawing/2014/main" id="{5F2E1FD4-BD23-B281-C2A9-842C77B50D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1">
            <a:extLst>
              <a:ext uri="{FF2B5EF4-FFF2-40B4-BE49-F238E27FC236}">
                <a16:creationId xmlns:a16="http://schemas.microsoft.com/office/drawing/2014/main" id="{45B6275C-270A-C761-107E-11124F608C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26307" name="Rectangle 2">
            <a:extLst>
              <a:ext uri="{FF2B5EF4-FFF2-40B4-BE49-F238E27FC236}">
                <a16:creationId xmlns:a16="http://schemas.microsoft.com/office/drawing/2014/main" id="{A4C93F00-2CA0-70E5-601F-195FD0BA9E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1">
            <a:extLst>
              <a:ext uri="{FF2B5EF4-FFF2-40B4-BE49-F238E27FC236}">
                <a16:creationId xmlns:a16="http://schemas.microsoft.com/office/drawing/2014/main" id="{95C587FB-8CEB-85D8-0A17-F21DC1EA27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27331" name="Rectangle 2">
            <a:extLst>
              <a:ext uri="{FF2B5EF4-FFF2-40B4-BE49-F238E27FC236}">
                <a16:creationId xmlns:a16="http://schemas.microsoft.com/office/drawing/2014/main" id="{21A7B8CE-FFE8-1565-42F4-D44DF87B86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1">
            <a:extLst>
              <a:ext uri="{FF2B5EF4-FFF2-40B4-BE49-F238E27FC236}">
                <a16:creationId xmlns:a16="http://schemas.microsoft.com/office/drawing/2014/main" id="{3FFB622D-9989-140B-8115-D427C0B9B0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28355" name="Rectangle 2">
            <a:extLst>
              <a:ext uri="{FF2B5EF4-FFF2-40B4-BE49-F238E27FC236}">
                <a16:creationId xmlns:a16="http://schemas.microsoft.com/office/drawing/2014/main" id="{3B90B670-048C-A1E5-C131-BF8A5AAA1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1">
            <a:extLst>
              <a:ext uri="{FF2B5EF4-FFF2-40B4-BE49-F238E27FC236}">
                <a16:creationId xmlns:a16="http://schemas.microsoft.com/office/drawing/2014/main" id="{166CCC98-AE34-158E-ED83-AD659EBA7B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29379" name="Rectangle 2">
            <a:extLst>
              <a:ext uri="{FF2B5EF4-FFF2-40B4-BE49-F238E27FC236}">
                <a16:creationId xmlns:a16="http://schemas.microsoft.com/office/drawing/2014/main" id="{B9FAA3F0-A5D4-4819-EDCC-CE8072C7D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d85769c5f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d85769c5f4_0_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d85769c5f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d85769c5f4_0_2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d85769c5f4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d85769c5f4_0_2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d85769c5f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d85769c5f4_0_3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d85769c5f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d85769c5f4_0_3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d85769c5f4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d85769c5f4_0_4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d85769c5f4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d85769c5f4_0_5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1">
            <a:extLst>
              <a:ext uri="{FF2B5EF4-FFF2-40B4-BE49-F238E27FC236}">
                <a16:creationId xmlns:a16="http://schemas.microsoft.com/office/drawing/2014/main" id="{9D095352-E135-FF2F-A4FE-DAD17F37BA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30403" name="Rectangle 2">
            <a:extLst>
              <a:ext uri="{FF2B5EF4-FFF2-40B4-BE49-F238E27FC236}">
                <a16:creationId xmlns:a16="http://schemas.microsoft.com/office/drawing/2014/main" id="{79A5EB3B-865A-5091-E2A1-EC71E796C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1">
            <a:extLst>
              <a:ext uri="{FF2B5EF4-FFF2-40B4-BE49-F238E27FC236}">
                <a16:creationId xmlns:a16="http://schemas.microsoft.com/office/drawing/2014/main" id="{BE196333-7D13-37E7-841D-BB4940858C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31427" name="Rectangle 2">
            <a:extLst>
              <a:ext uri="{FF2B5EF4-FFF2-40B4-BE49-F238E27FC236}">
                <a16:creationId xmlns:a16="http://schemas.microsoft.com/office/drawing/2014/main" id="{3AAC3B02-E16A-2341-59E3-BA1ED7AB1D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1">
            <a:extLst>
              <a:ext uri="{FF2B5EF4-FFF2-40B4-BE49-F238E27FC236}">
                <a16:creationId xmlns:a16="http://schemas.microsoft.com/office/drawing/2014/main" id="{ADCF2CC7-4330-4D93-ED55-D6059C8C08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36547" name="Rectangle 2">
            <a:extLst>
              <a:ext uri="{FF2B5EF4-FFF2-40B4-BE49-F238E27FC236}">
                <a16:creationId xmlns:a16="http://schemas.microsoft.com/office/drawing/2014/main" id="{B12142A4-3B26-0991-EFC2-1E507E0CAC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5464173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1">
            <a:extLst>
              <a:ext uri="{FF2B5EF4-FFF2-40B4-BE49-F238E27FC236}">
                <a16:creationId xmlns:a16="http://schemas.microsoft.com/office/drawing/2014/main" id="{C4857783-465E-64B5-8DE4-8F76753437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37972E79-74DA-6ACB-EE18-0E8FEE92C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1">
            <a:extLst>
              <a:ext uri="{FF2B5EF4-FFF2-40B4-BE49-F238E27FC236}">
                <a16:creationId xmlns:a16="http://schemas.microsoft.com/office/drawing/2014/main" id="{879DCB5C-720E-1DF3-3028-7074A6E19F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32451" name="Rectangle 2">
            <a:extLst>
              <a:ext uri="{FF2B5EF4-FFF2-40B4-BE49-F238E27FC236}">
                <a16:creationId xmlns:a16="http://schemas.microsoft.com/office/drawing/2014/main" id="{F2A25F37-3288-39BF-06E9-F0082F15B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1">
            <a:extLst>
              <a:ext uri="{FF2B5EF4-FFF2-40B4-BE49-F238E27FC236}">
                <a16:creationId xmlns:a16="http://schemas.microsoft.com/office/drawing/2014/main" id="{03C11A30-2F79-DC40-3EAF-82215FEB6C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33475" name="Rectangle 2">
            <a:extLst>
              <a:ext uri="{FF2B5EF4-FFF2-40B4-BE49-F238E27FC236}">
                <a16:creationId xmlns:a16="http://schemas.microsoft.com/office/drawing/2014/main" id="{3188202B-D2DE-9ED6-BB8F-07E26710E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1">
            <a:extLst>
              <a:ext uri="{FF2B5EF4-FFF2-40B4-BE49-F238E27FC236}">
                <a16:creationId xmlns:a16="http://schemas.microsoft.com/office/drawing/2014/main" id="{99DF18CD-71BF-747C-C5EE-94C78DF2A6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34499" name="Rectangle 2">
            <a:extLst>
              <a:ext uri="{FF2B5EF4-FFF2-40B4-BE49-F238E27FC236}">
                <a16:creationId xmlns:a16="http://schemas.microsoft.com/office/drawing/2014/main" id="{6F7DAB32-B0F5-BBF4-E824-7294CFD611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d85769c5f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d85769c5f4_0_6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1">
            <a:extLst>
              <a:ext uri="{FF2B5EF4-FFF2-40B4-BE49-F238E27FC236}">
                <a16:creationId xmlns:a16="http://schemas.microsoft.com/office/drawing/2014/main" id="{75D07C30-10E7-E1D8-355F-C541A5F50C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37571" name="Rectangle 2">
            <a:extLst>
              <a:ext uri="{FF2B5EF4-FFF2-40B4-BE49-F238E27FC236}">
                <a16:creationId xmlns:a16="http://schemas.microsoft.com/office/drawing/2014/main" id="{538F4BFD-5800-EFDA-1BCC-861EF6A08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af7be23a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af7be23a41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af7be23a4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af7be23a41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2af7be23a4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2af7be23a41_0_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af7be23a4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af7be23a41_0_2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2af7be23a4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2af7be23a41_0_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af7be23a4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af7be23a41_0_4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>
          <a:extLst>
            <a:ext uri="{FF2B5EF4-FFF2-40B4-BE49-F238E27FC236}">
              <a16:creationId xmlns:a16="http://schemas.microsoft.com/office/drawing/2014/main" id="{E85F47D0-4285-FF5A-5439-96D332AF4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af7be23a41_0_45:notes">
            <a:extLst>
              <a:ext uri="{FF2B5EF4-FFF2-40B4-BE49-F238E27FC236}">
                <a16:creationId xmlns:a16="http://schemas.microsoft.com/office/drawing/2014/main" id="{669B9251-8884-3A63-9B8F-37F7C5C9F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af7be23a41_0_45:notes">
            <a:extLst>
              <a:ext uri="{FF2B5EF4-FFF2-40B4-BE49-F238E27FC236}">
                <a16:creationId xmlns:a16="http://schemas.microsoft.com/office/drawing/2014/main" id="{99609F48-8B6C-5EEF-92D2-61E20511A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75702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>
          <a:extLst>
            <a:ext uri="{FF2B5EF4-FFF2-40B4-BE49-F238E27FC236}">
              <a16:creationId xmlns:a16="http://schemas.microsoft.com/office/drawing/2014/main" id="{3FADC466-65DE-CEF0-DFFE-6EC1AD08D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af7be23a41_0_45:notes">
            <a:extLst>
              <a:ext uri="{FF2B5EF4-FFF2-40B4-BE49-F238E27FC236}">
                <a16:creationId xmlns:a16="http://schemas.microsoft.com/office/drawing/2014/main" id="{EDD40199-EF40-BD28-FEA9-2D61947ACE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af7be23a41_0_45:notes">
            <a:extLst>
              <a:ext uri="{FF2B5EF4-FFF2-40B4-BE49-F238E27FC236}">
                <a16:creationId xmlns:a16="http://schemas.microsoft.com/office/drawing/2014/main" id="{DEC2DAE9-A358-12C5-E65B-0C46EB7998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52827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af7be23a4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af7be23a41_0_9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af7be23a41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af7be23a41_0_13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af7be23a41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af7be23a41_0_17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af7be23a4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af7be23a41_0_17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4B912B9C-FB2E-6AE2-3722-E1BBDA62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af7be23a41_0_185:notes">
            <a:extLst>
              <a:ext uri="{FF2B5EF4-FFF2-40B4-BE49-F238E27FC236}">
                <a16:creationId xmlns:a16="http://schemas.microsoft.com/office/drawing/2014/main" id="{D7C703CE-CADB-7B30-2B5F-DCE7E64060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af7be23a41_0_185:notes">
            <a:extLst>
              <a:ext uri="{FF2B5EF4-FFF2-40B4-BE49-F238E27FC236}">
                <a16:creationId xmlns:a16="http://schemas.microsoft.com/office/drawing/2014/main" id="{8B6E3B8E-A9FB-C1BD-80F5-C89ED886BC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7517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CC73BA7E-234B-82AD-6086-882BEBE6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af7be23a41_0_185:notes">
            <a:extLst>
              <a:ext uri="{FF2B5EF4-FFF2-40B4-BE49-F238E27FC236}">
                <a16:creationId xmlns:a16="http://schemas.microsoft.com/office/drawing/2014/main" id="{4761C66F-0FA8-9264-4042-1C97BEF500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af7be23a41_0_185:notes">
            <a:extLst>
              <a:ext uri="{FF2B5EF4-FFF2-40B4-BE49-F238E27FC236}">
                <a16:creationId xmlns:a16="http://schemas.microsoft.com/office/drawing/2014/main" id="{796BDFF5-65A7-CB74-DED0-B6BA0332D1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1436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14CC6C3B-82C3-7335-66F9-61BEABE5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af7be23a41_0_185:notes">
            <a:extLst>
              <a:ext uri="{FF2B5EF4-FFF2-40B4-BE49-F238E27FC236}">
                <a16:creationId xmlns:a16="http://schemas.microsoft.com/office/drawing/2014/main" id="{0BF1E97F-3275-A0C4-31B3-AB871EEC00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af7be23a41_0_185:notes">
            <a:extLst>
              <a:ext uri="{FF2B5EF4-FFF2-40B4-BE49-F238E27FC236}">
                <a16:creationId xmlns:a16="http://schemas.microsoft.com/office/drawing/2014/main" id="{F8BB8709-36EE-FD22-6591-E7AD8ED11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08723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F20F8992-5C8E-42B4-121E-80ADC5210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af7be23a41_0_185:notes">
            <a:extLst>
              <a:ext uri="{FF2B5EF4-FFF2-40B4-BE49-F238E27FC236}">
                <a16:creationId xmlns:a16="http://schemas.microsoft.com/office/drawing/2014/main" id="{9F0FA09F-5CDA-62E7-393E-81A16240E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af7be23a41_0_185:notes">
            <a:extLst>
              <a:ext uri="{FF2B5EF4-FFF2-40B4-BE49-F238E27FC236}">
                <a16:creationId xmlns:a16="http://schemas.microsoft.com/office/drawing/2014/main" id="{9CE62294-A666-EC1C-1020-B240B962A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21491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91A4348C-99C2-1DA1-26CD-0C30B7A37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af7be23a41_0_185:notes">
            <a:extLst>
              <a:ext uri="{FF2B5EF4-FFF2-40B4-BE49-F238E27FC236}">
                <a16:creationId xmlns:a16="http://schemas.microsoft.com/office/drawing/2014/main" id="{52CC0149-5299-ADC2-AE88-32E73E755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af7be23a41_0_185:notes">
            <a:extLst>
              <a:ext uri="{FF2B5EF4-FFF2-40B4-BE49-F238E27FC236}">
                <a16:creationId xmlns:a16="http://schemas.microsoft.com/office/drawing/2014/main" id="{5D70E4F6-99E4-C748-6FAA-F6B2E1C195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11709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048F39F5-27DE-71F8-2331-EE527458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af7be23a41_0_185:notes">
            <a:extLst>
              <a:ext uri="{FF2B5EF4-FFF2-40B4-BE49-F238E27FC236}">
                <a16:creationId xmlns:a16="http://schemas.microsoft.com/office/drawing/2014/main" id="{D60A728F-E4D2-40B3-29D1-D456D04D77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af7be23a41_0_185:notes">
            <a:extLst>
              <a:ext uri="{FF2B5EF4-FFF2-40B4-BE49-F238E27FC236}">
                <a16:creationId xmlns:a16="http://schemas.microsoft.com/office/drawing/2014/main" id="{F02FF386-AA11-9279-943B-659B796AED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95147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af7be23a41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af7be23a41_0_3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af7be23a41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2af7be23a41_0_3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86613E7C-1E6E-5431-2E7B-7FD87AE1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af7be23a41_0_185:notes">
            <a:extLst>
              <a:ext uri="{FF2B5EF4-FFF2-40B4-BE49-F238E27FC236}">
                <a16:creationId xmlns:a16="http://schemas.microsoft.com/office/drawing/2014/main" id="{AB6E88F6-A38A-9276-FB86-2814F4510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af7be23a41_0_185:notes">
            <a:extLst>
              <a:ext uri="{FF2B5EF4-FFF2-40B4-BE49-F238E27FC236}">
                <a16:creationId xmlns:a16="http://schemas.microsoft.com/office/drawing/2014/main" id="{31EF07E6-6266-89A5-744B-57793FEA54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284717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1">
            <a:extLst>
              <a:ext uri="{FF2B5EF4-FFF2-40B4-BE49-F238E27FC236}">
                <a16:creationId xmlns:a16="http://schemas.microsoft.com/office/drawing/2014/main" id="{4952B76F-0321-5D95-5076-F3A3C49A40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38595" name="Rectangle 2">
            <a:extLst>
              <a:ext uri="{FF2B5EF4-FFF2-40B4-BE49-F238E27FC236}">
                <a16:creationId xmlns:a16="http://schemas.microsoft.com/office/drawing/2014/main" id="{42778975-3C87-8E24-49B1-2BECD62F95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">
            <a:extLst>
              <a:ext uri="{FF2B5EF4-FFF2-40B4-BE49-F238E27FC236}">
                <a16:creationId xmlns:a16="http://schemas.microsoft.com/office/drawing/2014/main" id="{84F3B6AF-26B2-B5FA-AF69-51F434CB04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39619" name="Rectangle 2">
            <a:extLst>
              <a:ext uri="{FF2B5EF4-FFF2-40B4-BE49-F238E27FC236}">
                <a16:creationId xmlns:a16="http://schemas.microsoft.com/office/drawing/2014/main" id="{E9D11F38-4E72-300F-5A1A-226B50419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2b0a3bbb6c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2b0a3bbb6c_1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2b0a3bbb6c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2b0a3bbb6c_1_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2b0a3bbb6c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2b0a3bbb6c_1_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2b0a3bbb6c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2b0a3bbb6c_1_2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2b0a3bbb6c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2b0a3bbb6c_1_3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1">
            <a:extLst>
              <a:ext uri="{FF2B5EF4-FFF2-40B4-BE49-F238E27FC236}">
                <a16:creationId xmlns:a16="http://schemas.microsoft.com/office/drawing/2014/main" id="{36704409-6A3B-4219-3CC9-2144C460FB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E50362E1-16A4-79BF-D8F2-406A684B7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7">
            <a:extLst>
              <a:ext uri="{FF2B5EF4-FFF2-40B4-BE49-F238E27FC236}">
                <a16:creationId xmlns:a16="http://schemas.microsoft.com/office/drawing/2014/main" id="{7663ABBB-D843-1B15-C0A8-CBAA14B7E3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9159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12088AF8-7B59-4759-8BFA-9CDA90041654}" type="slidenum">
              <a:rPr lang="de-DE" altLang="de-DE" sz="1200" b="0">
                <a:solidFill>
                  <a:schemeClr val="tx1"/>
                </a:solidFill>
              </a:rPr>
              <a:pPr/>
              <a:t>184</a:t>
            </a:fld>
            <a:endParaRPr lang="de-DE" altLang="de-DE" sz="1200" b="0">
              <a:solidFill>
                <a:schemeClr val="tx1"/>
              </a:solidFill>
            </a:endParaRPr>
          </a:p>
        </p:txBody>
      </p:sp>
      <p:sp>
        <p:nvSpPr>
          <p:cNvPr id="254979" name="Rectangle 1">
            <a:extLst>
              <a:ext uri="{FF2B5EF4-FFF2-40B4-BE49-F238E27FC236}">
                <a16:creationId xmlns:a16="http://schemas.microsoft.com/office/drawing/2014/main" id="{98CD0958-C070-279F-03EA-5023B329C3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54980" name="Rectangle 2">
            <a:extLst>
              <a:ext uri="{FF2B5EF4-FFF2-40B4-BE49-F238E27FC236}">
                <a16:creationId xmlns:a16="http://schemas.microsoft.com/office/drawing/2014/main" id="{75B52579-ABDE-8805-688A-0A0A7EFE73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0428683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1">
            <a:extLst>
              <a:ext uri="{FF2B5EF4-FFF2-40B4-BE49-F238E27FC236}">
                <a16:creationId xmlns:a16="http://schemas.microsoft.com/office/drawing/2014/main" id="{9BFF8DF9-C9BB-A362-04FB-8C6E473D1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56003" name="Rectangle 2">
            <a:extLst>
              <a:ext uri="{FF2B5EF4-FFF2-40B4-BE49-F238E27FC236}">
                <a16:creationId xmlns:a16="http://schemas.microsoft.com/office/drawing/2014/main" id="{49DFCC12-7B38-93CA-C4B1-DB14EC5C6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177962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1">
            <a:extLst>
              <a:ext uri="{FF2B5EF4-FFF2-40B4-BE49-F238E27FC236}">
                <a16:creationId xmlns:a16="http://schemas.microsoft.com/office/drawing/2014/main" id="{ED4C90C9-4D8B-432C-A5BB-C50830903C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57027" name="Rectangle 2">
            <a:extLst>
              <a:ext uri="{FF2B5EF4-FFF2-40B4-BE49-F238E27FC236}">
                <a16:creationId xmlns:a16="http://schemas.microsoft.com/office/drawing/2014/main" id="{50BE02ED-546A-FC23-B51A-71547E0EF9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07517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1">
            <a:extLst>
              <a:ext uri="{FF2B5EF4-FFF2-40B4-BE49-F238E27FC236}">
                <a16:creationId xmlns:a16="http://schemas.microsoft.com/office/drawing/2014/main" id="{00775EC1-FF59-0CED-3654-BA678517B7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58051" name="Rectangle 2">
            <a:extLst>
              <a:ext uri="{FF2B5EF4-FFF2-40B4-BE49-F238E27FC236}">
                <a16:creationId xmlns:a16="http://schemas.microsoft.com/office/drawing/2014/main" id="{9293E821-12A3-5C3E-CDF8-9B59CBE48C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1267487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1">
            <a:extLst>
              <a:ext uri="{FF2B5EF4-FFF2-40B4-BE49-F238E27FC236}">
                <a16:creationId xmlns:a16="http://schemas.microsoft.com/office/drawing/2014/main" id="{53C9A6EA-100D-9293-42A9-4091E4ADAF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63171" name="Rectangle 2">
            <a:extLst>
              <a:ext uri="{FF2B5EF4-FFF2-40B4-BE49-F238E27FC236}">
                <a16:creationId xmlns:a16="http://schemas.microsoft.com/office/drawing/2014/main" id="{17BCA6D2-FCD2-B39A-9C4E-09C7F3B79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5722681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1">
            <a:extLst>
              <a:ext uri="{FF2B5EF4-FFF2-40B4-BE49-F238E27FC236}">
                <a16:creationId xmlns:a16="http://schemas.microsoft.com/office/drawing/2014/main" id="{E2A69794-EF0B-CBF6-242F-F218E6FAFD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59075" name="Rectangle 2">
            <a:extLst>
              <a:ext uri="{FF2B5EF4-FFF2-40B4-BE49-F238E27FC236}">
                <a16:creationId xmlns:a16="http://schemas.microsoft.com/office/drawing/2014/main" id="{A0AAA1A0-FA49-56A1-87E4-56DEA20504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9786473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1">
            <a:extLst>
              <a:ext uri="{FF2B5EF4-FFF2-40B4-BE49-F238E27FC236}">
                <a16:creationId xmlns:a16="http://schemas.microsoft.com/office/drawing/2014/main" id="{F3418F2B-FC62-1961-89DF-3B3D86DABA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60099" name="Rectangle 2">
            <a:extLst>
              <a:ext uri="{FF2B5EF4-FFF2-40B4-BE49-F238E27FC236}">
                <a16:creationId xmlns:a16="http://schemas.microsoft.com/office/drawing/2014/main" id="{F309C53D-81A3-F866-EAAF-92165F4FF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6544502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1">
            <a:extLst>
              <a:ext uri="{FF2B5EF4-FFF2-40B4-BE49-F238E27FC236}">
                <a16:creationId xmlns:a16="http://schemas.microsoft.com/office/drawing/2014/main" id="{6A2E4BEF-FF51-EFEF-7017-2F2B5FF124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808038"/>
            <a:ext cx="5441950" cy="4081462"/>
          </a:xfrm>
          <a:solidFill>
            <a:srgbClr val="FFFFFF"/>
          </a:solidFill>
          <a:ln/>
        </p:spPr>
      </p:sp>
      <p:sp>
        <p:nvSpPr>
          <p:cNvPr id="261123" name="Rectangle 2">
            <a:extLst>
              <a:ext uri="{FF2B5EF4-FFF2-40B4-BE49-F238E27FC236}">
                <a16:creationId xmlns:a16="http://schemas.microsoft.com/office/drawing/2014/main" id="{C98A6D90-EA06-D2B8-205F-72F347CDB6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3" y="5605463"/>
            <a:ext cx="5286375" cy="3684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506" tIns="47753" rIns="95506" bIns="47753" anchor="ctr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6723941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>
          <a:extLst>
            <a:ext uri="{FF2B5EF4-FFF2-40B4-BE49-F238E27FC236}">
              <a16:creationId xmlns:a16="http://schemas.microsoft.com/office/drawing/2014/main" id="{D6C68384-8C23-36A2-2FC1-7DB713F43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c277b55773_0_0:notes">
            <a:extLst>
              <a:ext uri="{FF2B5EF4-FFF2-40B4-BE49-F238E27FC236}">
                <a16:creationId xmlns:a16="http://schemas.microsoft.com/office/drawing/2014/main" id="{ED5156C5-49FE-8867-B8F9-724460264D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c277b55773_0_0:notes">
            <a:extLst>
              <a:ext uri="{FF2B5EF4-FFF2-40B4-BE49-F238E27FC236}">
                <a16:creationId xmlns:a16="http://schemas.microsoft.com/office/drawing/2014/main" id="{5EDF3B72-14F9-1436-1BAF-22A4746617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422399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346a89f1a4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3346a89f1a4_0_1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346a89f1a4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3346a89f1a4_0_1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346a89f1a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3346a89f1a4_0_1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eadd182b7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eadd182b7_0_10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3eadd182b7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3eadd182b7_0_1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3eadd182b7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3eadd182b7_0_12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3eadd18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3eadd182b7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3eadd182b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3eadd182b7_1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3eadd182b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3eadd182b7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3eadd182b7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3eadd182b7_1_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3eadd182b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3eadd182b7_0_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3eadd182b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3eadd182b7_0_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3eadd182b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3eadd182b7_0_9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3eadd182b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3eadd182b7_0_9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910515" y="4293096"/>
            <a:ext cx="4686670" cy="1584176"/>
          </a:xfrm>
          <a:prstGeom prst="rect">
            <a:avLst/>
          </a:prstGeom>
        </p:spPr>
        <p:txBody>
          <a:bodyPr lIns="90000"/>
          <a:lstStyle>
            <a:lvl1pPr marL="342900" indent="-342900">
              <a:buNone/>
              <a:defRPr lang="de-DE" sz="2000" dirty="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910515" y="2132856"/>
            <a:ext cx="6829837" cy="2160240"/>
          </a:xfrm>
        </p:spPr>
        <p:txBody>
          <a:bodyPr anchor="b"/>
          <a:lstStyle>
            <a:lvl1pPr>
              <a:defRPr sz="4000" baseline="0"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4" name="Picture 3" descr="A close-up of a sign&#10;&#10;Description automatically generated">
            <a:extLst>
              <a:ext uri="{FF2B5EF4-FFF2-40B4-BE49-F238E27FC236}">
                <a16:creationId xmlns:a16="http://schemas.microsoft.com/office/drawing/2014/main" id="{3A0A2E7C-D8CD-80B8-FC74-3B10DA138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815" y="188640"/>
            <a:ext cx="3044577" cy="85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74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09EBCBB2-A4C1-2167-DCD6-21FCBB92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BAB8B349-C573-D619-E996-3616FD47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Python 3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DC86EEA2-B9DD-98C9-C74B-94452AA0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C55711-C661-4B9F-A580-A7D95705C47D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95687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Textplatzhalter 9"/>
          <p:cNvSpPr>
            <a:spLocks noGrp="1"/>
          </p:cNvSpPr>
          <p:nvPr>
            <p:ph idx="1"/>
          </p:nvPr>
        </p:nvSpPr>
        <p:spPr>
          <a:xfrm>
            <a:off x="251520" y="1196752"/>
            <a:ext cx="8535203" cy="509055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226BF931-8FEA-44EE-638C-E50E7B5E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D46F83C3-912E-1658-8F88-33A63386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Python 3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A189552-7630-D66A-6A7B-DF862B03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9DA911-5634-4A4C-962D-00516315FFE4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5230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läuter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Textplatzhalter 9"/>
          <p:cNvSpPr>
            <a:spLocks noGrp="1"/>
          </p:cNvSpPr>
          <p:nvPr>
            <p:ph idx="1"/>
          </p:nvPr>
        </p:nvSpPr>
        <p:spPr>
          <a:xfrm>
            <a:off x="251520" y="1196752"/>
            <a:ext cx="8535203" cy="509055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BC75BCC-B309-131A-7DEF-5A2FA8E0E2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B10E1E61-956C-5849-9DAB-0171BA82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Python 3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2E1F5CD7-3C6E-17C5-66C6-EE8079E0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61FA5C-D896-460D-ADB5-722D856B4DA9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4595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4569147"/>
            <a:ext cx="4953000" cy="1362075"/>
          </a:xfrm>
        </p:spPr>
        <p:txBody>
          <a:bodyPr anchor="t"/>
          <a:lstStyle>
            <a:lvl1pPr algn="l">
              <a:defRPr sz="2400" b="1" cap="all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1560" y="3068960"/>
            <a:ext cx="4953000" cy="1500187"/>
          </a:xfrm>
          <a:prstGeom prst="rect">
            <a:avLst/>
          </a:prstGeom>
        </p:spPr>
        <p:txBody>
          <a:bodyPr lIns="90000"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BC4B44-8190-2B92-389C-81373CE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E89F5A-DE9B-4434-D9D0-F24D0FE0C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1FD336-ED1E-316B-677D-84EF5F0B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07E11D-2694-4D01-89FC-B49C6B5950F4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83249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0">
            <a:extLst>
              <a:ext uri="{FF2B5EF4-FFF2-40B4-BE49-F238E27FC236}">
                <a16:creationId xmlns:a16="http://schemas.microsoft.com/office/drawing/2014/main" id="{189273E9-0B90-6A8E-C4D1-65A56331C0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92100" y="3933825"/>
            <a:ext cx="6646863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de-DE" dirty="0">
                <a:latin typeface="Calibri" pitchFamily="34" charset="0"/>
                <a:cs typeface="Calibri" pitchFamily="34" charset="0"/>
              </a:rPr>
              <a:t>© </a:t>
            </a:r>
            <a:r>
              <a:rPr lang="de-DE" dirty="0" err="1">
                <a:latin typeface="Calibri" pitchFamily="34" charset="0"/>
                <a:cs typeface="Calibri" pitchFamily="34" charset="0"/>
              </a:rPr>
              <a:t>Javacream</a:t>
            </a:r>
            <a:endParaRPr lang="de-DE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defRPr/>
            </a:pPr>
            <a:endParaRPr lang="de-DE" dirty="0"/>
          </a:p>
          <a:p>
            <a:pPr eaLnBrk="1" hangingPunct="1">
              <a:defRPr/>
            </a:pPr>
            <a:r>
              <a:rPr lang="de-DE" dirty="0" err="1"/>
              <a:t>Javacream</a:t>
            </a:r>
            <a:endParaRPr lang="de-DE" dirty="0"/>
          </a:p>
          <a:p>
            <a:pPr eaLnBrk="1" hangingPunct="1">
              <a:defRPr/>
            </a:pPr>
            <a:r>
              <a:rPr lang="de-DE" dirty="0"/>
              <a:t>Dr. Rainer </a:t>
            </a:r>
            <a:r>
              <a:rPr lang="de-DE" dirty="0" err="1"/>
              <a:t>Sawitzki</a:t>
            </a:r>
            <a:endParaRPr lang="de-DE" dirty="0"/>
          </a:p>
          <a:p>
            <a:pPr eaLnBrk="1" hangingPunct="1">
              <a:defRPr/>
            </a:pPr>
            <a:r>
              <a:rPr lang="de-DE" dirty="0"/>
              <a:t>Alois-</a:t>
            </a:r>
            <a:r>
              <a:rPr lang="de-DE" dirty="0" err="1"/>
              <a:t>Gilg</a:t>
            </a:r>
            <a:r>
              <a:rPr lang="de-DE" dirty="0"/>
              <a:t>-Weg 6</a:t>
            </a:r>
            <a:br>
              <a:rPr lang="de-DE" dirty="0"/>
            </a:br>
            <a:r>
              <a:rPr lang="de-DE" dirty="0"/>
              <a:t>81373 München</a:t>
            </a:r>
            <a:endParaRPr lang="de-DE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defRPr/>
            </a:pPr>
            <a:endParaRPr lang="de-DE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defRPr/>
            </a:pPr>
            <a:r>
              <a:rPr lang="de-DE" dirty="0">
                <a:latin typeface="Calibri" pitchFamily="34" charset="0"/>
                <a:cs typeface="Calibri" pitchFamily="34" charset="0"/>
              </a:rPr>
              <a:t>Alle Rechte, einschließlich derjenigen des auszugsweisen Abdrucks, der fotomechanischen und elektronischen Wiedergabe vorbehalten.</a:t>
            </a:r>
          </a:p>
        </p:txBody>
      </p:sp>
      <p:sp>
        <p:nvSpPr>
          <p:cNvPr id="3" name="Textfeld 10">
            <a:extLst>
              <a:ext uri="{FF2B5EF4-FFF2-40B4-BE49-F238E27FC236}">
                <a16:creationId xmlns:a16="http://schemas.microsoft.com/office/drawing/2014/main" id="{E3CC019D-D29D-C511-0A9F-F2D600CA1451}"/>
              </a:ext>
            </a:extLst>
          </p:cNvPr>
          <p:cNvSpPr txBox="1"/>
          <p:nvPr userDrawn="1"/>
        </p:nvSpPr>
        <p:spPr>
          <a:xfrm>
            <a:off x="307975" y="0"/>
            <a:ext cx="5903913" cy="935038"/>
          </a:xfrm>
          <a:prstGeom prst="rect">
            <a:avLst/>
          </a:prstGeom>
        </p:spPr>
        <p:txBody>
          <a:bodyPr lIns="0" anchor="ctr"/>
          <a:lstStyle>
            <a:lvl1pPr>
              <a:spcBef>
                <a:spcPct val="0"/>
              </a:spcBef>
              <a:buNone/>
              <a:defRPr sz="2400" b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 dirty="0"/>
              <a:t>Copyright und Impressum</a:t>
            </a:r>
          </a:p>
        </p:txBody>
      </p:sp>
    </p:spTree>
    <p:extLst>
      <p:ext uri="{BB962C8B-B14F-4D97-AF65-F5344CB8AC3E}">
        <p14:creationId xmlns:p14="http://schemas.microsoft.com/office/powerpoint/2010/main" val="2955859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1_Titel und Inhal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323529" y="1"/>
            <a:ext cx="5688600" cy="9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001000" y="6459537"/>
            <a:ext cx="8193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23850" y="1196753"/>
            <a:ext cx="8496300" cy="50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dk1"/>
                </a:solidFill>
              </a:defRPr>
            </a:lvl2pPr>
            <a:lvl3pPr marL="137160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  <a:defRPr>
                <a:solidFill>
                  <a:schemeClr val="dk1"/>
                </a:solidFill>
              </a:defRPr>
            </a:lvl3pPr>
            <a:lvl4pPr marL="182880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dk1"/>
                </a:solidFill>
              </a:defRPr>
            </a:lvl4pPr>
            <a:lvl5pPr marL="228600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▪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819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24000" y="4293120"/>
            <a:ext cx="8496000" cy="13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24000" y="2793120"/>
            <a:ext cx="8496000" cy="14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56784" y="6333135"/>
            <a:ext cx="548700" cy="52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704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>
            <a:extLst>
              <a:ext uri="{FF2B5EF4-FFF2-40B4-BE49-F238E27FC236}">
                <a16:creationId xmlns:a16="http://schemas.microsoft.com/office/drawing/2014/main" id="{CBFAE143-BB41-67E2-90C7-23314BA9678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50825" y="0"/>
            <a:ext cx="56896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27" name="Line 70">
            <a:extLst>
              <a:ext uri="{FF2B5EF4-FFF2-40B4-BE49-F238E27FC236}">
                <a16:creationId xmlns:a16="http://schemas.microsoft.com/office/drawing/2014/main" id="{DF5785D9-B167-871D-C739-E9543E097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459538"/>
            <a:ext cx="9144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de-DE"/>
          </a:p>
        </p:txBody>
      </p:sp>
      <p:sp>
        <p:nvSpPr>
          <p:cNvPr id="1028" name="Line 71">
            <a:extLst>
              <a:ext uri="{FF2B5EF4-FFF2-40B4-BE49-F238E27FC236}">
                <a16:creationId xmlns:a16="http://schemas.microsoft.com/office/drawing/2014/main" id="{069592C4-7EBE-F70F-B2C2-6478D89B888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935038"/>
            <a:ext cx="91440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93124D-9621-3E11-5970-39830A89C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3850" y="6459538"/>
            <a:ext cx="20161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Autofit/>
          </a:bodyPr>
          <a:lstStyle>
            <a:lvl1pPr algn="l">
              <a:defRPr lang="en-US" sz="1000" b="0">
                <a:solidFill>
                  <a:schemeClr val="accent5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7BA576-FB3E-BE38-61DE-E0D9BCD85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11413" y="6459538"/>
            <a:ext cx="5400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6000" rIns="90000" bIns="36000" anchor="ctr">
            <a:noAutofit/>
          </a:bodyPr>
          <a:lstStyle>
            <a:lvl1pPr algn="l">
              <a:defRPr lang="de-DE" sz="1000" b="0">
                <a:solidFill>
                  <a:schemeClr val="accent5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44B55A-BD49-DBD5-B64F-E0503CCCE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01000" y="6459538"/>
            <a:ext cx="835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36000" rIns="90000" bIns="3600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1000" b="0">
                <a:solidFill>
                  <a:srgbClr val="A7A7A7"/>
                </a:solidFill>
              </a:defRPr>
            </a:lvl1pPr>
          </a:lstStyle>
          <a:p>
            <a:fld id="{6798A2E3-872E-467B-9E17-10F938FD0EAD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1032" name="Textplatzhalter 9">
            <a:extLst>
              <a:ext uri="{FF2B5EF4-FFF2-40B4-BE49-F238E27FC236}">
                <a16:creationId xmlns:a16="http://schemas.microsoft.com/office/drawing/2014/main" id="{FA28BF14-7725-E285-7831-388C6BD893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50825" y="1196975"/>
            <a:ext cx="8535988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370D8C5F-223D-FB9A-AD9E-4B62055B598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961" y="19082"/>
            <a:ext cx="3044577" cy="8549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18" r:id="rId2"/>
    <p:sldLayoutId id="2147483919" r:id="rId3"/>
    <p:sldLayoutId id="2147483920" r:id="rId4"/>
    <p:sldLayoutId id="2147483921" r:id="rId5"/>
    <p:sldLayoutId id="2147483937" r:id="rId6"/>
    <p:sldLayoutId id="2147483938" r:id="rId7"/>
    <p:sldLayoutId id="2147483939" r:id="rId8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bg2">
              <a:lumMod val="75000"/>
            </a:schemeClr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itchFamily="34" charset="0"/>
        </a:defRPr>
      </a:lvl9pPr>
    </p:titleStyle>
    <p:bodyStyle>
      <a:lvl1pPr marL="269875" indent="-269875" algn="l" rtl="0" eaLnBrk="0" fontAlgn="base" hangingPunct="0">
        <a:spcBef>
          <a:spcPts val="600"/>
        </a:spcBef>
        <a:spcAft>
          <a:spcPct val="0"/>
        </a:spcAft>
        <a:buClr>
          <a:schemeClr val="bg2">
            <a:lumMod val="50000"/>
          </a:schemeClr>
        </a:buClr>
        <a:buFont typeface="Wingdings" panose="05000000000000000000" pitchFamily="2" charset="2"/>
        <a:buChar char="§"/>
        <a:defRPr lang="de-DE" sz="2000" kern="1200" dirty="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539750" indent="-250825" algn="l" rtl="0" eaLnBrk="0" fontAlgn="base" hangingPunct="0">
        <a:spcBef>
          <a:spcPct val="0"/>
        </a:spcBef>
        <a:spcAft>
          <a:spcPct val="0"/>
        </a:spcAft>
        <a:buClr>
          <a:schemeClr val="bg2">
            <a:lumMod val="50000"/>
          </a:schemeClr>
        </a:buClr>
        <a:buFont typeface="Wingdings" panose="05000000000000000000" pitchFamily="2" charset="2"/>
        <a:buChar char="§"/>
        <a:defRPr lang="de-DE" kern="1200" dirty="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714375" indent="-174625" algn="l" rtl="0" eaLnBrk="0" fontAlgn="base" hangingPunct="0">
        <a:spcBef>
          <a:spcPct val="0"/>
        </a:spcBef>
        <a:spcAft>
          <a:spcPct val="0"/>
        </a:spcAft>
        <a:buClr>
          <a:schemeClr val="bg2">
            <a:lumMod val="50000"/>
          </a:schemeClr>
        </a:buClr>
        <a:buFont typeface="Wingdings" panose="05000000000000000000" pitchFamily="2" charset="2"/>
        <a:buChar char="§"/>
        <a:defRPr lang="de-DE" sz="1600" kern="1200" dirty="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896938" indent="-182563" algn="l" rtl="0" eaLnBrk="0" fontAlgn="base" hangingPunct="0">
        <a:spcBef>
          <a:spcPct val="0"/>
        </a:spcBef>
        <a:spcAft>
          <a:spcPct val="0"/>
        </a:spcAft>
        <a:buClr>
          <a:schemeClr val="bg2">
            <a:lumMod val="50000"/>
          </a:schemeClr>
        </a:buClr>
        <a:buFont typeface="Wingdings" panose="05000000000000000000" pitchFamily="2" charset="2"/>
        <a:buChar char="§"/>
        <a:defRPr lang="de-DE" sz="1400" kern="1200" dirty="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1079500" indent="-182563" algn="l" rtl="0" eaLnBrk="0" fontAlgn="base" hangingPunct="0">
        <a:spcBef>
          <a:spcPct val="0"/>
        </a:spcBef>
        <a:spcAft>
          <a:spcPct val="0"/>
        </a:spcAft>
        <a:buClr>
          <a:schemeClr val="bg2">
            <a:lumMod val="50000"/>
          </a:schemeClr>
        </a:buClr>
        <a:buFont typeface="Wingdings" panose="05000000000000000000" pitchFamily="2" charset="2"/>
        <a:buChar char="§"/>
        <a:defRPr sz="1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de.wikipedia.org/wiki/Body-Mass-Index" TargetMode="Externa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de.wikipedia.org/wiki/Body-Mass-Index" TargetMode="Externa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vacream/org.javacream.training.python/tree/8892154ad50ddf48b23af243fc54f268825200b0/src/06" TargetMode="Externa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python_lists_comprehension.asp" TargetMode="External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library.org/dev/docs" TargetMode="External"/><Relationship Id="rId2" Type="http://schemas.openxmlformats.org/officeDocument/2006/relationships/hyperlink" Target="https://pypi.org/project/requests/" TargetMode="External"/><Relationship Id="rId1" Type="http://schemas.openxmlformats.org/officeDocument/2006/relationships/slideLayout" Target="../slideLayouts/slideLayout3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552A0935-6C0F-6ADC-6D53-B306911E9646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>
          <a:xfrm>
            <a:off x="911225" y="4292600"/>
            <a:ext cx="4686300" cy="1584325"/>
          </a:xfrm>
          <a:solidFill>
            <a:srgbClr val="FFFFFF"/>
          </a:solidFill>
        </p:spPr>
        <p:txBody>
          <a:bodyPr/>
          <a:lstStyle/>
          <a:p>
            <a:pPr marL="0" indent="0">
              <a:defRPr/>
            </a:pPr>
            <a:r>
              <a:rPr sz="2400"/>
              <a:t>Grundlagen der Programmierung</a:t>
            </a:r>
          </a:p>
        </p:txBody>
      </p:sp>
      <p:sp>
        <p:nvSpPr>
          <p:cNvPr id="25602" name="Title 1">
            <a:extLst>
              <a:ext uri="{FF2B5EF4-FFF2-40B4-BE49-F238E27FC236}">
                <a16:creationId xmlns:a16="http://schemas.microsoft.com/office/drawing/2014/main" id="{A39C46C5-8D42-32F5-0EC1-69820D710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225" y="2133600"/>
            <a:ext cx="6829425" cy="2159000"/>
          </a:xfrm>
        </p:spPr>
        <p:txBody>
          <a:bodyPr/>
          <a:lstStyle/>
          <a:p>
            <a:pPr>
              <a:defRPr/>
            </a:pPr>
            <a:r>
              <a:rPr lang="de-DE" dirty="0"/>
              <a:t>Python 3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">
            <a:extLst>
              <a:ext uri="{FF2B5EF4-FFF2-40B4-BE49-F238E27FC236}">
                <a16:creationId xmlns:a16="http://schemas.microsoft.com/office/drawing/2014/main" id="{3F958D93-E204-2638-0F64-108F08B2F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6915150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4400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de-DE" altLang="de-DE" sz="2400">
              <a:solidFill>
                <a:srgbClr val="B51621"/>
              </a:solidFill>
              <a:ea typeface="DejaVu Sans"/>
              <a:cs typeface="DejaVu Sans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E81E7D-6F5B-A205-24DC-97A9B209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FB835D4-2409-E89A-7796-9EB751EA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EF592B-8BF1-85E4-4B69-E558526C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11C6A3B-800C-4E31-BFF9-A765EB080EE5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2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pic>
        <p:nvPicPr>
          <p:cNvPr id="24583" name="Picture 8">
            <a:extLst>
              <a:ext uri="{FF2B5EF4-FFF2-40B4-BE49-F238E27FC236}">
                <a16:creationId xmlns:a16="http://schemas.microsoft.com/office/drawing/2014/main" id="{176C93B9-A820-1EC0-500F-DF4EBB30D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125538"/>
            <a:ext cx="3697287" cy="512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4" name="Picture 9">
            <a:extLst>
              <a:ext uri="{FF2B5EF4-FFF2-40B4-BE49-F238E27FC236}">
                <a16:creationId xmlns:a16="http://schemas.microsoft.com/office/drawing/2014/main" id="{1A966750-1134-A1BD-EB5D-42E272E68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125538"/>
            <a:ext cx="4356100" cy="3598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1BE153F-0221-A1DB-E9DB-DC5FC170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 und Quellen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404CF5A-C110-45AF-EDC8-4707FB009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0"/>
            <a:ext cx="5689600" cy="935038"/>
          </a:xfrm>
        </p:spPr>
        <p:txBody>
          <a:bodyPr/>
          <a:lstStyle/>
          <a:p>
            <a:r>
              <a:rPr lang="de-DE" altLang="de-DE"/>
              <a:t>Einige Hinweise</a:t>
            </a:r>
          </a:p>
        </p:txBody>
      </p:sp>
      <p:sp>
        <p:nvSpPr>
          <p:cNvPr id="25603" name="Inhaltsplatzhalter 7">
            <a:extLst>
              <a:ext uri="{FF2B5EF4-FFF2-40B4-BE49-F238E27FC236}">
                <a16:creationId xmlns:a16="http://schemas.microsoft.com/office/drawing/2014/main" id="{DC472CE9-3439-7659-F4AB-7BC3242B1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96752"/>
            <a:ext cx="8535203" cy="5090554"/>
          </a:xfrm>
        </p:spPr>
        <p:txBody>
          <a:bodyPr/>
          <a:lstStyle/>
          <a:p>
            <a:r>
              <a:rPr lang="de-DE" altLang="de-DE"/>
              <a:t>Die in diesem Seminar verwendete Werkzeuge und Frameworks sind Open Source</a:t>
            </a:r>
          </a:p>
          <a:p>
            <a:pPr lvl="1"/>
            <a:r>
              <a:rPr lang="de-DE" altLang="de-DE"/>
              <a:t>LPGL Lizenzmodell</a:t>
            </a:r>
          </a:p>
          <a:p>
            <a:r>
              <a:rPr lang="de-DE" altLang="de-DE"/>
              <a:t>Dies ist ein Programmier-Seminar</a:t>
            </a:r>
          </a:p>
          <a:p>
            <a:pPr lvl="1"/>
            <a:r>
              <a:rPr lang="de-DE" altLang="de-DE"/>
              <a:t>Damit werden die Inhalte durch Übungen vertieft und verinnerlicht</a:t>
            </a:r>
          </a:p>
          <a:p>
            <a:pPr lvl="1"/>
            <a:r>
              <a:rPr lang="de-DE" altLang="de-DE"/>
              <a:t>Musterbeispiele werden zur Verfügung gestellt</a:t>
            </a:r>
          </a:p>
          <a:p>
            <a:pPr lvl="2"/>
            <a:r>
              <a:rPr lang="de-DE" altLang="de-DE"/>
              <a:t>GitHub</a:t>
            </a:r>
          </a:p>
          <a:p>
            <a:r>
              <a:rPr lang="de-DE" altLang="de-DE"/>
              <a:t>Dokumentation und Ressourcen stehen auch im Internet zur Verfügung</a:t>
            </a:r>
          </a:p>
          <a:p>
            <a:pPr lvl="1"/>
            <a:endParaRPr lang="de-DE" alt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0D4141A-F511-9124-DAA2-B280E47F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59538"/>
            <a:ext cx="2016125" cy="398462"/>
          </a:xfrm>
        </p:spPr>
        <p:txBody>
          <a:bodyPr/>
          <a:lstStyle/>
          <a:p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7793E-8166-D7EE-7CD4-7561B331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413" y="6459538"/>
            <a:ext cx="5400675" cy="398462"/>
          </a:xfrm>
        </p:spPr>
        <p:txBody>
          <a:bodyPr/>
          <a:lstStyle/>
          <a:p>
            <a:r>
              <a:rPr lang="de-DE"/>
              <a:t>Python 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0DC363-B455-3055-87BC-0583ECA74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0" y="6459538"/>
            <a:ext cx="835025" cy="398462"/>
          </a:xfrm>
        </p:spPr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FD645361-7691-4C75-99E8-10EC565FAF93}" type="slidenum">
              <a:rPr lang="de-DE" altLang="de-DE"/>
              <a:pPr/>
              <a:t>3</a:t>
            </a:fld>
            <a:endParaRPr lang="de-DE" altLang="de-DE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06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166AF2BB-9D12-8223-A239-1D6A9537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Inhalt</a:t>
            </a:r>
          </a:p>
        </p:txBody>
      </p:sp>
      <p:graphicFrame>
        <p:nvGraphicFramePr>
          <p:cNvPr id="8" name="Inhaltsverzeichnis">
            <a:extLst>
              <a:ext uri="{FF2B5EF4-FFF2-40B4-BE49-F238E27FC236}">
                <a16:creationId xmlns:a16="http://schemas.microsoft.com/office/drawing/2014/main" id="{871BB580-8475-58BB-84A5-30EC0E0A9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3767723"/>
              </p:ext>
            </p:extLst>
          </p:nvPr>
        </p:nvGraphicFramePr>
        <p:xfrm>
          <a:off x="250825" y="981336"/>
          <a:ext cx="8531225" cy="5472000"/>
        </p:xfrm>
        <a:graphic>
          <a:graphicData uri="http://schemas.openxmlformats.org/drawingml/2006/table">
            <a:tbl>
              <a:tblPr bandRow="1">
                <a:tableStyleId>{10A1B5D5-9B99-4C35-A422-299274C87663}</a:tableStyleId>
              </a:tblPr>
              <a:tblGrid>
                <a:gridCol w="7885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Einführung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602658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Variablen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09722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Datentypen und Operatoren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048704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Kontrollstrukturen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919035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Datencontainer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1541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Ein komplexeres Beispiel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112843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Funktionen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5437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Details zu Funktionen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096743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Die Objektorientierte Syntax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98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00442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Objektorientierte Programmierung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111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580052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Eine komplexe Anwendung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141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235806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Dunder-Methoden 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146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22116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Datenverarbeitung mit Collections</a:t>
                      </a: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154</a:t>
                      </a: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12444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Dateioperationen</a:t>
                      </a: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163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253373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Module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173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1366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pip und PyPi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195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758867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Datenbankzugriff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206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4746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RESTful WebServices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213</a:t>
                      </a:r>
                      <a:endParaRPr lang="de-DE" sz="12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41711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DE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SSH</a:t>
                      </a:r>
                    </a:p>
                  </a:txBody>
                  <a:tcPr marL="91443" marR="91443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219</a:t>
                      </a:r>
                    </a:p>
                  </a:txBody>
                  <a:tcPr marL="91443" marR="91443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325336"/>
                  </a:ext>
                </a:extLst>
              </a:tr>
            </a:tbl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3E45DC4-1BA2-508F-38AD-8FC326D5820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D2F3272-CDCF-E5E2-08B8-BFAC8ECA7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00C1AAA-BEF3-575D-4C17-38A7716E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00F4F06-304C-4E5A-AB5F-83BCC9BB13CF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5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2CA77226-6ED8-9AB6-3A1F-E23DF578E9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/>
              <a:t>Einführung</a:t>
            </a:r>
            <a:endParaRPr lang="de-DE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08D650E-1F8D-77AD-5149-D9D7C9AD80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</a:t>
            </a:r>
            <a:endParaRPr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4ACBAA-1632-4E7E-3AE0-3FB4E1D326D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BD0B8D6-128B-3DC6-C6E0-EB9982DB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7F8022-856D-7FEB-30EB-15E81CBA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A422E0-5BA1-4021-B092-1FA6296F3DFF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6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B67AAC2B-7ECF-7541-6F47-BE042FB5A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Vorstellung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090B56A-2A97-14CB-BDE4-5D090003AE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1.1</a:t>
            </a:r>
            <a:endParaRPr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BE5EC85-7955-E0AE-73DA-CC0F35EEDBF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A5BEE7-B540-161F-F0AD-DE9EF2903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362B82-3B9F-D02D-90FF-0FC1A090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ADC737-EA3D-41C3-B419-63CD432436AA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7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B2E0-998D-A6AA-9D8E-E3FC6F558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Startpunkt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82B62-6FBC-5087-CD35-4B06FC10F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Teilnehmende Person</a:t>
            </a:r>
          </a:p>
          <a:p>
            <a:pPr lvl="1"/>
            <a:r>
              <a:rPr lang="de-DE" dirty="0"/>
              <a:t>Sicherer Umgang mit dem PC</a:t>
            </a:r>
          </a:p>
          <a:p>
            <a:pPr lvl="2"/>
            <a:r>
              <a:rPr lang="de-DE" dirty="0"/>
              <a:t>Dateisystem</a:t>
            </a:r>
          </a:p>
          <a:p>
            <a:pPr lvl="2"/>
            <a:r>
              <a:rPr lang="de-DE" dirty="0"/>
              <a:t>Browser</a:t>
            </a:r>
          </a:p>
          <a:p>
            <a:pPr lvl="2"/>
            <a:r>
              <a:rPr lang="de-DE" dirty="0"/>
              <a:t>Konsole / Terminal</a:t>
            </a:r>
          </a:p>
          <a:p>
            <a:pPr lvl="1"/>
            <a:r>
              <a:rPr lang="de-DE" dirty="0"/>
              <a:t>Recherche im Internet</a:t>
            </a:r>
          </a:p>
          <a:p>
            <a:pPr lvl="2"/>
            <a:r>
              <a:rPr lang="de-DE" dirty="0"/>
              <a:t>Klassische Suchmaschinen</a:t>
            </a:r>
          </a:p>
          <a:p>
            <a:pPr lvl="2"/>
            <a:r>
              <a:rPr lang="de-DE" dirty="0"/>
              <a:t>ChatGpt oder alternative Copilots</a:t>
            </a:r>
          </a:p>
          <a:p>
            <a:r>
              <a:rPr lang="de-DE" dirty="0"/>
              <a:t>Grundkenntnisse der Programmierung</a:t>
            </a:r>
          </a:p>
          <a:p>
            <a:pPr lvl="1"/>
            <a:r>
              <a:rPr lang="de-DE" dirty="0"/>
              <a:t>Sind nicht erforderlich, aber hilfreich</a:t>
            </a:r>
          </a:p>
          <a:p>
            <a:pPr lvl="1"/>
            <a:r>
              <a:rPr lang="de-DE" dirty="0"/>
              <a:t>"Ich habe bisher Tabellenkalkulation mit Excel gemacht. Genügt das?"</a:t>
            </a:r>
          </a:p>
          <a:p>
            <a:pPr lvl="2"/>
            <a:r>
              <a:rPr lang="de-DE" dirty="0"/>
              <a:t>Ja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91476-93A2-8DA5-A8A0-0981567B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93EFB-2C49-B0ED-DC10-D1482373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9939A-C618-5AF7-0485-B2BEAA6C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A5C-D896-460D-ADB5-722D856B4DA9}" type="slidenum">
              <a:rPr lang="de-DE" altLang="de-DE" smtClean="0"/>
              <a:pPr/>
              <a:t>8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FE697C-7E23-6353-4244-D11409C3AE77}"/>
              </a:ext>
            </a:extLst>
          </p:cNvPr>
          <p:cNvSpPr/>
          <p:nvPr/>
        </p:nvSpPr>
        <p:spPr>
          <a:xfrm>
            <a:off x="467543" y="4797152"/>
            <a:ext cx="8368481" cy="792088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Hinweis</a:t>
            </a:r>
          </a:p>
          <a:p>
            <a:r>
              <a:rPr lang="de-DE" dirty="0">
                <a:solidFill>
                  <a:schemeClr val="tx1"/>
                </a:solidFill>
              </a:rPr>
              <a:t>Eine Registrierung z.B. </a:t>
            </a:r>
            <a:r>
              <a:rPr lang="de-DE">
                <a:solidFill>
                  <a:schemeClr val="tx1"/>
                </a:solidFill>
              </a:rPr>
              <a:t>bei OpenAI etc.  </a:t>
            </a:r>
            <a:r>
              <a:rPr lang="de-DE" dirty="0">
                <a:solidFill>
                  <a:schemeClr val="tx1"/>
                </a:solidFill>
              </a:rPr>
              <a:t>ist nicht notwendig</a:t>
            </a:r>
          </a:p>
        </p:txBody>
      </p:sp>
    </p:spTree>
    <p:extLst>
      <p:ext uri="{BB962C8B-B14F-4D97-AF65-F5344CB8AC3E}">
        <p14:creationId xmlns:p14="http://schemas.microsoft.com/office/powerpoint/2010/main" val="3215188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25BE-28F3-0525-202F-E5F2F4149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22BD7-6C56-F60C-FF63-1B1B8473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Am Ende des Seminars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Sind Sie leider keine Person, die sich sofort als "erfahrene ProgrammiererIn" bewerben kann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dazu  fehlt jedoch "nur" praktische Erfahrung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Sie kennen etwa 90% der Python-Syntax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Decorators, Protokolle und Metaprogrammierung sind jedoch wirklich nicht unbedingt notwendig, um Anwendungen zu programmieren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Sie können jedoch anhand der praktischen Beispiele bereits anspruchsvolle Anwendungen programmieren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z.B. Analyseprogramme mit Datenbankzugriff</a:t>
            </a:r>
          </a:p>
          <a:p>
            <a:pPr lvl="1">
              <a:lnSpc>
                <a:spcPct val="150000"/>
              </a:lnSpc>
            </a:pP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5122E-B45E-6599-1344-89EF0BD05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34B18-09F5-269B-F87D-C5574EFA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5D2BB-D9C2-84D6-2FBE-C66F4041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41841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0E02A-B790-7366-5D96-BF05930C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Ergänzungen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F45C7-FD89-EFE5-8B36-D955A91A0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Praktisch unvermeidbar sind Kenntnisse eines Source Code Management Systems (Versionsverwaltung)</a:t>
            </a:r>
          </a:p>
          <a:p>
            <a:pPr lvl="1"/>
            <a:r>
              <a:rPr lang="de-DE" dirty="0"/>
              <a:t>Wir empfehlen Ihnen hierzu Git</a:t>
            </a:r>
          </a:p>
          <a:p>
            <a:r>
              <a:rPr lang="de-DE" dirty="0"/>
              <a:t>Weiterführende Python-Themen</a:t>
            </a:r>
          </a:p>
          <a:p>
            <a:pPr lvl="1"/>
            <a:r>
              <a:rPr lang="de-DE" dirty="0"/>
              <a:t>Datenanalyse / Machine Learning mit Pandas, SciKit</a:t>
            </a:r>
          </a:p>
          <a:p>
            <a:pPr lvl="1"/>
            <a:r>
              <a:rPr lang="de-DE" dirty="0"/>
              <a:t>Netzwerkprogrammierung z.B. mit Paramiko</a:t>
            </a:r>
          </a:p>
          <a:p>
            <a:pPr lvl="1"/>
            <a:r>
              <a:rPr lang="de-DE" dirty="0"/>
              <a:t>Testskripte und –automatisierung</a:t>
            </a:r>
          </a:p>
          <a:p>
            <a:pPr lvl="1"/>
            <a:r>
              <a:rPr lang="de-DE" dirty="0"/>
              <a:t>Web Anwendungen inklusive RESTful WebServices mit Django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F988-BDE0-5E26-248D-383A07DE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019EA-F74A-F1FA-7091-BD062637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16A1A-785F-5040-94D7-C49E456A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209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CE87-CDF2-1350-2CD2-6E1D03F19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Vorstellungsrunde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BE5A3-02E7-2C22-D14A-D5CB231DE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Erzählen Sie etwas über sich</a:t>
            </a:r>
          </a:p>
          <a:p>
            <a:pPr lvl="1"/>
            <a:r>
              <a:rPr lang="de-DE" dirty="0"/>
              <a:t>Name</a:t>
            </a:r>
          </a:p>
          <a:p>
            <a:pPr lvl="1"/>
            <a:r>
              <a:rPr lang="de-DE" dirty="0"/>
              <a:t>Rolle im Unternehmen</a:t>
            </a:r>
          </a:p>
          <a:p>
            <a:pPr lvl="1"/>
            <a:r>
              <a:rPr lang="de-DE" dirty="0"/>
              <a:t>Themenbezogene Vorkenntnisse</a:t>
            </a:r>
          </a:p>
          <a:p>
            <a:pPr lvl="1"/>
            <a:r>
              <a:rPr lang="de-DE" dirty="0"/>
              <a:t>Aktuelle Problemstellung</a:t>
            </a:r>
          </a:p>
          <a:p>
            <a:pPr lvl="1"/>
            <a:r>
              <a:rPr lang="de-DE" dirty="0"/>
              <a:t>Konkrete individuelle Zielsetzung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00B19-27FC-B0DB-D55D-9F8F5DE71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BD6DD-C9E1-542A-2397-9202ECDAE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54ECF-2A0B-5A19-6C43-512E419B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15811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A45D-9D31-83EE-FFFA-EE1A73153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2707FE9C-2B0C-F354-2891-D3AB8C157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Ein paar Grundlegende Dinge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05C2FE7-60E5-70FE-41B2-C92D16BC51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1.2</a:t>
            </a:r>
            <a:endParaRPr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4102DE-D91C-02CB-05CC-20CF97ED6E3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457E0AE-5212-A1C6-8AFD-763EBE18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1D6381-AE17-3997-ED61-320F49F7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ADC737-EA3D-41C3-B419-63CD432436AA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12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706284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997E54FC-ED99-3599-B97A-47E4759AC3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Python – Eine Skriptsprache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0A962247-A63A-54D3-6A64-2B28DDCE3D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lang="de-DE" altLang="de-DE" dirty="0"/>
              <a:t>Kein aufwändiger Build-Prozess erforderlich</a:t>
            </a:r>
          </a:p>
          <a:p>
            <a:pPr lvl="1"/>
            <a:r>
              <a:rPr lang="de-DE" altLang="de-DE" dirty="0"/>
              <a:t>Die Skripte sind direkt ausführbar</a:t>
            </a:r>
          </a:p>
          <a:p>
            <a:r>
              <a:rPr lang="de-DE" altLang="de-DE" dirty="0"/>
              <a:t>Portabilität</a:t>
            </a:r>
          </a:p>
          <a:p>
            <a:pPr lvl="1"/>
            <a:r>
              <a:rPr lang="de-DE" altLang="de-DE" dirty="0"/>
              <a:t>Die Python-Laufzeitumgebung steht für alle gängigen Programmiersprachen zur Verfügung</a:t>
            </a:r>
          </a:p>
          <a:p>
            <a:r>
              <a:rPr lang="de-DE" altLang="de-DE" dirty="0"/>
              <a:t>Agilität der Software-Entwicklung</a:t>
            </a:r>
          </a:p>
          <a:p>
            <a:pPr lvl="1"/>
            <a:r>
              <a:rPr lang="de-DE" altLang="de-DE" dirty="0"/>
              <a:t>Änderungen des Skript-Codes werden von der Laufzeitumgebung sofort übernommen</a:t>
            </a:r>
          </a:p>
          <a:p>
            <a:r>
              <a:rPr lang="de-DE" altLang="de-DE" dirty="0"/>
              <a:t>Die Struktur der Programme kann einfach gehalten werden</a:t>
            </a:r>
          </a:p>
          <a:p>
            <a:pPr lvl="1"/>
            <a:r>
              <a:rPr lang="de-DE" altLang="de-DE" dirty="0"/>
              <a:t>Anweisungen können ohne jeglichen Rahmen "einfach so" geschrieben werden</a:t>
            </a:r>
          </a:p>
          <a:p>
            <a:r>
              <a:rPr lang="de-DE" altLang="de-DE" dirty="0"/>
              <a:t>Ausführung in einer REPL (Read–eval–print loop)</a:t>
            </a:r>
          </a:p>
          <a:p>
            <a:pPr lvl="2"/>
            <a:endParaRPr lang="de-DE" alt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D0DFDD2-C052-5098-717F-48F09AF7C51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F8961D-9F2E-6AEE-D1AA-C4F896E37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E6B22A-9F14-8DC2-B40E-098375EF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ECE504-0AF6-494F-B412-31667AFB0AF9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13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EF7C9E-585C-CD43-0B8D-66C253F795C4}"/>
              </a:ext>
            </a:extLst>
          </p:cNvPr>
          <p:cNvSpPr/>
          <p:nvPr/>
        </p:nvSpPr>
        <p:spPr>
          <a:xfrm>
            <a:off x="323850" y="5085184"/>
            <a:ext cx="8462963" cy="792088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Hinweis</a:t>
            </a:r>
          </a:p>
          <a:p>
            <a:r>
              <a:rPr lang="de-DE" dirty="0">
                <a:solidFill>
                  <a:schemeClr val="tx1"/>
                </a:solidFill>
              </a:rPr>
              <a:t>Diese Eigenschaften waren und sind kein Alleinstellungsmerkmal von Python!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47C6E-56E9-53F0-BFBB-5897F161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Anwendungsentwicklung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EB33A-01E9-AB62-7626-A1A39392B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Entwicklungsumgebung</a:t>
            </a:r>
          </a:p>
          <a:p>
            <a:pPr lvl="1"/>
            <a:r>
              <a:rPr lang="de-DE" dirty="0"/>
              <a:t>Ein spezielles Programm, das die Entwicklung von Software drastisch erleichtert</a:t>
            </a:r>
          </a:p>
          <a:p>
            <a:pPr lvl="2"/>
            <a:r>
              <a:rPr lang="de-DE" dirty="0"/>
              <a:t>"Programmierung ohne Entwicklungsumgebung ist möglich, aber sinnlos"</a:t>
            </a:r>
          </a:p>
          <a:p>
            <a:pPr lvl="1"/>
            <a:r>
              <a:rPr lang="de-DE" dirty="0"/>
              <a:t>Im Kurs verwenden wir Visual Studio Code mit installierter Python-Extension von Microsoft</a:t>
            </a:r>
          </a:p>
          <a:p>
            <a:r>
              <a:rPr lang="de-DE" dirty="0"/>
              <a:t>Entwicklungsprozess</a:t>
            </a:r>
          </a:p>
          <a:p>
            <a:pPr lvl="1"/>
            <a:r>
              <a:rPr lang="de-DE" dirty="0"/>
              <a:t>ProgrammiererInnen sollen per se "faul" sein! </a:t>
            </a:r>
          </a:p>
          <a:p>
            <a:pPr lvl="2"/>
            <a:r>
              <a:rPr lang="de-DE" dirty="0"/>
              <a:t>Programmierung erfolgt ausnahmslos anhand einer Vorgabe, die spezifiziert, was gemacht werden soll, nicht "einfach so"</a:t>
            </a:r>
          </a:p>
          <a:p>
            <a:pPr lvl="2"/>
            <a:r>
              <a:rPr lang="de-DE" dirty="0"/>
              <a:t>Entwickeln Sie nicht Dinge, die nicht verlangt sind, das ist Zeitverschwendung, niemand dankt (und bezahlt) Ihnen so etwas</a:t>
            </a:r>
          </a:p>
          <a:p>
            <a:r>
              <a:rPr lang="de-DE" dirty="0"/>
              <a:t>Dokumentation</a:t>
            </a:r>
          </a:p>
          <a:p>
            <a:pPr lvl="1"/>
            <a:r>
              <a:rPr lang="de-DE" dirty="0"/>
              <a:t>Software ist nicht nur das Programm selber, sondern besteht aus dokumentierenden Teilen</a:t>
            </a:r>
          </a:p>
          <a:p>
            <a:pPr lvl="2"/>
            <a:r>
              <a:rPr lang="de-DE" dirty="0"/>
              <a:t>Kommentare im Quellcode</a:t>
            </a:r>
          </a:p>
          <a:p>
            <a:pPr lvl="2"/>
            <a:r>
              <a:rPr lang="de-DE" dirty="0"/>
              <a:t>Diagramme</a:t>
            </a:r>
          </a:p>
          <a:p>
            <a:pPr lvl="2"/>
            <a:r>
              <a:rPr lang="de-DE" dirty="0"/>
              <a:t>Testfälle</a:t>
            </a:r>
          </a:p>
          <a:p>
            <a:pPr lvl="2"/>
            <a:r>
              <a:rPr lang="de-DE" dirty="0"/>
              <a:t>Spezifikationen im Freitext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6C5AE-E69D-7C6C-2E2A-1A3F113CE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63AFA-1554-303C-BF8A-2227011C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BEE92-DE20-47B8-07ED-BF1EEABAC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94849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C4DB39F-ED90-D608-ED2C-4505B20D2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Die Arbeitsumgebung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5FBCF5F-DCC6-15A8-492D-8DD320FC7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1.3</a:t>
            </a:r>
            <a:endParaRPr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F3D1301-D263-705A-2398-461BE38CBDC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5AD7D0-3F48-2DE9-B0ED-2773FEBF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6FD2BC-F26D-6E88-EA9F-6F5DD09E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F156C3D-B23D-4BE6-A8A1-843A50000D88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15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10BD-80F7-DE9D-E7EC-533FD3814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487B5-9838-E798-965A-F22EF8F83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Klassische (Antike?) Variante</a:t>
            </a:r>
          </a:p>
          <a:p>
            <a:pPr lvl="1"/>
            <a:r>
              <a:rPr lang="de-DE" dirty="0"/>
              <a:t>Download und Installation der Python-Distribution</a:t>
            </a:r>
          </a:p>
          <a:p>
            <a:pPr lvl="1"/>
            <a:r>
              <a:rPr lang="de-DE" dirty="0"/>
              <a:t>Download und Installation der Visual Studio Code Distribution</a:t>
            </a:r>
          </a:p>
          <a:p>
            <a:pPr lvl="1"/>
            <a:r>
              <a:rPr lang="de-DE" dirty="0"/>
              <a:t>Installation der Python-Extension in Visual Studio Code</a:t>
            </a:r>
          </a:p>
          <a:p>
            <a:pPr lvl="1"/>
            <a:r>
              <a:rPr lang="de-DE" dirty="0"/>
              <a:t>Einrichten von Virtual Environments pro Projekt</a:t>
            </a:r>
          </a:p>
          <a:p>
            <a:r>
              <a:rPr lang="de-DE" dirty="0"/>
              <a:t>Moderne Variante</a:t>
            </a:r>
          </a:p>
          <a:p>
            <a:pPr lvl="1"/>
            <a:r>
              <a:rPr lang="de-DE" dirty="0"/>
              <a:t>Download und Installation der Visual Studio Code Distribution</a:t>
            </a:r>
          </a:p>
          <a:p>
            <a:pPr lvl="1"/>
            <a:r>
              <a:rPr lang="de-DE" dirty="0"/>
              <a:t>Installation der Python-Extension in Visual Studio Code</a:t>
            </a:r>
          </a:p>
          <a:p>
            <a:pPr lvl="1"/>
            <a:r>
              <a:rPr lang="de-DE" dirty="0"/>
              <a:t>Nutzen eines Development-Containers mit isolierter Python-Umgebung</a:t>
            </a:r>
          </a:p>
          <a:p>
            <a:r>
              <a:rPr lang="de-DE" dirty="0"/>
              <a:t>Im Training</a:t>
            </a:r>
          </a:p>
          <a:p>
            <a:pPr lvl="1"/>
            <a:r>
              <a:rPr lang="de-DE" dirty="0"/>
              <a:t>Die klassische Variante ist umgesetzt</a:t>
            </a:r>
          </a:p>
          <a:p>
            <a:pPr lvl="1"/>
            <a:r>
              <a:rPr lang="de-DE" dirty="0"/>
              <a:t>Wir benutzen keine Virtual Environments, wir haben nur ein Projekt "Training"</a:t>
            </a:r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C5600-AA9E-2498-0724-751EA6E14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512AD-8ADE-98E2-0B2F-3011523F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559E-F3D3-2962-C7A9-85EEC804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A5C-D896-460D-ADB5-722D856B4DA9}" type="slidenum">
              <a:rPr lang="de-DE" altLang="de-DE" smtClean="0"/>
              <a:pPr/>
              <a:t>16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BA9BB8-F384-DEFB-0A68-0F4443B5A2EF}"/>
              </a:ext>
            </a:extLst>
          </p:cNvPr>
          <p:cNvSpPr/>
          <p:nvPr/>
        </p:nvSpPr>
        <p:spPr>
          <a:xfrm>
            <a:off x="6804248" y="1628800"/>
            <a:ext cx="1800200" cy="648072"/>
          </a:xfrm>
          <a:prstGeom prst="rect">
            <a:avLst/>
          </a:prstGeom>
          <a:solidFill>
            <a:srgbClr val="FFFF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highlight>
                  <a:srgbClr val="FFFF00"/>
                </a:highlight>
              </a:rPr>
              <a:t>Admin-Rechte notwendig!</a:t>
            </a:r>
          </a:p>
        </p:txBody>
      </p:sp>
    </p:spTree>
    <p:extLst>
      <p:ext uri="{BB962C8B-B14F-4D97-AF65-F5344CB8AC3E}">
        <p14:creationId xmlns:p14="http://schemas.microsoft.com/office/powerpoint/2010/main" val="1016034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813AA474-C894-3B5D-23A1-1B8FA7857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Details zur Python-Installation</a:t>
            </a:r>
          </a:p>
        </p:txBody>
      </p:sp>
      <p:sp>
        <p:nvSpPr>
          <p:cNvPr id="38915" name="Rectangle 4">
            <a:extLst>
              <a:ext uri="{FF2B5EF4-FFF2-40B4-BE49-F238E27FC236}">
                <a16:creationId xmlns:a16="http://schemas.microsoft.com/office/drawing/2014/main" id="{FADF9348-5CF0-7A81-9530-BA1100FDF2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Python ist frei erhältlich</a:t>
            </a:r>
          </a:p>
          <a:p>
            <a:r>
              <a:rPr altLang="de-DE"/>
              <a:t>Distributionen für alle relevanten Betriebssysteme verfügbar</a:t>
            </a:r>
          </a:p>
          <a:p>
            <a:pPr lvl="1"/>
            <a:r>
              <a:rPr altLang="de-DE"/>
              <a:t>Linux</a:t>
            </a:r>
          </a:p>
          <a:p>
            <a:pPr lvl="1"/>
            <a:r>
              <a:rPr altLang="de-DE"/>
              <a:t>Windows</a:t>
            </a:r>
          </a:p>
          <a:p>
            <a:pPr lvl="1"/>
            <a:r>
              <a:rPr altLang="de-DE"/>
              <a:t>Mac</a:t>
            </a:r>
          </a:p>
          <a:p>
            <a:pPr lvl="1"/>
            <a:r>
              <a:rPr altLang="de-DE"/>
              <a:t>…</a:t>
            </a:r>
          </a:p>
          <a:p>
            <a:r>
              <a:rPr altLang="de-DE"/>
              <a:t>In der Distribution ist auch eine Dokumentation enthalten</a:t>
            </a:r>
          </a:p>
          <a:p>
            <a:pPr lvl="1"/>
            <a:r>
              <a:rPr altLang="de-DE"/>
              <a:t>Selbstverständlich auch Online verfügbar!</a:t>
            </a:r>
          </a:p>
          <a:p>
            <a:r>
              <a:rPr altLang="de-DE"/>
              <a:t>Weiterhin die Python-Shell</a:t>
            </a:r>
          </a:p>
          <a:p>
            <a:pPr lvl="1"/>
            <a:r>
              <a:rPr altLang="de-DE"/>
              <a:t>Eine interaktive REPL</a:t>
            </a:r>
          </a:p>
          <a:p>
            <a:endParaRPr altLang="de-DE"/>
          </a:p>
          <a:p>
            <a:endParaRPr alt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ACCC83E-E486-E9F5-C7B7-E2E4A8AFBC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4424C3-6555-E640-3486-3CF5A05F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1B3ED8-84E8-8647-AE35-6D4AB961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4352DF-6D6C-414F-9EB4-8A36F89BCD53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17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pic>
        <p:nvPicPr>
          <p:cNvPr id="39942" name="Picture 2">
            <a:extLst>
              <a:ext uri="{FF2B5EF4-FFF2-40B4-BE49-F238E27FC236}">
                <a16:creationId xmlns:a16="http://schemas.microsoft.com/office/drawing/2014/main" id="{3E277CA9-A64A-C9CE-DCD2-F23761B2F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433777"/>
            <a:ext cx="6559550" cy="1872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817191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0A0B-0F2F-1A83-E171-73BB6666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Anlegen des Python-Projekts in Visual Studio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0C23-50E9-0454-8863-BF8C94056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 Visual Studio Code wird ein Verzeichnis geöffnet</a:t>
            </a:r>
          </a:p>
          <a:p>
            <a:pPr lvl="1"/>
            <a:r>
              <a:rPr lang="de-DE" dirty="0"/>
              <a:t>Name und Lokation dieses Verzeichnisses ist beliebig</a:t>
            </a:r>
          </a:p>
          <a:p>
            <a:r>
              <a:rPr lang="de-DE" dirty="0"/>
              <a:t>Im Anschluss daran</a:t>
            </a:r>
          </a:p>
          <a:p>
            <a:pPr lvl="1"/>
            <a:r>
              <a:rPr lang="de-DE" dirty="0"/>
              <a:t>ist nichts mehr zu tun, das war es bereits...</a:t>
            </a:r>
          </a:p>
          <a:p>
            <a:r>
              <a:rPr lang="de-DE" dirty="0"/>
              <a:t>In einem realen Projekt würde nun noch eine Anbindung an Git durchgeführt werden</a:t>
            </a:r>
          </a:p>
          <a:p>
            <a:pPr lvl="1"/>
            <a:r>
              <a:rPr lang="de-DE" dirty="0"/>
              <a:t>Falls Sie das tun wollen und Zugriff auf einen Git Server haben: Gerne!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1725D-F8F2-C018-3EAE-FDA381EEB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6CFFF-97F6-599F-3D34-2765FDD9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EDEBA-D989-17B0-217D-132D6E42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19248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EEC29996-8159-DFDD-ED6F-7C8097195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Ein erstes Programm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3662F2-EA17-D435-58DC-1D0BA814D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366" y="1209600"/>
            <a:ext cx="8535988" cy="50911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dirty="0"/>
              <a:t>Erstellen Sie das "klassische" erste Programm in Python in der Datei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first.py </a:t>
            </a:r>
            <a:r>
              <a:rPr lang="de-DE" dirty="0"/>
              <a:t>und Starten das Programm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	print("Hello World!")</a:t>
            </a:r>
          </a:p>
          <a:p>
            <a:pPr>
              <a:defRPr/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dirty="0"/>
          </a:p>
          <a:p>
            <a:pPr>
              <a:defRPr/>
            </a:pPr>
            <a:endParaRPr lang="de-DE" dirty="0"/>
          </a:p>
          <a:p>
            <a:pPr>
              <a:defRPr/>
            </a:pPr>
            <a:endParaRPr dirty="0"/>
          </a:p>
          <a:p>
            <a:pPr>
              <a:defRPr/>
            </a:pPr>
            <a:endParaRPr lang="de-DE" dirty="0"/>
          </a:p>
          <a:p>
            <a:pPr>
              <a:defRPr/>
            </a:pPr>
            <a:endParaRPr lang="de-DE" dirty="0"/>
          </a:p>
          <a:p>
            <a:pPr>
              <a:defRPr/>
            </a:pPr>
            <a:endParaRPr lang="de-DE" dirty="0"/>
          </a:p>
          <a:p>
            <a:pPr>
              <a:defRPr/>
            </a:pPr>
            <a:r>
              <a:rPr dirty="0"/>
              <a:t>Die Ausgabe erfolgt im integrierten Terminal von Visual Studio Code</a:t>
            </a:r>
          </a:p>
          <a:p>
            <a:pPr>
              <a:defRPr/>
            </a:pPr>
            <a:r>
              <a:rPr dirty="0"/>
              <a:t>Es ist tatsächlich so einfach!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638872-F594-3C4A-FEA5-AD64B39F72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58E540-0F47-1F7B-7D66-B2DD8C96B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41AB08-B411-AF34-3A61-BE11ABAE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443D83-692C-47A7-AD13-DFAF4AAD6336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19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29FE74-B44B-08C1-0F56-64C80E3BF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3" y="2204864"/>
            <a:ext cx="7993159" cy="247322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A37F2C-A924-9E92-2F07-2792A17EB504}"/>
              </a:ext>
            </a:extLst>
          </p:cNvPr>
          <p:cNvCxnSpPr>
            <a:cxnSpLocks/>
          </p:cNvCxnSpPr>
          <p:nvPr/>
        </p:nvCxnSpPr>
        <p:spPr>
          <a:xfrm>
            <a:off x="971600" y="1772816"/>
            <a:ext cx="288032" cy="1512168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92831C-C03A-045D-746F-4B0DFBE25A7D}"/>
              </a:ext>
            </a:extLst>
          </p:cNvPr>
          <p:cNvCxnSpPr>
            <a:cxnSpLocks/>
          </p:cNvCxnSpPr>
          <p:nvPr/>
        </p:nvCxnSpPr>
        <p:spPr>
          <a:xfrm>
            <a:off x="2339975" y="2204864"/>
            <a:ext cx="3960217" cy="72008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FEBC71D-0D2E-F4D2-A86A-AB38965FFC97}"/>
              </a:ext>
            </a:extLst>
          </p:cNvPr>
          <p:cNvCxnSpPr/>
          <p:nvPr/>
        </p:nvCxnSpPr>
        <p:spPr>
          <a:xfrm>
            <a:off x="3131840" y="1772816"/>
            <a:ext cx="4032448" cy="57606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360ACD6-47AF-DDCE-7AE2-01778BE5FD8B}"/>
              </a:ext>
            </a:extLst>
          </p:cNvPr>
          <p:cNvCxnSpPr>
            <a:cxnSpLocks/>
          </p:cNvCxnSpPr>
          <p:nvPr/>
        </p:nvCxnSpPr>
        <p:spPr>
          <a:xfrm flipV="1">
            <a:off x="1979712" y="4221088"/>
            <a:ext cx="3713329" cy="57606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E614-8197-81A4-A468-90FC49BE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Entwicklunsumgebungen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DD4AA-4129-8A9C-54E4-ACF709EA4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1.4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3D378-5283-5949-A0B2-7BF9B2798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773F7-83C4-0255-042A-431EF68BB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9B9D4-B6AD-0CD1-DBF1-44D7D16F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20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4360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5BFD56AC-9050-A574-32A8-F7373A60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Entwicklungsumgebungen</a:t>
            </a:r>
          </a:p>
        </p:txBody>
      </p:sp>
      <p:sp>
        <p:nvSpPr>
          <p:cNvPr id="44035" name="Inhaltsplatzhalter 2">
            <a:extLst>
              <a:ext uri="{FF2B5EF4-FFF2-40B4-BE49-F238E27FC236}">
                <a16:creationId xmlns:a16="http://schemas.microsoft.com/office/drawing/2014/main" id="{A3D1D476-5071-A4E8-0C81-20600DF6B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Im Gegensatz zu den einfachen Editoren bieten Entwicklungsumgebungen noch mehr Werkzeuge an</a:t>
            </a:r>
          </a:p>
          <a:p>
            <a:pPr lvl="1"/>
            <a:r>
              <a:rPr altLang="de-DE"/>
              <a:t>Code Assist</a:t>
            </a:r>
          </a:p>
          <a:p>
            <a:pPr lvl="1"/>
            <a:r>
              <a:rPr altLang="de-DE"/>
              <a:t>Integrierte Hilfefunktion</a:t>
            </a:r>
          </a:p>
          <a:p>
            <a:pPr lvl="1"/>
            <a:r>
              <a:rPr altLang="de-DE"/>
              <a:t>Integrierte Dokumentation</a:t>
            </a:r>
          </a:p>
          <a:p>
            <a:pPr lvl="1"/>
            <a:r>
              <a:rPr altLang="de-DE"/>
              <a:t>Debugger</a:t>
            </a:r>
          </a:p>
          <a:p>
            <a:pPr lvl="1"/>
            <a:r>
              <a:rPr altLang="de-DE"/>
              <a:t>Integrierte Testwerkzeuge</a:t>
            </a:r>
          </a:p>
          <a:p>
            <a:pPr lvl="2"/>
            <a:r>
              <a:rPr altLang="de-DE"/>
              <a:t>Unit-Testing</a:t>
            </a:r>
          </a:p>
          <a:p>
            <a:pPr lvl="2"/>
            <a:r>
              <a:rPr altLang="de-DE"/>
              <a:t>Prüfen der Code-Qualität und der Einhaltung von Richtlinien</a:t>
            </a:r>
          </a:p>
          <a:p>
            <a:pPr lvl="3"/>
            <a:r>
              <a:rPr altLang="de-DE"/>
              <a:t>"Linter"</a:t>
            </a:r>
          </a:p>
          <a:p>
            <a:pPr lvl="1"/>
            <a:r>
              <a:rPr altLang="de-DE"/>
              <a:t>Code-Formatting</a:t>
            </a:r>
          </a:p>
          <a:p>
            <a:pPr lvl="1"/>
            <a:r>
              <a:rPr altLang="de-DE"/>
              <a:t>Anbindung an Versionsverwaltung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B316FD-9BDC-03F4-7A83-36C9A8331C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68AA05-CB93-9643-E07E-888BEDBA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15DD29-E672-B1FC-6BD3-D619F4CF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248C3CE-07B3-4F86-8280-1AE34C1D6BAD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21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A7A3CBAF-3FB9-103F-539A-C00F45CF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Beispiel: Python-Skript in Visual Studio Code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10E5C-D962-A08C-4366-1106E1EE326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1B1195-1FA9-E3CB-0292-5A62A24C8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CEB1C7-BA72-C400-29A0-ED55BE34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947F7E3-641D-432D-96C6-EDB61F1BE485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22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pic>
        <p:nvPicPr>
          <p:cNvPr id="43014" name="Picture 2">
            <a:extLst>
              <a:ext uri="{FF2B5EF4-FFF2-40B4-BE49-F238E27FC236}">
                <a16:creationId xmlns:a16="http://schemas.microsoft.com/office/drawing/2014/main" id="{3E660913-4F31-907A-A0E0-19D8C09ED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01725"/>
            <a:ext cx="8802687" cy="456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4FF30596-F84F-B7C9-52F4-0BFCAA7B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Beispiel: PyDev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49CDED7-8C2E-86B4-2A7C-8A0698F41FA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1CBBA7-45C4-7C9C-5311-8B3B780B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Python 3</a:t>
            </a:r>
            <a:endParaRPr lang="fr-FR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43C064-A86A-98BB-107C-A6885C6A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0CE1D48-FA1F-495C-AC03-A5C97DCB5B0B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23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grpSp>
        <p:nvGrpSpPr>
          <p:cNvPr id="45062" name="Gruppieren 6">
            <a:extLst>
              <a:ext uri="{FF2B5EF4-FFF2-40B4-BE49-F238E27FC236}">
                <a16:creationId xmlns:a16="http://schemas.microsoft.com/office/drawing/2014/main" id="{F07CD543-2C4E-B19C-E8E5-B06175E2CDED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196975"/>
            <a:ext cx="7818437" cy="5091113"/>
            <a:chOff x="468313" y="1196975"/>
            <a:chExt cx="7818437" cy="5091113"/>
          </a:xfrm>
        </p:grpSpPr>
        <p:pic>
          <p:nvPicPr>
            <p:cNvPr id="45063" name="Inhaltsplatzhalter 6">
              <a:extLst>
                <a:ext uri="{FF2B5EF4-FFF2-40B4-BE49-F238E27FC236}">
                  <a16:creationId xmlns:a16="http://schemas.microsoft.com/office/drawing/2014/main" id="{EA4978C9-94A6-A708-958C-1451B06FC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313" y="1196975"/>
              <a:ext cx="7751762" cy="5091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Legende mit Linie 1 11">
              <a:extLst>
                <a:ext uri="{FF2B5EF4-FFF2-40B4-BE49-F238E27FC236}">
                  <a16:creationId xmlns:a16="http://schemas.microsoft.com/office/drawing/2014/main" id="{15C0D620-9C26-61E1-2782-86ADF3ABEF14}"/>
                </a:ext>
              </a:extLst>
            </p:cNvPr>
            <p:cNvSpPr/>
            <p:nvPr/>
          </p:nvSpPr>
          <p:spPr>
            <a:xfrm>
              <a:off x="5381625" y="4976813"/>
              <a:ext cx="1638300" cy="912812"/>
            </a:xfrm>
            <a:prstGeom prst="borderCallout1">
              <a:avLst>
                <a:gd name="adj1" fmla="val 18750"/>
                <a:gd name="adj2" fmla="val -8333"/>
                <a:gd name="adj3" fmla="val -1567"/>
                <a:gd name="adj4" fmla="val -61009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800" tIns="38400" rIns="76800" bIns="38400" anchor="ctr"/>
            <a:lstStyle/>
            <a:p>
              <a:pPr algn="ctr">
                <a:defRPr/>
              </a:pPr>
              <a:r>
                <a:rPr lang="de-DE" dirty="0">
                  <a:solidFill>
                    <a:schemeClr val="tx1"/>
                  </a:solidFill>
                </a:rPr>
                <a:t>Ausgabekonsole</a:t>
              </a:r>
            </a:p>
          </p:txBody>
        </p:sp>
        <p:pic>
          <p:nvPicPr>
            <p:cNvPr id="45065" name="Picture 11">
              <a:extLst>
                <a:ext uri="{FF2B5EF4-FFF2-40B4-BE49-F238E27FC236}">
                  <a16:creationId xmlns:a16="http://schemas.microsoft.com/office/drawing/2014/main" id="{5A4D251A-07A4-1A9C-103B-61319B724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9013" y="2857500"/>
              <a:ext cx="2085975" cy="1143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066" name="Picture 12">
              <a:extLst>
                <a:ext uri="{FF2B5EF4-FFF2-40B4-BE49-F238E27FC236}">
                  <a16:creationId xmlns:a16="http://schemas.microsoft.com/office/drawing/2014/main" id="{EC900763-AB62-F74F-6CBE-4B8A8116ED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0775" y="2305050"/>
              <a:ext cx="2085975" cy="1104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3DED3B57-DC39-4214-ADAB-7EDCF6EDB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Beispiel: Repl.It - Eine Online-IDE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F57659C-3A8A-5431-B846-E34D494692E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58C07A-7133-5AF3-6828-09FFF572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4550DA-9568-BA20-896E-3B538EEAA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B30595-5AB1-44D3-B715-75297F5DA257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24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pic>
        <p:nvPicPr>
          <p:cNvPr id="46086" name="Picture 2">
            <a:extLst>
              <a:ext uri="{FF2B5EF4-FFF2-40B4-BE49-F238E27FC236}">
                <a16:creationId xmlns:a16="http://schemas.microsoft.com/office/drawing/2014/main" id="{856C8DFC-1AA9-9317-FCCD-275372D11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96975"/>
            <a:ext cx="8693150" cy="318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306F12C0-8B6A-3535-3108-AB12F7E25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Dokumentation UND RESSOURCEN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47D218A-3693-4CB5-E859-E1431DA44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1.5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5BF1BB-B07D-13F5-4D87-88904E2440F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337846-4E04-981D-1A7B-6E457C61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E4B772-16F1-B5EF-934B-E603C2C9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7F5CC0-A7A7-453B-88F9-2D269C04219C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25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669452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C966EA7F-2EF5-E8AD-6FDE-87D516C8F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Python Online Dokumentation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4C16E9F-057F-0BB3-681D-E028FCF151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56C2F9-D560-7263-9FDD-202FA6E1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4E66BDD-8D2B-91F6-D3D6-AE943197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B09D462-DBC0-4EC1-AF92-3B4AF30D01C6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26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pic>
        <p:nvPicPr>
          <p:cNvPr id="48134" name="Picture 2">
            <a:extLst>
              <a:ext uri="{FF2B5EF4-FFF2-40B4-BE49-F238E27FC236}">
                <a16:creationId xmlns:a16="http://schemas.microsoft.com/office/drawing/2014/main" id="{D06903AD-8EB5-4C2B-80D2-6E3AF20D1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81075"/>
            <a:ext cx="8350250" cy="538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8E76B46-9245-87B6-427A-62ACD710DAE0}"/>
              </a:ext>
            </a:extLst>
          </p:cNvPr>
          <p:cNvSpPr/>
          <p:nvPr/>
        </p:nvSpPr>
        <p:spPr>
          <a:xfrm>
            <a:off x="6156176" y="1628800"/>
            <a:ext cx="2232248" cy="1152128"/>
          </a:xfrm>
          <a:prstGeom prst="rect">
            <a:avLst/>
          </a:prstGeom>
          <a:solidFill>
            <a:srgbClr val="FF0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Vorsicht! </a:t>
            </a:r>
          </a:p>
          <a:p>
            <a:r>
              <a:rPr lang="de-DE" dirty="0"/>
              <a:t>Sehr technisch und für Anfänger nicht geeignet!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A17E69-F388-04C1-B730-43C4E38D57BC}"/>
              </a:ext>
            </a:extLst>
          </p:cNvPr>
          <p:cNvSpPr/>
          <p:nvPr/>
        </p:nvSpPr>
        <p:spPr>
          <a:xfrm>
            <a:off x="3851921" y="1412776"/>
            <a:ext cx="2088504" cy="288032"/>
          </a:xfrm>
          <a:prstGeom prst="rect">
            <a:avLst/>
          </a:prstGeom>
          <a:solidFill>
            <a:schemeClr val="accent2">
              <a:lumMod val="75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Bzw. aktuelle Version!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FA5108-A9C9-004B-4AE3-D3C4983773A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779912" y="1700808"/>
            <a:ext cx="1116261" cy="288032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159B-86F6-8E69-53D8-B09731D69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w3school – Eine öffentliche Lernplattform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49BD6-56B4-F7D1-7D4D-3DB8E21D8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A01C3-15E8-18FE-21AD-1D9F25CA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521BA-9273-E15E-6931-870E5365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5711-C661-4B9F-A580-A7D95705C47D}" type="slidenum">
              <a:rPr lang="de-DE" altLang="de-DE" smtClean="0"/>
              <a:pPr/>
              <a:t>27</a:t>
            </a:fld>
            <a:endParaRPr lang="de-DE" alt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462DA9-B45E-462F-BC8C-97A2698E9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04" y="1052736"/>
            <a:ext cx="8100392" cy="366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90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64F87ADE-1852-87E7-DBAC-2243F6C8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Was erwartet uns im nächsten Teil?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CA4F5B4-F9FE-5CF2-802B-2213BC1DE49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1A6C45-4A78-4FCC-0A0D-F6F6E4C89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Python 3</a:t>
            </a:r>
            <a:endParaRPr lang="fr-FR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380066-4DD6-DAF7-AEE8-0108312E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086198-ED1E-4ED1-A696-41B66789887C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28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grpSp>
        <p:nvGrpSpPr>
          <p:cNvPr id="54278" name="Gruppieren 5">
            <a:extLst>
              <a:ext uri="{FF2B5EF4-FFF2-40B4-BE49-F238E27FC236}">
                <a16:creationId xmlns:a16="http://schemas.microsoft.com/office/drawing/2014/main" id="{79BD4AF6-2D1B-1B51-D4E7-97724944BF05}"/>
              </a:ext>
            </a:extLst>
          </p:cNvPr>
          <p:cNvGrpSpPr>
            <a:grpSpLocks/>
          </p:cNvGrpSpPr>
          <p:nvPr/>
        </p:nvGrpSpPr>
        <p:grpSpPr bwMode="auto">
          <a:xfrm>
            <a:off x="588963" y="966788"/>
            <a:ext cx="7858125" cy="5313362"/>
            <a:chOff x="588963" y="966788"/>
            <a:chExt cx="7858125" cy="5313362"/>
          </a:xfrm>
        </p:grpSpPr>
        <p:pic>
          <p:nvPicPr>
            <p:cNvPr id="54279" name="Inhaltsplatzhalter 6">
              <a:extLst>
                <a:ext uri="{FF2B5EF4-FFF2-40B4-BE49-F238E27FC236}">
                  <a16:creationId xmlns:a16="http://schemas.microsoft.com/office/drawing/2014/main" id="{BE2278F7-C82A-3F9B-9785-7AE76BE99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963" y="1893888"/>
              <a:ext cx="7858125" cy="3695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Legende mit Linie 1 7">
              <a:extLst>
                <a:ext uri="{FF2B5EF4-FFF2-40B4-BE49-F238E27FC236}">
                  <a16:creationId xmlns:a16="http://schemas.microsoft.com/office/drawing/2014/main" id="{42DC00E7-A160-12D0-FE06-7D2449026871}"/>
                </a:ext>
              </a:extLst>
            </p:cNvPr>
            <p:cNvSpPr/>
            <p:nvPr/>
          </p:nvSpPr>
          <p:spPr>
            <a:xfrm>
              <a:off x="5765800" y="966788"/>
              <a:ext cx="1308100" cy="719137"/>
            </a:xfrm>
            <a:prstGeom prst="borderCallout1">
              <a:avLst>
                <a:gd name="adj1" fmla="val 18750"/>
                <a:gd name="adj2" fmla="val -8333"/>
                <a:gd name="adj3" fmla="val 119770"/>
                <a:gd name="adj4" fmla="val -285682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800" tIns="38400" rIns="76800" bIns="38400" anchor="ctr"/>
            <a:lstStyle/>
            <a:p>
              <a:pPr algn="ctr">
                <a:defRPr/>
              </a:pPr>
              <a:r>
                <a:rPr lang="de-DE" dirty="0">
                  <a:solidFill>
                    <a:schemeClr val="tx1"/>
                  </a:solidFill>
                </a:rPr>
                <a:t>Variablen</a:t>
              </a:r>
            </a:p>
          </p:txBody>
        </p:sp>
        <p:sp>
          <p:nvSpPr>
            <p:cNvPr id="10" name="Legende mit Linie 1 9">
              <a:extLst>
                <a:ext uri="{FF2B5EF4-FFF2-40B4-BE49-F238E27FC236}">
                  <a16:creationId xmlns:a16="http://schemas.microsoft.com/office/drawing/2014/main" id="{30AD18BF-5668-999E-DF31-B49A96D3EC73}"/>
                </a:ext>
              </a:extLst>
            </p:cNvPr>
            <p:cNvSpPr/>
            <p:nvPr/>
          </p:nvSpPr>
          <p:spPr>
            <a:xfrm>
              <a:off x="5765800" y="2149475"/>
              <a:ext cx="938213" cy="719138"/>
            </a:xfrm>
            <a:prstGeom prst="borderCallout1">
              <a:avLst>
                <a:gd name="adj1" fmla="val 18750"/>
                <a:gd name="adj2" fmla="val -8333"/>
                <a:gd name="adj3" fmla="val 137805"/>
                <a:gd name="adj4" fmla="val -3095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800" tIns="38400" rIns="76800" bIns="38400" anchor="ctr"/>
            <a:lstStyle/>
            <a:p>
              <a:pPr algn="ctr">
                <a:defRPr/>
              </a:pPr>
              <a:r>
                <a:rPr lang="de-DE" dirty="0">
                  <a:solidFill>
                    <a:schemeClr val="tx1"/>
                  </a:solidFill>
                </a:rPr>
                <a:t>Schleife</a:t>
              </a:r>
            </a:p>
          </p:txBody>
        </p:sp>
        <p:sp>
          <p:nvSpPr>
            <p:cNvPr id="11" name="Legende mit Linie 1 10">
              <a:extLst>
                <a:ext uri="{FF2B5EF4-FFF2-40B4-BE49-F238E27FC236}">
                  <a16:creationId xmlns:a16="http://schemas.microsoft.com/office/drawing/2014/main" id="{C98A1737-898C-B145-BC90-8A5C63C3EB24}"/>
                </a:ext>
              </a:extLst>
            </p:cNvPr>
            <p:cNvSpPr/>
            <p:nvPr/>
          </p:nvSpPr>
          <p:spPr>
            <a:xfrm>
              <a:off x="5765800" y="3684588"/>
              <a:ext cx="938213" cy="720725"/>
            </a:xfrm>
            <a:prstGeom prst="borderCallout1">
              <a:avLst>
                <a:gd name="adj1" fmla="val 18750"/>
                <a:gd name="adj2" fmla="val -8333"/>
                <a:gd name="adj3" fmla="val 9722"/>
                <a:gd name="adj4" fmla="val -300245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800" tIns="38400" rIns="76800" bIns="38400" anchor="ctr"/>
            <a:lstStyle/>
            <a:p>
              <a:pPr algn="ctr">
                <a:defRPr/>
              </a:pPr>
              <a:r>
                <a:rPr lang="de-DE" dirty="0">
                  <a:solidFill>
                    <a:schemeClr val="tx1"/>
                  </a:solidFill>
                </a:rPr>
                <a:t>Abfrage</a:t>
              </a:r>
            </a:p>
          </p:txBody>
        </p:sp>
        <p:sp>
          <p:nvSpPr>
            <p:cNvPr id="12" name="Legende mit Linie 1 11">
              <a:extLst>
                <a:ext uri="{FF2B5EF4-FFF2-40B4-BE49-F238E27FC236}">
                  <a16:creationId xmlns:a16="http://schemas.microsoft.com/office/drawing/2014/main" id="{852AEDE5-3E03-B505-A3CF-005777674371}"/>
                </a:ext>
              </a:extLst>
            </p:cNvPr>
            <p:cNvSpPr/>
            <p:nvPr/>
          </p:nvSpPr>
          <p:spPr>
            <a:xfrm>
              <a:off x="5765800" y="5561013"/>
              <a:ext cx="1847850" cy="719137"/>
            </a:xfrm>
            <a:prstGeom prst="borderCallout1">
              <a:avLst>
                <a:gd name="adj1" fmla="val 18750"/>
                <a:gd name="adj2" fmla="val -8333"/>
                <a:gd name="adj3" fmla="val -254771"/>
                <a:gd name="adj4" fmla="val -179075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800" tIns="38400" rIns="76800" bIns="38400" anchor="ctr"/>
            <a:lstStyle/>
            <a:p>
              <a:pPr algn="ctr">
                <a:defRPr/>
              </a:pPr>
              <a:r>
                <a:rPr lang="de-DE" dirty="0">
                  <a:solidFill>
                    <a:schemeClr val="tx1"/>
                  </a:solidFill>
                </a:rPr>
                <a:t>Vergleichsoperator</a:t>
              </a: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3B06A99-CB7F-F4FC-9486-A64BC3CF9C48}"/>
              </a:ext>
            </a:extLst>
          </p:cNvPr>
          <p:cNvCxnSpPr>
            <a:stCxn id="8" idx="2"/>
          </p:cNvCxnSpPr>
          <p:nvPr/>
        </p:nvCxnSpPr>
        <p:spPr>
          <a:xfrm flipH="1">
            <a:off x="1907704" y="1326357"/>
            <a:ext cx="3858096" cy="950515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57ADCF-7D88-70F1-2E52-3BFF060D2E45}"/>
              </a:ext>
            </a:extLst>
          </p:cNvPr>
          <p:cNvCxnSpPr>
            <a:cxnSpLocks/>
          </p:cNvCxnSpPr>
          <p:nvPr/>
        </p:nvCxnSpPr>
        <p:spPr>
          <a:xfrm flipH="1">
            <a:off x="1578000" y="1484784"/>
            <a:ext cx="4187800" cy="1008112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E603CD-BC0E-69B0-6971-0C67DE0EA29D}"/>
              </a:ext>
            </a:extLst>
          </p:cNvPr>
          <p:cNvCxnSpPr>
            <a:cxnSpLocks/>
          </p:cNvCxnSpPr>
          <p:nvPr/>
        </p:nvCxnSpPr>
        <p:spPr>
          <a:xfrm flipH="1">
            <a:off x="1691680" y="1700808"/>
            <a:ext cx="4187800" cy="1008112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egende mit Linie 1 11">
            <a:extLst>
              <a:ext uri="{FF2B5EF4-FFF2-40B4-BE49-F238E27FC236}">
                <a16:creationId xmlns:a16="http://schemas.microsoft.com/office/drawing/2014/main" id="{67F3FABE-0559-0CC8-B330-88379A54B335}"/>
              </a:ext>
            </a:extLst>
          </p:cNvPr>
          <p:cNvSpPr/>
          <p:nvPr/>
        </p:nvSpPr>
        <p:spPr bwMode="auto">
          <a:xfrm>
            <a:off x="2987824" y="5589240"/>
            <a:ext cx="1847850" cy="719137"/>
          </a:xfrm>
          <a:prstGeom prst="borderCallout1">
            <a:avLst>
              <a:gd name="adj1" fmla="val 18750"/>
              <a:gd name="adj2" fmla="val -8333"/>
              <a:gd name="adj3" fmla="val -51565"/>
              <a:gd name="adj4" fmla="val -9028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800" tIns="38400" rIns="76800" bIns="38400" anchor="ctr"/>
          <a:lstStyle/>
          <a:p>
            <a:pPr algn="ctr">
              <a:defRPr/>
            </a:pPr>
            <a:r>
              <a:rPr lang="de-DE" dirty="0">
                <a:solidFill>
                  <a:schemeClr val="tx1"/>
                </a:solidFill>
              </a:rPr>
              <a:t>BuiltIn-Funktion</a:t>
            </a:r>
          </a:p>
        </p:txBody>
      </p:sp>
    </p:spTree>
    <p:extLst>
      <p:ext uri="{BB962C8B-B14F-4D97-AF65-F5344CB8AC3E}">
        <p14:creationId xmlns:p14="http://schemas.microsoft.com/office/powerpoint/2010/main" val="1441586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3B6C1F2E-AA8C-CE93-8605-CFE0989C1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Variablen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BDA273F-4791-71D0-C3C0-093DD12F5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2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11FD77-76EB-29E8-8FAD-C8A4A2D7AD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5F22C8-40BF-B834-777D-2AB20B85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138C26-A8B8-B39C-AE8A-B32FA2D5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76935F-D530-44E0-9C73-8F0F7D03E8C7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29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F01B30B7-5DF1-5255-9960-3A4BAA490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Übersicht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25B5A19-4DAF-9052-4A3A-5FCE1CC7E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2.1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6AFB98-2041-170F-69E3-004E2838052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A3A7AF-3FA7-FF5A-9A58-DDE0ECC8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16A550-121B-2E3F-8445-B98EACA7C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7B1BB21-6A75-4F2A-8B9C-563182F93596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30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1023-1BAF-B861-350B-369C4EE35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Prinzip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76EE5-C4BC-25D4-12A8-91F8B3789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Eine Variable hat einen </a:t>
            </a:r>
            <a:r>
              <a:rPr lang="de-DE" b="1" dirty="0"/>
              <a:t>Namen</a:t>
            </a:r>
          </a:p>
          <a:p>
            <a:pPr lvl="1"/>
            <a:r>
              <a:rPr lang="de-DE" dirty="0"/>
              <a:t>message</a:t>
            </a:r>
          </a:p>
          <a:p>
            <a:r>
              <a:rPr lang="de-DE" dirty="0"/>
              <a:t>sowie einen </a:t>
            </a:r>
            <a:r>
              <a:rPr lang="de-DE" b="1" dirty="0"/>
              <a:t>Wert</a:t>
            </a:r>
          </a:p>
          <a:p>
            <a:pPr lvl="1"/>
            <a:r>
              <a:rPr lang="de-DE" dirty="0"/>
              <a:t>'Hello'</a:t>
            </a:r>
          </a:p>
          <a:p>
            <a:pPr lvl="2"/>
            <a:r>
              <a:rPr lang="de-DE" dirty="0"/>
              <a:t>Ein in einem Programm angegebener fixer Wert wird als </a:t>
            </a:r>
            <a:r>
              <a:rPr lang="de-DE" b="1" dirty="0"/>
              <a:t>Literal</a:t>
            </a:r>
            <a:r>
              <a:rPr lang="de-DE" dirty="0"/>
              <a:t> bezeichnet</a:t>
            </a:r>
          </a:p>
          <a:p>
            <a:r>
              <a:rPr lang="de-DE" dirty="0"/>
              <a:t>der mit dem '</a:t>
            </a:r>
            <a:r>
              <a:rPr lang="de-DE" b="1" dirty="0"/>
              <a:t>=</a:t>
            </a:r>
            <a:r>
              <a:rPr lang="de-DE" dirty="0"/>
              <a:t>'-Operator einer Variablen zugewiesen wird</a:t>
            </a:r>
          </a:p>
          <a:p>
            <a:pPr lvl="1"/>
            <a:r>
              <a:rPr lang="de-DE" dirty="0"/>
              <a:t>message = 'Hello'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F46B-DD8D-FF2E-FBCD-8CC8026E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73502-CD54-2426-6BAC-A1CB016C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64EDB-E5CB-061C-122B-351E7725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31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59167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B3F3-118E-3FF5-E384-C823721AA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CFBC-173B-14F8-F3D9-E6C624178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Namen in Python in Englisch</a:t>
            </a:r>
          </a:p>
          <a:p>
            <a:pPr lvl="1"/>
            <a:r>
              <a:rPr lang="de-DE" dirty="0"/>
              <a:t>Deutsche Bezeichner führen zu holprig lesbarem Code</a:t>
            </a:r>
          </a:p>
          <a:p>
            <a:pPr lvl="2"/>
            <a:r>
              <a:rPr lang="de-DE" dirty="0"/>
              <a:t>länge = len('Hugo')</a:t>
            </a:r>
          </a:p>
          <a:p>
            <a:pPr lvl="2"/>
            <a:r>
              <a:rPr lang="de-DE" dirty="0"/>
              <a:t>print(länge)</a:t>
            </a:r>
          </a:p>
          <a:p>
            <a:r>
              <a:rPr lang="de-DE" dirty="0"/>
              <a:t>Namen ausschließlich in Kleinbuchstaben</a:t>
            </a:r>
          </a:p>
          <a:p>
            <a:pPr lvl="1"/>
            <a:r>
              <a:rPr lang="de-DE" dirty="0"/>
              <a:t>zur besseren Lesbarkeit je nach Betonung mit Unterstrichen arbeiten</a:t>
            </a:r>
          </a:p>
          <a:p>
            <a:pPr lvl="2"/>
            <a:r>
              <a:rPr lang="de-DE" dirty="0"/>
              <a:t>statt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personlastname</a:t>
            </a:r>
            <a:r>
              <a:rPr lang="de-DE" dirty="0"/>
              <a:t> besser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person_lastname</a:t>
            </a:r>
          </a:p>
          <a:p>
            <a:pPr lvl="1"/>
            <a:r>
              <a:rPr lang="de-DE" dirty="0"/>
              <a:t>Die Alternative mit eingestreuten Großbuchstaben (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personLastname</a:t>
            </a:r>
            <a:r>
              <a:rPr lang="de-DE" dirty="0"/>
              <a:t>) wird in der Python-Community eher selten benutzt</a:t>
            </a:r>
          </a:p>
          <a:p>
            <a:r>
              <a:rPr lang="de-DE" dirty="0"/>
              <a:t>Namen bitte nur mit ASCII-Zeichen, obwohl der gesamte Unicode-Zeichensatz genutzt werden kann</a:t>
            </a:r>
          </a:p>
          <a:p>
            <a:pPr lvl="1"/>
            <a:r>
              <a:rPr lang="de-DE" dirty="0"/>
              <a:t>Und ja: Sie könnten auch Emojis nutzen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8D3E0-7C4E-661C-68A7-421078414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7B44E-B262-C09C-751F-1DBDC2E7C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EB4A7-5C13-9684-0241-D6C8F74A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32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39044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7181483-FF06-35C3-E088-4DA4F6AB9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Erstes Programmieren mit Variablen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03079-EA5A-7106-CF12-914CECBBC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2.2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AF866-503E-4C82-8221-2EB0A2F1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9BBE-345E-847A-E01C-30EAE596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B42D9-F7F9-3580-25B3-F6566C5D0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33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09158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7D7A624A-0FB5-092A-8CCC-A32A66B9B4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Zahlen</a:t>
            </a:r>
          </a:p>
        </p:txBody>
      </p:sp>
      <p:sp>
        <p:nvSpPr>
          <p:cNvPr id="57347" name="Rectangle 4">
            <a:extLst>
              <a:ext uri="{FF2B5EF4-FFF2-40B4-BE49-F238E27FC236}">
                <a16:creationId xmlns:a16="http://schemas.microsoft.com/office/drawing/2014/main" id="{9198C8AB-3FD1-AB59-BFA4-C0DA581A94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 dirty="0"/>
              <a:t>Alles was mit einer Zahl beginnt, ist eine Zahl</a:t>
            </a:r>
          </a:p>
          <a:p>
            <a:r>
              <a:rPr altLang="de-DE" dirty="0"/>
              <a:t>Die Genauigkeit ergibt sich aus dem Literal</a:t>
            </a:r>
          </a:p>
          <a:p>
            <a:pPr lvl="1"/>
            <a:r>
              <a:rPr altLang="de-DE" dirty="0"/>
              <a:t>Fließkommazahl, float</a:t>
            </a:r>
          </a:p>
          <a:p>
            <a:pPr lvl="2"/>
            <a:r>
              <a:rPr altLang="de-DE" dirty="0"/>
              <a:t>Mit Komma</a:t>
            </a:r>
          </a:p>
          <a:p>
            <a:pPr lvl="2"/>
            <a:r>
              <a:rPr altLang="de-DE" dirty="0"/>
              <a:t>4.2</a:t>
            </a:r>
          </a:p>
          <a:p>
            <a:pPr lvl="1"/>
            <a:r>
              <a:rPr altLang="de-DE" dirty="0"/>
              <a:t>Ganzzahl, integer</a:t>
            </a:r>
          </a:p>
          <a:p>
            <a:pPr lvl="2"/>
            <a:r>
              <a:rPr altLang="de-DE" dirty="0"/>
              <a:t>Ohne Komma</a:t>
            </a:r>
          </a:p>
          <a:p>
            <a:pPr lvl="2"/>
            <a:r>
              <a:rPr altLang="de-DE" dirty="0"/>
              <a:t>42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2A942C-A620-0E07-EF89-FC61FB5DE5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6F5786-0F39-03D2-806A-02953747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13C7B2-18BB-0289-FE74-95CC9BBC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940BC45-0346-453B-8867-9F40BE404050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34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3F05A6-009C-06CE-64CB-EA1B9A129D29}"/>
              </a:ext>
            </a:extLst>
          </p:cNvPr>
          <p:cNvSpPr/>
          <p:nvPr/>
        </p:nvSpPr>
        <p:spPr>
          <a:xfrm>
            <a:off x="4860032" y="2852936"/>
            <a:ext cx="3456384" cy="935038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Neben der hier benutzten Dezimalschreibweise können Zahlen theoretisch auch oktal und hexadezimal angegeben werden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32EC11DA-94A7-D73F-E54A-93AAF0C1A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Strings</a:t>
            </a:r>
          </a:p>
        </p:txBody>
      </p:sp>
      <p:sp>
        <p:nvSpPr>
          <p:cNvPr id="35843" name="Rectangle 5">
            <a:extLst>
              <a:ext uri="{FF2B5EF4-FFF2-40B4-BE49-F238E27FC236}">
                <a16:creationId xmlns:a16="http://schemas.microsoft.com/office/drawing/2014/main" id="{E4098C96-ECD9-9F81-0CD2-DA0B5A7EB0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defRPr/>
            </a:pPr>
            <a:r>
              <a:rPr dirty="0"/>
              <a:t>Markierung durch einfache oder doppelte Anführungsstriche</a:t>
            </a:r>
          </a:p>
          <a:p>
            <a:pPr lvl="1">
              <a:defRPr/>
            </a:pPr>
            <a:r>
              <a:rPr lang="de-DE" dirty="0"/>
              <a:t>Mischung ist nicht zulässig</a:t>
            </a:r>
          </a:p>
          <a:p>
            <a:pPr lvl="1">
              <a:defRPr/>
            </a:pPr>
            <a:endParaRPr dirty="0"/>
          </a:p>
          <a:p>
            <a:pPr>
              <a:defRPr/>
            </a:pPr>
            <a:r>
              <a:rPr dirty="0"/>
              <a:t>Die \ in Zeichenketten werden für spezielle Zeichen verwendet</a:t>
            </a:r>
          </a:p>
          <a:p>
            <a:pPr lvl="1">
              <a:defRPr/>
            </a:pPr>
            <a:r>
              <a:rPr dirty="0"/>
              <a:t>z. B. \n für "Neue Zeile"</a:t>
            </a:r>
          </a:p>
          <a:p>
            <a:pPr>
              <a:defRPr/>
            </a:pPr>
            <a:r>
              <a:rPr dirty="0"/>
              <a:t>Längere Stringkonstanten lassen sich über Tripelquotes erzeugen </a:t>
            </a:r>
            <a:endParaRPr dirty="0">
              <a:latin typeface="Courier New" pitchFamily="49" charset="0"/>
            </a:endParaRPr>
          </a:p>
          <a:p>
            <a:pPr marL="288925" lvl="1" indent="0">
              <a:buFont typeface="Wingdings" panose="05000000000000000000" pitchFamily="2" charset="2"/>
              <a:buNone/>
              <a:defRPr/>
            </a:pPr>
            <a:r>
              <a:rPr dirty="0">
                <a:latin typeface="Courier New" pitchFamily="49" charset="0"/>
              </a:rPr>
              <a:t>""" Dies ist ein</a:t>
            </a:r>
          </a:p>
          <a:p>
            <a:pPr marL="288925" lvl="1" indent="0">
              <a:buFont typeface="Wingdings" panose="05000000000000000000" pitchFamily="2" charset="2"/>
              <a:buNone/>
              <a:defRPr/>
            </a:pPr>
            <a:r>
              <a:rPr dirty="0">
                <a:latin typeface="Courier New" pitchFamily="49" charset="0"/>
              </a:rPr>
              <a:t>	mehrzeiliger</a:t>
            </a:r>
          </a:p>
          <a:p>
            <a:pPr marL="288925" lvl="1" indent="0">
              <a:buFont typeface="Wingdings" panose="05000000000000000000" pitchFamily="2" charset="2"/>
              <a:buNone/>
              <a:defRPr/>
            </a:pPr>
            <a:r>
              <a:rPr dirty="0">
                <a:latin typeface="Courier New" pitchFamily="49" charset="0"/>
              </a:rPr>
              <a:t>	String"""</a:t>
            </a:r>
          </a:p>
          <a:p>
            <a:pPr>
              <a:defRPr/>
            </a:pPr>
            <a:r>
              <a:rPr lang="de-DE" b="1" dirty="0"/>
              <a:t>Formatierte Strings</a:t>
            </a:r>
            <a:r>
              <a:rPr lang="de-DE" dirty="0"/>
              <a:t> haben Zugriff auf Variablen</a:t>
            </a:r>
          </a:p>
          <a:p>
            <a:pPr marL="288925" lvl="1" indent="0">
              <a:buNone/>
              <a:defRPr/>
            </a:pPr>
            <a:r>
              <a:rPr lang="de-DE" dirty="0">
                <a:latin typeface="Courier New" pitchFamily="49" charset="0"/>
              </a:rPr>
              <a:t>number = 42</a:t>
            </a:r>
          </a:p>
          <a:p>
            <a:pPr marL="288925" lvl="1" indent="0">
              <a:buNone/>
              <a:defRPr/>
            </a:pPr>
            <a:r>
              <a:rPr lang="de-DE" dirty="0">
                <a:latin typeface="Courier New" pitchFamily="49" charset="0"/>
              </a:rPr>
              <a:t>message = </a:t>
            </a:r>
            <a:r>
              <a:rPr lang="de-DE" b="1" dirty="0">
                <a:latin typeface="Courier New" pitchFamily="49" charset="0"/>
              </a:rPr>
              <a:t>f</a:t>
            </a:r>
            <a:r>
              <a:rPr lang="de-DE" dirty="0">
                <a:latin typeface="Courier New" pitchFamily="49" charset="0"/>
              </a:rPr>
              <a:t>'the number is {number}'</a:t>
            </a:r>
          </a:p>
          <a:p>
            <a:pPr marL="288925" lvl="1" indent="0">
              <a:buNone/>
              <a:defRPr/>
            </a:pPr>
            <a:endParaRPr dirty="0">
              <a:latin typeface="Courier New" pitchFamily="49" charset="0"/>
            </a:endParaRPr>
          </a:p>
          <a:p>
            <a:pPr>
              <a:defRPr/>
            </a:pPr>
            <a:endParaRPr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879AD11-FDF5-ADD1-E815-D66AED31EEB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3D01A6-40C8-86B7-43C5-8E003560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571D31-4A4E-0927-DF25-5D7CF673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714D4A-0A8B-47C1-AB7F-E6DAEFFC4F2E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35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960615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8BC42-009B-118E-2082-FA7E13BBE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Konsolenausgabe und -eingabe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FB36E-C64C-9D98-337D-FBFCA550A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Programme können interaktiv sein:</a:t>
            </a:r>
          </a:p>
          <a:p>
            <a:pPr lvl="1"/>
            <a:r>
              <a:rPr lang="de-DE" dirty="0"/>
              <a:t>Benutzereingaben werden mit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DE" dirty="0"/>
              <a:t> angefordert</a:t>
            </a:r>
          </a:p>
          <a:p>
            <a:pPr lvl="1"/>
            <a:r>
              <a:rPr lang="de-DE" dirty="0"/>
              <a:t>Ausgaben werden auf die Konsole mit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dirty="0"/>
              <a:t> ausgegeben</a:t>
            </a:r>
          </a:p>
          <a:p>
            <a:r>
              <a:rPr lang="de-DE" dirty="0"/>
              <a:t>Dies sind sogenannte BuiltIn-Funktionen, die an jeder Stelle eines Python-Programms genutzt werden können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59E9E-49BB-246E-2AF1-6E9A7CAA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7D8D1-0B31-09EC-02CF-E9AE8827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0E2AF-D0C5-3786-16D5-8B19BEB4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36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645DF6-FE33-776F-D84D-21F85954B723}"/>
              </a:ext>
            </a:extLst>
          </p:cNvPr>
          <p:cNvSpPr/>
          <p:nvPr/>
        </p:nvSpPr>
        <p:spPr>
          <a:xfrm>
            <a:off x="539552" y="2852936"/>
            <a:ext cx="7920880" cy="1728192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Funktionen werden weiter unten genau behandelt, hier pragmatisch: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Damit eine Funktion etwas tut, muss sie aufgerufen werden, dazu wird ein rundes Klammernpaar benutzt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Benötigt die Funktion Informationen, also beispielsweise "was soll ausgegeben werden?", so wird dies als Literal oder Variable in die runden Klammern  geschrieben</a:t>
            </a:r>
          </a:p>
        </p:txBody>
      </p:sp>
    </p:spTree>
    <p:extLst>
      <p:ext uri="{BB962C8B-B14F-4D97-AF65-F5344CB8AC3E}">
        <p14:creationId xmlns:p14="http://schemas.microsoft.com/office/powerpoint/2010/main" val="4194859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E640E-E0CB-4247-8669-56F3B137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5122-F436-B1FF-B3EC-39E71DDF4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Deklaration von Variablen und Zuweisung eines Literals</a:t>
            </a:r>
          </a:p>
          <a:p>
            <a:pPr lvl="1"/>
            <a:r>
              <a:rPr lang="de-DE" dirty="0"/>
              <a:t>Zahlen</a:t>
            </a:r>
          </a:p>
          <a:p>
            <a:pPr lvl="1"/>
            <a:r>
              <a:rPr lang="de-DE" dirty="0"/>
              <a:t>Zeichenketten</a:t>
            </a:r>
          </a:p>
          <a:p>
            <a:r>
              <a:rPr lang="de-DE" dirty="0"/>
              <a:t>Nutzen der BuiltIn-Funktionen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DE" dirty="0"/>
              <a:t> und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  <a:p>
            <a:r>
              <a:rPr lang="de-DE" dirty="0"/>
              <a:t>Ein erstes interaktives Programm mit Konsoleneingabe und –ausgabe ist realisiert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F2105-34F0-D159-3AAD-E5C981F51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7C5DE-A647-D0A5-7CFA-ED450862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B6531-169E-91F2-7494-2DDB258A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37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3F398D-C609-FADA-37BE-81DF546F9D02}"/>
              </a:ext>
            </a:extLst>
          </p:cNvPr>
          <p:cNvSpPr/>
          <p:nvPr/>
        </p:nvSpPr>
        <p:spPr>
          <a:xfrm>
            <a:off x="320646" y="3781134"/>
            <a:ext cx="8492781" cy="1728192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Neben Zahlen und Zeichenketten unterstützt Python weitere Literale (logische Werte, Listen, ...), die weiter unten eingeführt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In Python Version 3 gibt es etwa 70 BuiltIn-Funktionen</a:t>
            </a:r>
          </a:p>
        </p:txBody>
      </p:sp>
    </p:spTree>
    <p:extLst>
      <p:ext uri="{BB962C8B-B14F-4D97-AF65-F5344CB8AC3E}">
        <p14:creationId xmlns:p14="http://schemas.microsoft.com/office/powerpoint/2010/main" val="3376698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45F9-AFFB-1C2A-055A-FAB1D74D2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Datentypen und Operatoren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02E4B-D698-656D-0937-9C40F50D3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0EB11-0C10-2480-68FB-B9B889FA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EB75B-B0C9-0F4F-70B8-95B2CA626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B05FC-3CDF-E42E-7497-FDF2D1F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38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49237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0AA35-3C0C-90FF-8678-A6CF74317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76C23-A0A3-9EFA-8806-2E45309E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Literale und Datentypen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F76CB-837F-9827-E686-A8416A57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3.1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19011-63A3-C905-A745-859C5F69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18D80-93F1-7A04-DADA-F6AC3519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10C9-433B-5BCE-792A-DAFE7B06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39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672178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9B72-9A67-DAC7-5B7A-6778BFFC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Literale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301A5-43FB-4201-ACAE-BA952FD5B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Bisher</a:t>
            </a:r>
          </a:p>
          <a:p>
            <a:pPr lvl="1"/>
            <a:r>
              <a:rPr lang="de-DE" dirty="0"/>
              <a:t>message = 'Hello'</a:t>
            </a:r>
          </a:p>
          <a:p>
            <a:pPr lvl="1"/>
            <a:r>
              <a:rPr lang="de-DE" dirty="0"/>
              <a:t>Interpretation</a:t>
            </a:r>
          </a:p>
          <a:p>
            <a:pPr lvl="2"/>
            <a:r>
              <a:rPr lang="de-DE" dirty="0"/>
              <a:t>"Der Variable message wird der Wert Hello zugewiesen"</a:t>
            </a:r>
          </a:p>
          <a:p>
            <a:r>
              <a:rPr lang="de-DE" dirty="0"/>
              <a:t>Nun</a:t>
            </a:r>
          </a:p>
          <a:p>
            <a:pPr lvl="1"/>
            <a:r>
              <a:rPr lang="de-DE" dirty="0"/>
              <a:t>'Hello' ist ein Zeichenketten-Literal, somit ist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message</a:t>
            </a:r>
            <a:r>
              <a:rPr lang="de-DE" dirty="0"/>
              <a:t> eine Zeichenkette</a:t>
            </a:r>
          </a:p>
          <a:p>
            <a:pPr lvl="2"/>
            <a:r>
              <a:rPr lang="de-DE" dirty="0"/>
              <a:t>Englisch: Zeichenkette = String</a:t>
            </a:r>
          </a:p>
          <a:p>
            <a:pPr lvl="3"/>
            <a:r>
              <a:rPr lang="de-DE" dirty="0"/>
              <a:t>'Hello' ist ein String-Literal, somit ist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message</a:t>
            </a:r>
            <a:r>
              <a:rPr lang="de-DE" dirty="0"/>
              <a:t> ein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</a:p>
          <a:p>
            <a:pPr lvl="1"/>
            <a:r>
              <a:rPr lang="de-DE" dirty="0"/>
              <a:t>Völlig äquivalent</a:t>
            </a:r>
          </a:p>
          <a:p>
            <a:pPr lvl="2"/>
            <a:r>
              <a:rPr lang="de-DE" dirty="0"/>
              <a:t>42 ist ein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dirty="0"/>
              <a:t>-Literal</a:t>
            </a:r>
          </a:p>
          <a:p>
            <a:pPr lvl="2"/>
            <a:r>
              <a:rPr lang="de-DE" dirty="0"/>
              <a:t>4.2 ist ein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de-DE" dirty="0"/>
              <a:t>-Literal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22264-15EB-D9E4-E802-C0B174FB2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A9755-849E-10CF-2E75-34522053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E4BC7-EA58-7D29-5855-A27110A9A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40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097469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4B78-ADBD-A275-2DC2-8D79D5B34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Typisierung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0D41-98F1-8EE8-3A32-CEC757111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Der Typ des Literals wird implizit auch der Variablen zugewiesen</a:t>
            </a:r>
          </a:p>
          <a:p>
            <a:r>
              <a:rPr lang="de-DE" dirty="0"/>
              <a:t>Damit weiß Python zur Laufzeit immer ganz genau, welchen Typ eine Variable hat</a:t>
            </a:r>
          </a:p>
          <a:p>
            <a:pPr lvl="1"/>
            <a:r>
              <a:rPr lang="de-DE" dirty="0"/>
              <a:t>Zur Bestimmung wird die BuildIn-Funktion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de-DE" dirty="0"/>
              <a:t>genutzt</a:t>
            </a:r>
          </a:p>
          <a:p>
            <a:pPr lvl="2"/>
            <a:r>
              <a:rPr lang="de-DE" dirty="0"/>
              <a:t>Die Ausgabe ist etwas kryptisch, enthält aber genau das, was wir brauchen</a:t>
            </a:r>
          </a:p>
          <a:p>
            <a:pPr lvl="3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&lt;class '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'&gt; </a:t>
            </a:r>
          </a:p>
          <a:p>
            <a:pPr lvl="3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&lt;class '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'&gt;</a:t>
            </a:r>
          </a:p>
          <a:p>
            <a:pPr lvl="3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&lt;class '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'&gt;</a:t>
            </a:r>
          </a:p>
          <a:p>
            <a:pPr lvl="3"/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B8E78-1A64-801B-7D52-4E1F11D82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4A8DD-8421-4D1A-E9F0-07E475AC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89DC9-7C8D-5A77-ADA7-4B5AE3B0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41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8AB79D-C715-4230-DF64-D6E45A73EB96}"/>
              </a:ext>
            </a:extLst>
          </p:cNvPr>
          <p:cNvSpPr/>
          <p:nvPr/>
        </p:nvSpPr>
        <p:spPr>
          <a:xfrm>
            <a:off x="293942" y="3781716"/>
            <a:ext cx="8492781" cy="1728192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Einer Variable kann jederzeit ein neuer Wert (Literal, andere Variable) zugeweisen werden, damit ändert sich potenziell auch der Typ der Variable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Python ist eine dynamisch typisierte Sprache, in einer statisch typisierten Sprache (Java, TypeScript, C#) muss bei einer Neuzuweisung der Typ passen</a:t>
            </a:r>
          </a:p>
        </p:txBody>
      </p:sp>
    </p:spTree>
    <p:extLst>
      <p:ext uri="{BB962C8B-B14F-4D97-AF65-F5344CB8AC3E}">
        <p14:creationId xmlns:p14="http://schemas.microsoft.com/office/powerpoint/2010/main" val="23305672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C91A-6915-7F2C-D633-69BAD1F9C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Typumwandlung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37E65-CAD3-27B0-28CE-A26F8527F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Der Typ einer Variablen kann, falls inhaltlich möglich, in einen anderen Typen umgewandelt werden</a:t>
            </a:r>
          </a:p>
          <a:p>
            <a:r>
              <a:rPr lang="de-DE" dirty="0"/>
              <a:t>Dazu wird für jeden Typen eine eigene BuiltIn-Funktion bereitgestellt</a:t>
            </a:r>
          </a:p>
          <a:p>
            <a:pPr lvl="1"/>
            <a:r>
              <a:rPr lang="de-DE" dirty="0"/>
              <a:t>Der Name ist exakt derselbe, wie der relevante Teil der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de-DE" dirty="0"/>
              <a:t>-Ausgabe</a:t>
            </a:r>
          </a:p>
          <a:p>
            <a:r>
              <a:rPr lang="de-DE" dirty="0"/>
              <a:t>Umwandlung in Strings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str(value)</a:t>
            </a:r>
          </a:p>
          <a:p>
            <a:pPr lvl="2"/>
            <a:r>
              <a:rPr lang="de-DE" dirty="0"/>
              <a:t>Geht immer</a:t>
            </a:r>
          </a:p>
          <a:p>
            <a:r>
              <a:rPr lang="de-DE" dirty="0"/>
              <a:t>Umwandlung in eine Zahl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int(value)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float(value)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77718-ED8F-8E85-62ED-A64994BB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9DC03-AF59-E6F4-8F97-9B9D7FDF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DD6C0-7997-9A65-8335-9C1A9AA00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42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E2CDB5-BA5F-A0EE-0637-9E70F032E64D}"/>
              </a:ext>
            </a:extLst>
          </p:cNvPr>
          <p:cNvSpPr/>
          <p:nvPr/>
        </p:nvSpPr>
        <p:spPr>
          <a:xfrm>
            <a:off x="863587" y="4509120"/>
            <a:ext cx="7311067" cy="1656184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 Umwandlung in einer Zahl kann fehlschlagen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int('Hugo')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float('42komma3')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float('42,3')</a:t>
            </a:r>
          </a:p>
        </p:txBody>
      </p:sp>
    </p:spTree>
    <p:extLst>
      <p:ext uri="{BB962C8B-B14F-4D97-AF65-F5344CB8AC3E}">
        <p14:creationId xmlns:p14="http://schemas.microsoft.com/office/powerpoint/2010/main" val="790828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A1088-1FDD-2B03-8A61-8B31A87EF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Operatoren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D577B-2F06-9CFF-57E4-C75C248B6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3.2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4E032-3267-392B-C9A3-005DB9F6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F5056-D716-168F-C946-DD32C441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B3D52-E305-A673-D7DE-4942C98CA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43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85946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E7333-018F-91C4-7B84-36570F01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sind "Operatoren"?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C0CC4-4A2A-B9E5-E200-6F5477CD0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Ganz Allgemein</a:t>
            </a:r>
          </a:p>
          <a:p>
            <a:pPr lvl="1"/>
            <a:r>
              <a:rPr lang="de-DE" dirty="0"/>
              <a:t>"Mit Operatoren werden in einer Programmiersprache Aktionen mit Variablen durchgeführt"</a:t>
            </a:r>
          </a:p>
          <a:p>
            <a:r>
              <a:rPr lang="de-DE" dirty="0"/>
              <a:t>Sind Operatoren damit nicht dasselbe wie BuiltIn-Funktionen?</a:t>
            </a:r>
          </a:p>
          <a:p>
            <a:pPr lvl="1"/>
            <a:r>
              <a:rPr lang="de-DE" dirty="0"/>
              <a:t>Korrekt</a:t>
            </a:r>
          </a:p>
          <a:p>
            <a:r>
              <a:rPr lang="de-DE" dirty="0"/>
              <a:t>Warum dann der Unterschied?</a:t>
            </a:r>
          </a:p>
          <a:p>
            <a:pPr lvl="1"/>
            <a:r>
              <a:rPr lang="de-DE" dirty="0"/>
              <a:t>Es geht eigentlich nur um die Lesbarkeit des Codes!</a:t>
            </a:r>
          </a:p>
          <a:p>
            <a:r>
              <a:rPr lang="de-DE" dirty="0"/>
              <a:t>Bitte etwas konkreter! Warum BuiltIns und Operatoren?</a:t>
            </a:r>
          </a:p>
          <a:p>
            <a:pPr lvl="1"/>
            <a:r>
              <a:rPr lang="de-DE" dirty="0"/>
              <a:t>Wir wollen das Ergebnis der Addition der beiden Zahlen 20 und 22 bestimmen</a:t>
            </a:r>
          </a:p>
          <a:p>
            <a:pPr lvl="2"/>
            <a:r>
              <a:rPr lang="de-DE" dirty="0"/>
              <a:t>Nutzen wir doch einfach den +-Operator</a:t>
            </a:r>
          </a:p>
          <a:p>
            <a:pPr lvl="3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result = 20 + 22</a:t>
            </a:r>
          </a:p>
          <a:p>
            <a:pPr lvl="2"/>
            <a:r>
              <a:rPr lang="de-DE" dirty="0"/>
              <a:t>Mit einer hypothetischen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plus</a:t>
            </a:r>
            <a:r>
              <a:rPr lang="de-DE" dirty="0"/>
              <a:t>-BuiltIn-Funktion würde das so ausschauen</a:t>
            </a:r>
          </a:p>
          <a:p>
            <a:pPr lvl="3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result = plus(20, 22)</a:t>
            </a:r>
          </a:p>
          <a:p>
            <a:pPr lvl="1"/>
            <a:r>
              <a:rPr lang="de-DE" dirty="0"/>
              <a:t>Nun wollen wir das Ergebnis auf die Konsole ausgeben</a:t>
            </a:r>
          </a:p>
          <a:p>
            <a:pPr lvl="2"/>
            <a:r>
              <a:rPr lang="de-DE" dirty="0"/>
              <a:t>Nutzen wir doch die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dirty="0"/>
              <a:t>-Funktion</a:t>
            </a:r>
          </a:p>
          <a:p>
            <a:pPr lvl="3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print(result)</a:t>
            </a:r>
          </a:p>
          <a:p>
            <a:pPr lvl="2"/>
            <a:r>
              <a:rPr lang="de-DE" dirty="0"/>
              <a:t>Und was wäre hierfür ein griffiger Operator? Ein Emoji???</a:t>
            </a:r>
          </a:p>
          <a:p>
            <a:pPr lvl="3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de-DE" dirty="0"/>
              <a:t> 🖨️</a:t>
            </a:r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85E53-2D33-CC50-781D-FDA2CD29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C8B29-D5BE-E0EF-76AB-A9328C31E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C3EEE-0F77-AB3A-509F-8078F0FA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A5C-D896-460D-ADB5-722D856B4DA9}" type="slidenum">
              <a:rPr lang="de-DE" altLang="de-DE" smtClean="0"/>
              <a:pPr/>
              <a:t>44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214985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D323-B959-562C-D93E-96E81E5E2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Operatoren und Datentypen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0F3E3-BEFE-2044-8DF0-EE2277BF7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Operatoren sind nur zwischen kompatiblen Datentypen erlaubt</a:t>
            </a:r>
          </a:p>
          <a:p>
            <a:pPr lvl="1"/>
            <a:r>
              <a:rPr lang="de-DE" dirty="0"/>
              <a:t>Beispiel</a:t>
            </a:r>
          </a:p>
          <a:p>
            <a:pPr lvl="2"/>
            <a:r>
              <a:rPr lang="de-DE" dirty="0"/>
              <a:t>Die Summe aus zwei Zahlen kann berechnet werden, ebenso z.B. die Differenz</a:t>
            </a:r>
          </a:p>
          <a:p>
            <a:pPr lvl="2"/>
            <a:r>
              <a:rPr lang="de-DE" dirty="0"/>
              <a:t>Was aber ist die Differenz zweier Zeichenketten? Das ist nicht definiert</a:t>
            </a:r>
          </a:p>
          <a:p>
            <a:pPr lvl="1"/>
            <a:r>
              <a:rPr lang="de-DE" dirty="0"/>
              <a:t>Hinweis</a:t>
            </a:r>
          </a:p>
          <a:p>
            <a:pPr lvl="2"/>
            <a:r>
              <a:rPr lang="de-DE" dirty="0"/>
              <a:t>Ob ein Operator für Datentypen unterstützt ist oder nicht entscheidet die Python-Community</a:t>
            </a:r>
          </a:p>
          <a:p>
            <a:pPr lvl="3"/>
            <a:r>
              <a:rPr lang="de-DE" dirty="0"/>
              <a:t>Das ist damit etwas willkürlich</a:t>
            </a:r>
          </a:p>
          <a:p>
            <a:pPr lvl="4"/>
            <a:r>
              <a:rPr lang="de-DE" dirty="0"/>
              <a:t>Multiplikation von zwei Zahlen mit * -&gt; Ja</a:t>
            </a:r>
          </a:p>
          <a:p>
            <a:pPr lvl="4"/>
            <a:r>
              <a:rPr lang="de-DE" dirty="0"/>
              <a:t>Multiplikation von zwei Strings -&gt; Nein</a:t>
            </a:r>
          </a:p>
          <a:p>
            <a:pPr lvl="4"/>
            <a:r>
              <a:rPr lang="de-DE" dirty="0"/>
              <a:t>Multiplikation eines Strings mit einer Ganzzahl -&gt; Ja</a:t>
            </a:r>
          </a:p>
          <a:p>
            <a:pPr lvl="4"/>
            <a:r>
              <a:rPr lang="de-DE" dirty="0"/>
              <a:t>Addition von zwei Strings mit + -&gt; Ja</a:t>
            </a:r>
          </a:p>
          <a:p>
            <a:pPr lvl="4"/>
            <a:r>
              <a:rPr lang="de-DE" dirty="0"/>
              <a:t>Addition eines Strings mit einer Zahl -&gt; Nein</a:t>
            </a:r>
          </a:p>
          <a:p>
            <a:r>
              <a:rPr lang="de-DE" dirty="0"/>
              <a:t>Manche BuiltIn-Funktionen prüfen, ob die übergebenen Parameter einen gültigen Typ haben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len('Hugo') # 4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len(42) # Fehler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E8040-EB94-8F99-71F3-E2C60E88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03D23-038C-87BB-3DBF-4FF523492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78247-B2FE-190B-2CD5-A68E5DF2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45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719175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B62C31F-B14D-68BD-271F-7E90A8450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Operationen mit Zahlen</a:t>
            </a:r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CA753A52-BA26-C95C-5476-634639A3CD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defRPr/>
            </a:pPr>
            <a:r>
              <a:rPr dirty="0"/>
              <a:t>Grundrechenarten</a:t>
            </a:r>
          </a:p>
          <a:p>
            <a:pPr lvl="1">
              <a:defRPr/>
            </a:pPr>
            <a:r>
              <a:rPr dirty="0"/>
              <a:t>+</a:t>
            </a:r>
          </a:p>
          <a:p>
            <a:pPr lvl="1">
              <a:defRPr/>
            </a:pPr>
            <a:r>
              <a:rPr dirty="0"/>
              <a:t>-</a:t>
            </a:r>
          </a:p>
          <a:p>
            <a:pPr lvl="1">
              <a:defRPr/>
            </a:pPr>
            <a:r>
              <a:rPr dirty="0"/>
              <a:t>*</a:t>
            </a:r>
          </a:p>
          <a:p>
            <a:pPr lvl="1">
              <a:defRPr/>
            </a:pPr>
            <a:r>
              <a:rPr dirty="0"/>
              <a:t>/</a:t>
            </a:r>
          </a:p>
          <a:p>
            <a:pPr marL="269875" lvl="1" indent="-269875">
              <a:spcBef>
                <a:spcPts val="600"/>
              </a:spcBef>
              <a:buClr>
                <a:srgbClr val="B51621"/>
              </a:buClr>
              <a:defRPr/>
            </a:pPr>
            <a:r>
              <a:rPr dirty="0"/>
              <a:t>Modulo und Potenzieren</a:t>
            </a:r>
          </a:p>
          <a:p>
            <a:pPr lvl="1">
              <a:defRPr/>
            </a:pPr>
            <a:r>
              <a:rPr dirty="0"/>
              <a:t>%</a:t>
            </a:r>
          </a:p>
          <a:p>
            <a:pPr lvl="1">
              <a:defRPr/>
            </a:pPr>
            <a:r>
              <a:rPr dirty="0"/>
              <a:t>**</a:t>
            </a:r>
          </a:p>
          <a:p>
            <a:pPr>
              <a:defRPr/>
            </a:pPr>
            <a:r>
              <a:rPr dirty="0"/>
              <a:t>Reihenfolge</a:t>
            </a:r>
          </a:p>
          <a:p>
            <a:pPr lvl="1">
              <a:defRPr/>
            </a:pPr>
            <a:r>
              <a:rPr dirty="0"/>
              <a:t>"Punkt vor Strich"</a:t>
            </a:r>
          </a:p>
          <a:p>
            <a:pPr lvl="1">
              <a:defRPr/>
            </a:pPr>
            <a:r>
              <a:rPr dirty="0"/>
              <a:t>Die Reihenfolge kann durch runde Klammern definiert werden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89A8BA-873C-1305-318B-5AACC8824BF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3100E7-DF21-224D-499D-BC061AFA1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A7A80B-3D30-D3BF-6927-B0494BB7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00155B-9B84-4ACA-85DB-B7EBEF80B005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46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77807243-DFC5-77FB-AC04-B97B3877E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Strings</a:t>
            </a:r>
          </a:p>
        </p:txBody>
      </p:sp>
      <p:sp>
        <p:nvSpPr>
          <p:cNvPr id="36867" name="Rectangle 5">
            <a:extLst>
              <a:ext uri="{FF2B5EF4-FFF2-40B4-BE49-F238E27FC236}">
                <a16:creationId xmlns:a16="http://schemas.microsoft.com/office/drawing/2014/main" id="{72B441E8-3FF8-4D61-7A66-4DE5DF95FE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spcBef>
                <a:spcPct val="15000"/>
              </a:spcBef>
              <a:defRPr/>
            </a:pPr>
            <a:r>
              <a:rPr dirty="0"/>
              <a:t>Werden zwei Zeichenketten addiert, werden sie zusammengefügt</a:t>
            </a:r>
          </a:p>
          <a:p>
            <a:pPr marL="288925" lvl="1" indent="0"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dirty="0">
                <a:latin typeface="Courier New" pitchFamily="49" charset="0"/>
              </a:rPr>
              <a:t>'Spam' + 'Spam'</a:t>
            </a:r>
          </a:p>
          <a:p>
            <a:pPr marL="288925" lvl="1" indent="0"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dirty="0"/>
              <a:t>	'SpamSpam'</a:t>
            </a:r>
          </a:p>
          <a:p>
            <a:pPr>
              <a:spcBef>
                <a:spcPct val="15000"/>
              </a:spcBef>
              <a:defRPr/>
            </a:pPr>
            <a:r>
              <a:rPr dirty="0"/>
              <a:t>Zeichenketten können "multipliziert" werden (nur mit Zahlen):</a:t>
            </a:r>
          </a:p>
          <a:p>
            <a:pPr lvl="1">
              <a:lnSpc>
                <a:spcPts val="22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dirty="0">
                <a:latin typeface="Courier New" pitchFamily="49" charset="0"/>
              </a:rPr>
              <a:t>'Spam'*3</a:t>
            </a:r>
          </a:p>
          <a:p>
            <a:pPr lvl="1">
              <a:lnSpc>
                <a:spcPts val="22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dirty="0">
                <a:latin typeface="Courier New" pitchFamily="49" charset="0"/>
              </a:rPr>
              <a:t>	'SpamSpamSpam'</a:t>
            </a:r>
          </a:p>
          <a:p>
            <a:r>
              <a:rPr lang="de-DE" altLang="de-DE" dirty="0"/>
              <a:t>Die Funktion </a:t>
            </a:r>
            <a:r>
              <a:rPr lang="de-DE"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len </a:t>
            </a:r>
            <a:r>
              <a:rPr lang="de-DE" altLang="de-DE" dirty="0"/>
              <a:t>bestimmt die Länge von Strings</a:t>
            </a:r>
          </a:p>
          <a:p>
            <a:pPr>
              <a:buFont typeface="Wingdings" panose="05000000000000000000" pitchFamily="2" charset="2"/>
              <a:buNone/>
            </a:pPr>
            <a:r>
              <a:rPr lang="de-DE" altLang="de-DE" i="1" dirty="0">
                <a:latin typeface="Courier New" panose="02070309020205020404" pitchFamily="49" charset="0"/>
              </a:rPr>
              <a:t>	</a:t>
            </a:r>
            <a:r>
              <a:rPr lang="de-DE" altLang="de-DE" dirty="0">
                <a:latin typeface="Courier New" panose="02070309020205020404" pitchFamily="49" charset="0"/>
              </a:rPr>
              <a:t>len("Hallo")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lang="de-DE" altLang="de-DE" dirty="0">
                <a:latin typeface="Courier New" panose="02070309020205020404" pitchFamily="49" charset="0"/>
              </a:rPr>
              <a:t>	5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lang="de-DE" altLang="de-DE" dirty="0">
                <a:latin typeface="Courier New" panose="02070309020205020404" pitchFamily="49" charset="0"/>
              </a:rPr>
              <a:t>len("SpamSpam")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lang="de-DE" altLang="de-DE" dirty="0">
                <a:latin typeface="Courier New" panose="02070309020205020404" pitchFamily="49" charset="0"/>
              </a:rPr>
              <a:t>	8</a:t>
            </a:r>
          </a:p>
          <a:p>
            <a:pPr lvl="1">
              <a:lnSpc>
                <a:spcPts val="22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endParaRPr dirty="0">
              <a:latin typeface="Courier New" pitchFamily="49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801E713-0FA4-362C-61D9-682657B233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2784F0B-35A6-DA00-8E12-03274BB7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B271F9-5450-27B6-6685-5A751020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B5008B-96C9-44B3-B8C1-829FA0F06AF9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47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24D9-27C3-2711-D4BC-A04E4E44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ToDo: BMI-Berechnung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840FD-38F1-C0BA-C9F7-B63966BE6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3.3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72CA4-4B30-BE65-4530-F3886DA51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1DA3D-CA89-4300-9876-267CDFD3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1501A-04D3-3FB7-A59C-BDA40047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48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9029060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EE26317-3D80-B13B-E69C-FDD379C2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Zur Aufgabenstellung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126E81-BFF7-A7D9-0436-B776AFF47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BMI = Body Mass Index, ein Wert zur Bestimmung des Fettgehalts eines Menschen, um daraus ein Kriterium zur Beurteilung von Krankheitsrisiken zu erhalten</a:t>
            </a:r>
          </a:p>
          <a:p>
            <a:pPr lvl="1"/>
            <a:r>
              <a:rPr lang="de-DE" dirty="0">
                <a:hlinkClick r:id="rId2"/>
              </a:rPr>
              <a:t>https://de.wikipedia.org/wiki/Body-Mass-Index</a:t>
            </a:r>
            <a:endParaRPr lang="de-DE" dirty="0"/>
          </a:p>
          <a:p>
            <a:r>
              <a:rPr lang="de-DE" dirty="0"/>
              <a:t>Name, Körpergröße und Gewicht werden vom Benutzer eingegeben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6177E-3B4C-C817-F2B0-1A56F473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51ABD-0FB6-E5CD-2C91-BC2D77CE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AAF56-3B77-DEE6-D880-B89B7834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49</a:t>
            </a:fld>
            <a:endParaRPr lang="de-DE" alt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96264-398F-88B2-B449-09B29D341983}"/>
              </a:ext>
            </a:extLst>
          </p:cNvPr>
          <p:cNvSpPr/>
          <p:nvPr/>
        </p:nvSpPr>
        <p:spPr>
          <a:xfrm>
            <a:off x="179512" y="3143386"/>
            <a:ext cx="8712968" cy="1368152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Schon mal ChatGpt oder eine Alternative zum Programmieren benutzt?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Vielleicht nicht zum kompletten Lösen der Übungen, aber zur Recherche, zum Spicken oder  Ideen sammeln brilliant! </a:t>
            </a:r>
          </a:p>
        </p:txBody>
      </p:sp>
    </p:spTree>
    <p:extLst>
      <p:ext uri="{BB962C8B-B14F-4D97-AF65-F5344CB8AC3E}">
        <p14:creationId xmlns:p14="http://schemas.microsoft.com/office/powerpoint/2010/main" val="3051705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7D7F-3D21-B3D8-8327-4896472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Kontrollstrukturen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44FBB-322E-6C92-EDA5-BF34542EF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6D551-A7CF-A36E-75AD-8CE2D195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F5976-014B-DE7A-EC00-64E5A8188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89841-4C27-D0F8-16FA-B25B9AC8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50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094149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05E8-0FED-384E-EC4F-F95EE1964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Vergleichsoperatoren und der Datentyp bool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E1E5C-64D8-6140-F374-B027FDFED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4.1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59ACA-F6BA-F7BD-C5A5-C600EDFF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E4F12-9FB9-3AE9-D2DA-39E965EDC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5DCC1-F62F-DEF2-CF81-CEDCBAAF0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51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56318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D237-81DE-F835-F749-2CB38D0F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Boolean Werte und Operatoren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F358B-5CF6-2B2B-B0C4-D6B5C84FD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Es gibt exakt zwei logische Zustände: Wahr und Falsch</a:t>
            </a:r>
          </a:p>
          <a:p>
            <a:pPr lvl="1"/>
            <a:r>
              <a:rPr lang="de-DE" dirty="0"/>
              <a:t>Keine Zwischenzustände wie "vielleicht" oder Wahrscheinlichkeiten wie 75% erlaubt, das ist Statistik</a:t>
            </a:r>
          </a:p>
          <a:p>
            <a:r>
              <a:rPr lang="de-DE" dirty="0"/>
              <a:t>Python kennt dafür die beiden Literale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DE" dirty="0"/>
              <a:t> und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r>
              <a:rPr lang="de-DE" dirty="0"/>
              <a:t>Operatoren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</a:p>
          <a:p>
            <a:pPr lvl="2"/>
            <a:r>
              <a:rPr lang="de-DE" dirty="0"/>
              <a:t>Negation, wahr wird falsch und umgekehrt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</a:p>
          <a:p>
            <a:pPr lvl="2"/>
            <a:r>
              <a:rPr lang="de-DE" dirty="0"/>
              <a:t>logische Und-Verknüpfung, das Ergebnis ist nur dann wahr, wenn beide Werte wahr sind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lvl="2"/>
            <a:r>
              <a:rPr lang="de-DE" dirty="0"/>
              <a:t>logische Oder-Verknüpfung, das Ergebnis ist nur dann falsch, wenn beide Werte falsch sind</a:t>
            </a:r>
          </a:p>
          <a:p>
            <a:pPr lvl="2"/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39956-2DD9-F702-31B1-356BC384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7CA24-402B-CEC7-4EAC-CAA3A2ED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4A396-AB19-E5B3-B330-F11ED87A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52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259942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1B19DAC8-28BE-3C4A-C2A2-FC02F76BE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Vergleichsoperatoren</a:t>
            </a:r>
          </a:p>
        </p:txBody>
      </p:sp>
      <p:sp>
        <p:nvSpPr>
          <p:cNvPr id="73731" name="Rectangle 5">
            <a:extLst>
              <a:ext uri="{FF2B5EF4-FFF2-40B4-BE49-F238E27FC236}">
                <a16:creationId xmlns:a16="http://schemas.microsoft.com/office/drawing/2014/main" id="{E46BBCFD-DDED-6EF6-91E0-34C9EAB739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Vergleich mit </a:t>
            </a:r>
          </a:p>
          <a:p>
            <a:pPr lvl="1"/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</a:p>
          <a:p>
            <a:pPr lvl="2"/>
            <a:r>
              <a:rPr altLang="de-DE" sz="2000"/>
              <a:t>Gleichheit der Werte/Inhalte</a:t>
            </a:r>
          </a:p>
          <a:p>
            <a:pPr lvl="1"/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</a:p>
          <a:p>
            <a:pPr lvl="1"/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</a:p>
          <a:p>
            <a:pPr lvl="1"/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</a:p>
          <a:p>
            <a:pPr lvl="1"/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</a:p>
          <a:p>
            <a:pPr lvl="1"/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</a:p>
          <a:p>
            <a:pPr lvl="2"/>
            <a:r>
              <a:rPr altLang="de-DE" sz="2000"/>
              <a:t>Gleichheit Referenzen</a:t>
            </a:r>
          </a:p>
          <a:p>
            <a:pPr lvl="2"/>
            <a:endParaRPr altLang="de-DE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altLang="de-DE"/>
              <a:t>Ergebnis der Operatoren ist </a:t>
            </a:r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altLang="de-DE"/>
              <a:t> oder </a:t>
            </a:r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E926819-FBC9-4B2C-D89B-901B876781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7D0454-3613-31C7-2C87-E34D2C3E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C9BBED-5C69-10C2-5163-0D1E5176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6CFAB92-5EEE-4ED6-844F-11C0DF443F13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53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3887-1812-8B8B-9EF2-16C7A5D7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4569147"/>
            <a:ext cx="6768752" cy="1362075"/>
          </a:xfrm>
        </p:spPr>
        <p:txBody>
          <a:bodyPr/>
          <a:lstStyle/>
          <a:p>
            <a:r>
              <a:rPr lang="de-DE" dirty="0"/>
              <a:t>Bedingte Programmausführung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54328-4224-CC8E-2436-0DE6BCDB2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4.2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3FB5-DA95-2EFC-CD1D-498505414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DBCDD-562F-7841-BD65-11210AAAD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385FF-4A61-9F93-60AB-ED839C8B4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54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9729194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AB679BA8-1FEA-39C3-F754-FA10577A4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Abfragen</a:t>
            </a:r>
          </a:p>
        </p:txBody>
      </p:sp>
      <p:sp>
        <p:nvSpPr>
          <p:cNvPr id="74755" name="Rectangle 5">
            <a:extLst>
              <a:ext uri="{FF2B5EF4-FFF2-40B4-BE49-F238E27FC236}">
                <a16:creationId xmlns:a16="http://schemas.microsoft.com/office/drawing/2014/main" id="{C64612EF-351C-CD52-B6C0-7D9A181C2C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 dirty="0"/>
              <a:t>Ablaufsteuerung im </a:t>
            </a:r>
            <a:r>
              <a:rPr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if-else-elif</a:t>
            </a:r>
            <a:r>
              <a:rPr altLang="de-DE" dirty="0"/>
              <a:t> 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endParaRPr altLang="de-DE" dirty="0">
              <a:latin typeface="Courier New" panose="02070309020205020404" pitchFamily="49" charset="0"/>
            </a:endParaRP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if a==3: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   print "a ist 3"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elif a==4: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   print "a ist 4"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else: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   print "weder 3 noch 4"</a:t>
            </a:r>
          </a:p>
          <a:p>
            <a:endParaRPr altLang="de-DE" dirty="0"/>
          </a:p>
          <a:p>
            <a:r>
              <a:rPr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altLang="de-DE" dirty="0"/>
              <a:t> und </a:t>
            </a:r>
            <a:r>
              <a:rPr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altLang="de-DE" dirty="0"/>
              <a:t> sind optional</a:t>
            </a:r>
          </a:p>
          <a:p>
            <a:r>
              <a:rPr altLang="de-DE" dirty="0"/>
              <a:t>Die Einrückung bestimmt den Block</a:t>
            </a:r>
          </a:p>
          <a:p>
            <a:pPr lvl="1"/>
            <a:r>
              <a:rPr altLang="de-DE" dirty="0"/>
              <a:t>Klammern sind nicht nötig</a:t>
            </a:r>
          </a:p>
          <a:p>
            <a:endParaRPr alt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B30C9E1-382E-E07A-479D-822B39FD6C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BADF10-8510-53EB-4278-6FBE6053A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CD8157-6204-38E8-8AF6-8469FBAE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753902F-93BC-4800-9CAA-E9E0FBC1061E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55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760069-67B2-5725-38FD-07B37D3E6530}"/>
              </a:ext>
            </a:extLst>
          </p:cNvPr>
          <p:cNvSpPr/>
          <p:nvPr/>
        </p:nvSpPr>
        <p:spPr>
          <a:xfrm>
            <a:off x="95987" y="4725144"/>
            <a:ext cx="8712968" cy="1368152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Einrückungen sind in anderen Sprachen optional, werden jedoch häufig durch Code-Formatierungsregeln im Endeffekt doch genutzt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E48F1-55CB-7958-1280-71A7B647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Pattern Matching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0015B-B83A-7628-5735-13FA05C1E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Neu eingeführt in Python 3.10</a:t>
            </a:r>
          </a:p>
          <a:p>
            <a:r>
              <a:rPr lang="de-DE" dirty="0"/>
              <a:t>Eine mächtige Methode, um Werte und Strukturen zu prüfen und zu verarbeiten</a:t>
            </a:r>
          </a:p>
          <a:p>
            <a:r>
              <a:rPr lang="de-DE" dirty="0"/>
              <a:t>Beispiel</a:t>
            </a:r>
          </a:p>
          <a:p>
            <a:pPr marL="288925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= input('please enter a command: ')</a:t>
            </a:r>
          </a:p>
          <a:p>
            <a:pPr marL="288925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match command:</a:t>
            </a:r>
          </a:p>
          <a:p>
            <a:pPr marL="288925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"start":</a:t>
            </a:r>
          </a:p>
          <a:p>
            <a:pPr marL="288925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print("start")</a:t>
            </a:r>
          </a:p>
          <a:p>
            <a:pPr marL="288925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"stop":</a:t>
            </a:r>
          </a:p>
          <a:p>
            <a:pPr marL="288925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print("stop")</a:t>
            </a:r>
          </a:p>
          <a:p>
            <a:pPr marL="288925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_:</a:t>
            </a:r>
          </a:p>
          <a:p>
            <a:pPr marL="288925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f"unknown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command {command}")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71652-8EF8-F6D4-6349-282DFA99A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4D6D7-4DFA-A9E8-003D-96814A112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1F525-5E0B-4C63-19B9-F1F1B6E6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56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F7DB2C-BC56-A8C3-2C2B-985DB6EF7093}"/>
              </a:ext>
            </a:extLst>
          </p:cNvPr>
          <p:cNvSpPr/>
          <p:nvPr/>
        </p:nvSpPr>
        <p:spPr>
          <a:xfrm>
            <a:off x="95987" y="5229200"/>
            <a:ext cx="8712968" cy="864096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Ähnlich wie switch-Anweisungen in anderen Sprachen, aber wesentlich flexibler</a:t>
            </a:r>
          </a:p>
        </p:txBody>
      </p:sp>
    </p:spTree>
    <p:extLst>
      <p:ext uri="{BB962C8B-B14F-4D97-AF65-F5344CB8AC3E}">
        <p14:creationId xmlns:p14="http://schemas.microsoft.com/office/powerpoint/2010/main" val="3044497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C055D-B3B2-A45C-0F41-D61D343A6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Schleifen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2B579-1181-9A67-799B-578CC460B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4.3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D35A1-6561-36DC-DCAB-874946BD9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AACC1-7A3B-567F-93E6-1064E3173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AF95-439D-52CF-CCE3-E8C3106B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57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730015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28887D6D-FA88-977A-0199-DDEC5C5222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Schleifen</a:t>
            </a:r>
          </a:p>
        </p:txBody>
      </p:sp>
      <p:sp>
        <p:nvSpPr>
          <p:cNvPr id="51203" name="Rectangle 5">
            <a:extLst>
              <a:ext uri="{FF2B5EF4-FFF2-40B4-BE49-F238E27FC236}">
                <a16:creationId xmlns:a16="http://schemas.microsoft.com/office/drawing/2014/main" id="{7A1542F0-C0BB-3422-DC66-741C9218E8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defRPr/>
            </a:pPr>
            <a:r>
              <a:rPr dirty="0"/>
              <a:t>Zwei Arten von Schleifen: </a:t>
            </a:r>
          </a:p>
          <a:p>
            <a:pPr lvl="1">
              <a:defRPr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 lvl="1">
              <a:defRPr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pPr lvl="2">
              <a:defRPr/>
            </a:pPr>
            <a:r>
              <a:rPr lang="de-DE" dirty="0"/>
              <a:t>wird weiter unten bei den Datencontainern eingeführt</a:t>
            </a:r>
            <a:endParaRPr dirty="0"/>
          </a:p>
          <a:p>
            <a:pPr>
              <a:defRPr/>
            </a:pPr>
            <a:r>
              <a:rPr dirty="0">
                <a:latin typeface="Courier New" pitchFamily="49" charset="0"/>
                <a:cs typeface="Courier New" pitchFamily="49" charset="0"/>
              </a:rPr>
              <a:t>while</a:t>
            </a:r>
          </a:p>
          <a:p>
            <a:pPr marL="463550" lvl="2" indent="0">
              <a:buNone/>
              <a:defRPr/>
            </a:pPr>
            <a:r>
              <a:rPr dirty="0">
                <a:latin typeface="Courier New" pitchFamily="49" charset="0"/>
                <a:cs typeface="Courier New" pitchFamily="49" charset="0"/>
              </a:rPr>
              <a:t>counter = 0</a:t>
            </a:r>
          </a:p>
          <a:p>
            <a:pPr marL="463550" lvl="2" indent="0">
              <a:buNone/>
              <a:defRPr/>
            </a:pPr>
            <a:r>
              <a:rPr dirty="0">
                <a:latin typeface="Courier New" pitchFamily="49" charset="0"/>
                <a:cs typeface="Courier New" pitchFamily="49" charset="0"/>
              </a:rPr>
              <a:t>while counter &lt; 3:</a:t>
            </a:r>
          </a:p>
          <a:p>
            <a:pPr marL="722313" lvl="3" indent="0">
              <a:buNone/>
              <a:defRPr/>
            </a:pPr>
            <a:r>
              <a:rPr dirty="0">
                <a:latin typeface="Courier New" pitchFamily="49" charset="0"/>
                <a:cs typeface="Courier New" pitchFamily="49" charset="0"/>
              </a:rPr>
              <a:t>print (counter)</a:t>
            </a:r>
          </a:p>
          <a:p>
            <a:pPr marL="722313" lvl="3" indent="0">
              <a:buNone/>
              <a:defRPr/>
            </a:pPr>
            <a:r>
              <a:rPr dirty="0">
                <a:latin typeface="Courier New" pitchFamily="49" charset="0"/>
                <a:cs typeface="Courier New" pitchFamily="49" charset="0"/>
              </a:rPr>
              <a:t>counter = counter + 1</a:t>
            </a:r>
          </a:p>
          <a:p>
            <a:pPr marL="722313" lvl="3" indent="0">
              <a:buNone/>
              <a:defRPr/>
            </a:pPr>
            <a:endParaRPr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6B2AE49-1CFE-174D-58F1-F14EB5D213D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0EE1923-DBC7-B7E5-D9F0-9E70AEE9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4E0F2B-B183-EC5E-2C28-C38E41E6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1D239E9-A716-4836-B79D-6E1DCE941C94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58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03EA7F86-25AD-CB70-9A56-8200CF5C7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Break und Continue</a:t>
            </a:r>
          </a:p>
        </p:txBody>
      </p:sp>
      <p:sp>
        <p:nvSpPr>
          <p:cNvPr id="76803" name="Rectangle 5">
            <a:extLst>
              <a:ext uri="{FF2B5EF4-FFF2-40B4-BE49-F238E27FC236}">
                <a16:creationId xmlns:a16="http://schemas.microsoft.com/office/drawing/2014/main" id="{32EC12AD-45B9-AC43-A11A-164AD8F0EF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altLang="de-DE"/>
              <a:t> </a:t>
            </a:r>
          </a:p>
          <a:p>
            <a:pPr lvl="1"/>
            <a:r>
              <a:rPr altLang="de-DE"/>
              <a:t>beendet die aktuelle Schleife</a:t>
            </a:r>
          </a:p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altLang="de-DE"/>
              <a:t> </a:t>
            </a:r>
          </a:p>
          <a:p>
            <a:pPr lvl="1"/>
            <a:r>
              <a:rPr altLang="de-DE"/>
              <a:t>bricht den aktuellen Schleifendurchlauf ab, macht mit dem nächsten weiter</a:t>
            </a:r>
          </a:p>
          <a:p>
            <a:endParaRPr alt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3254C48-66C4-30B6-EDEC-3002768D1E9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0B955AD-D4E7-11F5-D073-88D56DE3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A16B76-120E-B4D5-3582-1BF85314B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10EA17-82F2-4CED-A1EC-1C55E4A54154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59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8957CE88-E588-B567-CDA6-09030BCAED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 err="1"/>
              <a:t>Exception</a:t>
            </a:r>
            <a:r>
              <a:rPr lang="de-DE" dirty="0"/>
              <a:t> Handling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9F900FE-0825-7542-38C1-3F3FF4C7D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4.4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DF1441-618A-2673-3750-5587A097BF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FC9FFF-DF08-5A9C-1CFD-9829A643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3A3838-79DB-3361-C423-62A8F899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F7DA6F7-078A-47E3-80B6-A587D2B9A0E7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60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177499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C0B5-CDA2-4A09-D23D-A6E3CCB20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Standard-Verhalten im Fehlerfall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0F552-ED77-C6A0-48BB-9A511851C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Tritt bei der sequenziellen Ausführung eines Python-Skripts ein Fehler auf</a:t>
            </a:r>
          </a:p>
          <a:p>
            <a:pPr lvl="1"/>
            <a:r>
              <a:rPr lang="de-DE" dirty="0"/>
              <a:t>wird die weitere Ausführung sofort unterbrochen</a:t>
            </a:r>
          </a:p>
          <a:p>
            <a:pPr lvl="1"/>
            <a:r>
              <a:rPr lang="de-DE" dirty="0"/>
              <a:t>werden alle weiteren Statements nicht mehr ausgeführt</a:t>
            </a:r>
          </a:p>
          <a:p>
            <a:r>
              <a:rPr lang="de-DE" dirty="0"/>
              <a:t>Die Python-Laufzeitumgebung ist so programmiert, dass </a:t>
            </a:r>
          </a:p>
          <a:p>
            <a:pPr lvl="1"/>
            <a:r>
              <a:rPr lang="de-DE" dirty="0"/>
              <a:t>eine technische Fehlermeldung auf der Konsole ausgebeben wird</a:t>
            </a:r>
          </a:p>
          <a:p>
            <a:pPr lvl="2"/>
            <a:r>
              <a:rPr lang="de-DE" dirty="0"/>
              <a:t>Während der Programmentwicklung hilfreich, es wird beispielsweise die Zeilennummer des Fehlerverursachenden Statement ausgegeben</a:t>
            </a:r>
          </a:p>
          <a:p>
            <a:pPr lvl="1"/>
            <a:r>
              <a:rPr lang="de-DE" dirty="0"/>
              <a:t>anschließend wird der Python-Prozess kontrolliert beendet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A7282-1419-0097-150E-B76E1FD2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49564-6100-3198-A6FC-F79B6F11A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C004-ABDA-A43C-EBD0-539956CE5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61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B8EF8-6856-7C33-5479-E0D325B08B94}"/>
              </a:ext>
            </a:extLst>
          </p:cNvPr>
          <p:cNvSpPr/>
          <p:nvPr/>
        </p:nvSpPr>
        <p:spPr>
          <a:xfrm>
            <a:off x="323850" y="4005064"/>
            <a:ext cx="8352606" cy="1440160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Python ist sehr stabil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es kommt nicht zu katastrophalen Abstürzen ("Blue Screen")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auch läuft der Python-Prozess nicht Amok und verbraucht unnötige CPU- oder Speicherressourcen</a:t>
            </a:r>
          </a:p>
        </p:txBody>
      </p:sp>
    </p:spTree>
    <p:extLst>
      <p:ext uri="{BB962C8B-B14F-4D97-AF65-F5344CB8AC3E}">
        <p14:creationId xmlns:p14="http://schemas.microsoft.com/office/powerpoint/2010/main" val="33824916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7C487-5429-F9F8-3157-4E658A27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96DD-84DD-FB6C-B9D3-AEE4C0A9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Fehlerbehandlung mit try-except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99C64-5116-6048-13D4-648E4CDF9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Python-Skripte können eine beliebige Menge von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try-except</a:t>
            </a:r>
            <a:r>
              <a:rPr lang="de-DE" dirty="0"/>
              <a:t>-Blöcken enthalten</a:t>
            </a:r>
          </a:p>
          <a:p>
            <a:pPr lvl="1"/>
            <a:r>
              <a:rPr lang="de-DE" dirty="0"/>
              <a:t>Ein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de-DE" dirty="0"/>
              <a:t>-Block muss von einem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e-DE" dirty="0"/>
              <a:t>-Block gefolgt sein, sonst ist das Programm syntaktisch falsch</a:t>
            </a:r>
          </a:p>
          <a:p>
            <a:r>
              <a:rPr lang="de-DE" dirty="0"/>
              <a:t>Tritt während der sequenziellen Ausführung innerhalb des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de-DE" dirty="0"/>
              <a:t>-Blocks ein Fehler auf</a:t>
            </a:r>
          </a:p>
          <a:p>
            <a:pPr lvl="1"/>
            <a:r>
              <a:rPr lang="de-DE" dirty="0"/>
              <a:t>wird die weitere Ausführung der folgenden Anweisungen in diesem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de-DE" dirty="0"/>
              <a:t>-Block sofort unterbrochen</a:t>
            </a:r>
          </a:p>
          <a:p>
            <a:pPr lvl="1"/>
            <a:r>
              <a:rPr lang="de-DE" dirty="0"/>
              <a:t>es wird automatisch zum korrespondierenden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e-DE" dirty="0"/>
              <a:t>-Block gesprungen und die darin enthaltenen Anweisungen ausgeführt</a:t>
            </a:r>
          </a:p>
          <a:p>
            <a:pPr lvl="2"/>
            <a:r>
              <a:rPr lang="de-DE" dirty="0"/>
              <a:t>sinnvoll ist hier ebenfalls eine Protokollierung des Fehlers, sonst ist eine Fehlersuche immens erschwert</a:t>
            </a:r>
          </a:p>
          <a:p>
            <a:r>
              <a:rPr lang="de-DE" dirty="0"/>
              <a:t>Die dem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e-DE" dirty="0"/>
              <a:t>-Zweig folgenden Anweisungen werden ausgeführt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624AE-7B27-A846-2B24-80CA0A47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39E73-CC84-488F-0E14-430839EF1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7863F-DB2F-F789-0AE4-4DC132189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62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D7DFCB-4184-A51E-5789-394C335EA5BA}"/>
              </a:ext>
            </a:extLst>
          </p:cNvPr>
          <p:cNvSpPr/>
          <p:nvPr/>
        </p:nvSpPr>
        <p:spPr>
          <a:xfrm>
            <a:off x="250825" y="5157192"/>
            <a:ext cx="8352606" cy="1124238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Auch Fehler sind in Python typisiert, damit können durch mehrere </a:t>
            </a:r>
            <a:r>
              <a:rPr lang="de-D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e-DE" dirty="0">
                <a:solidFill>
                  <a:schemeClr val="tx1"/>
                </a:solidFill>
              </a:rPr>
              <a:t>-Blöcke unterschiedliche Fehlerbehandlungsroutinen aufgerufen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 Programm kann auch aktiv Fehler erzeugen oder "werfen", was weiter unten beim Thema Funktionen behandelt wird</a:t>
            </a:r>
          </a:p>
        </p:txBody>
      </p:sp>
    </p:spTree>
    <p:extLst>
      <p:ext uri="{BB962C8B-B14F-4D97-AF65-F5344CB8AC3E}">
        <p14:creationId xmlns:p14="http://schemas.microsoft.com/office/powerpoint/2010/main" val="29475955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2632-339A-E0E7-4FCC-51C8277A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2BB3-52EB-FF68-D17D-94E75201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ToDo: BMI-Kategorisierung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68D8B-6162-0AD2-9037-B681E490A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4.5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F03F1-5A7B-6C9F-B728-1A58DBFA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8DDF9-4730-3EE9-356D-7770F6F7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00E73-59A4-B0FA-4F6F-BC604330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63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44956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9EFAC-7034-A52C-1940-CE372A489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F66C249-C633-1C7F-EC54-74683685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Zur Aufgabenstellung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5EAE69-EE98-039F-57C0-4D5B13C47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Nach Standard-Kriterien erfolgt die Beurteilung in 4 Kategorien von 'untergewichtig' bis 'fettleibig'</a:t>
            </a:r>
          </a:p>
          <a:p>
            <a:pPr lvl="1"/>
            <a:r>
              <a:rPr lang="de-DE" dirty="0">
                <a:hlinkClick r:id="rId2"/>
              </a:rPr>
              <a:t>https://de.wikipedia.org/wiki/Body-Mass-Index</a:t>
            </a:r>
            <a:endParaRPr lang="de-DE" dirty="0"/>
          </a:p>
          <a:p>
            <a:r>
              <a:rPr lang="de-DE" dirty="0"/>
              <a:t>Eine Fehlerbehandlung gibt bei einer fehlerhaften Eingabe statt der technischen Fehler sprechende Fehlermeldungen aus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44073-FF2D-F411-400B-5B3B74E9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63539-6447-98AF-DE7C-FE5CCDD8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98BF9-4683-3A5E-5BF5-6D242889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64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175379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7C3A-6E16-C196-EA9D-DF6C6D0AC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Datencontainer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E4CCC-05EB-2B61-EE0B-D4FC8D2D0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D58A4-0C54-FD3A-ACD3-FADB575E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4D1BB-ACEF-4872-780A-4F5529AA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896C9-5B61-341E-1921-106AC561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65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179992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1A20-8C88-C00D-C3DA-4E754D4A9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DAC5-87AB-ED9F-12BF-61F89B951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8213C-AB99-C009-AE57-DAC125C4B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5.1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A9560-B2D6-F58F-248E-4F0770DD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D81D6-E955-3CA6-3B28-720B23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2193C-6134-7FC8-8284-6FF272F7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66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013148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Datencontainer: Motivation</a:t>
            </a:r>
            <a:endParaRPr/>
          </a:p>
        </p:txBody>
      </p:sp>
      <p:sp>
        <p:nvSpPr>
          <p:cNvPr id="314" name="Google Shape;314;p4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Mit einem Container können zusammengehörige Informationen gruppiert werden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Beispiel</a:t>
            </a:r>
            <a:endParaRPr dirty="0"/>
          </a:p>
          <a:p>
            <a:pPr lvl="1"/>
            <a:r>
              <a:rPr lang="de-DE" dirty="0"/>
              <a:t>Bisher</a:t>
            </a:r>
            <a:endParaRPr dirty="0"/>
          </a:p>
          <a:p>
            <a:pPr lvl="2"/>
            <a:r>
              <a:rPr lang="de-DE" dirty="0"/>
              <a:t>name = 'Sawitzki'</a:t>
            </a:r>
            <a:endParaRPr dirty="0"/>
          </a:p>
          <a:p>
            <a:pPr lvl="2"/>
            <a:r>
              <a:rPr lang="de-DE" dirty="0"/>
              <a:t>height = 183</a:t>
            </a:r>
            <a:endParaRPr dirty="0"/>
          </a:p>
          <a:p>
            <a:pPr lvl="1"/>
            <a:r>
              <a:rPr lang="de-DE" dirty="0"/>
              <a:t>Idee</a:t>
            </a:r>
            <a:endParaRPr dirty="0"/>
          </a:p>
          <a:p>
            <a:pPr lvl="2"/>
            <a:r>
              <a:rPr lang="de-DE" dirty="0"/>
              <a:t>p1_name = 'Sawitzki'</a:t>
            </a:r>
            <a:endParaRPr dirty="0"/>
          </a:p>
          <a:p>
            <a:pPr lvl="2"/>
            <a:r>
              <a:rPr lang="de-DE" dirty="0"/>
              <a:t>p1_height = 183</a:t>
            </a:r>
            <a:endParaRPr dirty="0"/>
          </a:p>
          <a:p>
            <a:pPr lvl="1"/>
            <a:r>
              <a:rPr lang="de-DE" dirty="0"/>
              <a:t>Liste mit Personen-Informationen</a:t>
            </a:r>
            <a:endParaRPr dirty="0"/>
          </a:p>
          <a:p>
            <a:pPr lvl="2"/>
            <a:r>
              <a:rPr lang="de-DE" dirty="0"/>
              <a:t>p1 = ['Sawitzki', 183]</a:t>
            </a:r>
            <a:endParaRPr dirty="0"/>
          </a:p>
          <a:p>
            <a:pPr lvl="2"/>
            <a:r>
              <a:rPr lang="de-DE" dirty="0"/>
              <a:t>p2 = ['Musterperson', 176]</a:t>
            </a:r>
            <a:endParaRPr dirty="0"/>
          </a:p>
        </p:txBody>
      </p:sp>
      <p:sp>
        <p:nvSpPr>
          <p:cNvPr id="313" name="Google Shape;313;p4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67</a:t>
            </a:fld>
            <a:endParaRPr/>
          </a:p>
        </p:txBody>
      </p:sp>
      <p:sp>
        <p:nvSpPr>
          <p:cNvPr id="315" name="Google Shape;315;p43"/>
          <p:cNvSpPr/>
          <p:nvPr/>
        </p:nvSpPr>
        <p:spPr>
          <a:xfrm>
            <a:off x="4044480" y="2276872"/>
            <a:ext cx="4848000" cy="524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  <a:latin typeface="+mn-lt"/>
              </a:rPr>
              <a:t>es ist nicht eindeutig klar, dass </a:t>
            </a:r>
            <a:r>
              <a:rPr lang="de-D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de-DE" dirty="0">
                <a:solidFill>
                  <a:schemeClr val="tx1"/>
                </a:solidFill>
                <a:latin typeface="+mn-lt"/>
              </a:rPr>
              <a:t> und </a:t>
            </a:r>
            <a:r>
              <a:rPr lang="de-D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de-DE" dirty="0">
                <a:solidFill>
                  <a:schemeClr val="tx1"/>
                </a:solidFill>
                <a:latin typeface="+mn-lt"/>
              </a:rPr>
              <a:t>irgendwie zusammengehören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16" name="Google Shape;316;p43"/>
          <p:cNvSpPr/>
          <p:nvPr/>
        </p:nvSpPr>
        <p:spPr>
          <a:xfrm>
            <a:off x="4046475" y="2996952"/>
            <a:ext cx="4848000" cy="52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  <a:latin typeface="+mn-lt"/>
              </a:rPr>
              <a:t>Besser, aber nur eine Namenskonvention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Google Shape;316;p43">
            <a:extLst>
              <a:ext uri="{FF2B5EF4-FFF2-40B4-BE49-F238E27FC236}">
                <a16:creationId xmlns:a16="http://schemas.microsoft.com/office/drawing/2014/main" id="{01540E61-5074-7892-C970-0C235B6FB564}"/>
              </a:ext>
            </a:extLst>
          </p:cNvPr>
          <p:cNvSpPr/>
          <p:nvPr/>
        </p:nvSpPr>
        <p:spPr>
          <a:xfrm>
            <a:off x="4067944" y="3717032"/>
            <a:ext cx="4848000" cy="956748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  <a:latin typeface="+mn-lt"/>
              </a:rPr>
              <a:t>Eine Liste gruppiert alle zusammengehörenden Informationen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  <a:latin typeface="+mn-lt"/>
              </a:rPr>
              <a:t>Nochmal besser, aber weiter unten wird es richtig gut!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23298-C4E6-5276-9429-11412F58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9E3C-115E-8E17-E3F9-7F968E95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Kategorien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01142-B2E7-F1CC-3707-A7F6DC1A0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5.2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BFD1B-5BEB-8910-DB55-0E07303E0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95E9B-73B0-BA8F-CFB0-37D1CCE7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09036-AC2F-234C-8294-ED900D3D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68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716790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Liste in Python</a:t>
            </a:r>
            <a:endParaRPr/>
          </a:p>
        </p:txBody>
      </p:sp>
      <p:sp>
        <p:nvSpPr>
          <p:cNvPr id="323" name="Google Shape;323;p4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Eine Aufzählung von beliebig vielen Elementen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Literal: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[...]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my_list = [e1, e2, e3]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dirty="0"/>
              <a:t>Type: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dirty="0"/>
              <a:t>Elementzugriff</a:t>
            </a:r>
            <a:endParaRPr dirty="0"/>
          </a:p>
          <a:p>
            <a:pPr lvl="1"/>
            <a:r>
              <a:rPr lang="de-DE" dirty="0"/>
              <a:t>Angabe eines numerischen Index als Ganzzahl in eckigen Klammern</a:t>
            </a:r>
            <a:endParaRPr dirty="0"/>
          </a:p>
          <a:p>
            <a:pPr lvl="2"/>
            <a:r>
              <a:rPr lang="de-DE" dirty="0"/>
              <a:t>beginnend bei 0</a:t>
            </a:r>
          </a:p>
        </p:txBody>
      </p:sp>
      <p:sp>
        <p:nvSpPr>
          <p:cNvPr id="322" name="Google Shape;322;p4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69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BD8893-7D6A-6669-B6E2-398B6516C452}"/>
              </a:ext>
            </a:extLst>
          </p:cNvPr>
          <p:cNvSpPr/>
          <p:nvPr/>
        </p:nvSpPr>
        <p:spPr>
          <a:xfrm>
            <a:off x="242425" y="4293096"/>
            <a:ext cx="8352606" cy="1124238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Einen Indexzugriff ausserhalb des gültigen Bereiches (0 bis zur Länge – 1) verursacht einen Fehler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Auch negative Indizes sind möglich, -1 entspricht dem letzten Element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375FB-ED7D-B678-11EF-5CB3669D1075}"/>
              </a:ext>
            </a:extLst>
          </p:cNvPr>
          <p:cNvSpPr/>
          <p:nvPr/>
        </p:nvSpPr>
        <p:spPr>
          <a:xfrm>
            <a:off x="4283968" y="1628800"/>
            <a:ext cx="4680520" cy="1124238"/>
          </a:xfrm>
          <a:prstGeom prst="rect">
            <a:avLst/>
          </a:prstGeom>
          <a:solidFill>
            <a:srgbClr val="FF0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Benennen Sie Variablen nie wie einen Typen! </a:t>
            </a:r>
          </a:p>
          <a:p>
            <a:r>
              <a:rPr lang="de-DE" dirty="0">
                <a:solidFill>
                  <a:schemeClr val="tx1"/>
                </a:solidFill>
              </a:rPr>
              <a:t>Sie überschreiben damit das Standard-Verhalten und das ist in den allermeisten Fällen ein unbeabsichtigter Effekt!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Dictionary in Python</a:t>
            </a:r>
            <a:endParaRPr/>
          </a:p>
        </p:txBody>
      </p:sp>
      <p:sp>
        <p:nvSpPr>
          <p:cNvPr id="330" name="Google Shape;330;p4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Eine Aufzählung von beliebig vielen Key=Value-Paaren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Literal: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{...}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my_dict = {k1: v1, k2: v2, k3: v3}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dirty="0"/>
              <a:t>Type: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dirty="0"/>
              <a:t>Elementzugriff</a:t>
            </a:r>
            <a:endParaRPr dirty="0"/>
          </a:p>
          <a:p>
            <a:pPr lvl="1"/>
            <a:r>
              <a:rPr lang="de-DE" dirty="0"/>
              <a:t>Angabe des Keys in eckigen Klammern</a:t>
            </a:r>
          </a:p>
        </p:txBody>
      </p:sp>
      <p:sp>
        <p:nvSpPr>
          <p:cNvPr id="329" name="Google Shape;329;p4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70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8D36DD-A62C-0D31-1A9C-ACB79E333380}"/>
              </a:ext>
            </a:extLst>
          </p:cNvPr>
          <p:cNvSpPr/>
          <p:nvPr/>
        </p:nvSpPr>
        <p:spPr>
          <a:xfrm>
            <a:off x="242425" y="4077072"/>
            <a:ext cx="8352606" cy="1124238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 Zugriff mit vorhandenem Key verursacht einen Fehler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Dictionaries werden in anderen Programmiersprachen auch als Map bezeichnet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Set / Menge in Python</a:t>
            </a:r>
            <a:endParaRPr/>
          </a:p>
        </p:txBody>
      </p:sp>
      <p:sp>
        <p:nvSpPr>
          <p:cNvPr id="337" name="Google Shape;337;p46"/>
          <p:cNvSpPr txBox="1">
            <a:spLocks noGrp="1"/>
          </p:cNvSpPr>
          <p:nvPr>
            <p:ph idx="1"/>
          </p:nvPr>
        </p:nvSpPr>
        <p:spPr>
          <a:xfrm>
            <a:off x="251520" y="1218766"/>
            <a:ext cx="8535203" cy="5090554"/>
          </a:xfrm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Eine Aufzählung von beliebig vielen Elementen mit Duplikatserkennung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Literal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{...}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my_set = {e1, e2, e3}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dirty="0"/>
              <a:t>Type: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dirty="0"/>
              <a:t>Ein Set hat keinen Element-Zugriff</a:t>
            </a:r>
          </a:p>
          <a:p>
            <a:pPr lvl="1">
              <a:spcBef>
                <a:spcPts val="0"/>
              </a:spcBef>
            </a:pPr>
            <a:r>
              <a:rPr lang="de-DE" dirty="0"/>
              <a:t>und damit keine innere Ordnung</a:t>
            </a:r>
          </a:p>
        </p:txBody>
      </p:sp>
      <p:sp>
        <p:nvSpPr>
          <p:cNvPr id="336" name="Google Shape;336;p4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71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9FDCA8-07D5-7B3E-6EAB-E747F232B246}"/>
              </a:ext>
            </a:extLst>
          </p:cNvPr>
          <p:cNvSpPr/>
          <p:nvPr/>
        </p:nvSpPr>
        <p:spPr>
          <a:xfrm>
            <a:off x="242425" y="4077072"/>
            <a:ext cx="8352606" cy="1124238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 leeres geschweiftes Klammernpaar erzeugt ein Dictionary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Wozu auch leere Collections genutzt werden können sehen wir weiter unten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Allgemeine Eigenschaften der Collections</a:t>
            </a:r>
            <a:endParaRPr/>
          </a:p>
        </p:txBody>
      </p:sp>
      <p:sp>
        <p:nvSpPr>
          <p:cNvPr id="344" name="Google Shape;344;p4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Jede Collection hat eine Länge</a:t>
            </a:r>
            <a:endParaRPr dirty="0"/>
          </a:p>
          <a:p>
            <a:pPr lvl="1"/>
            <a:r>
              <a:rPr lang="de-DE" dirty="0"/>
              <a:t>Bestimmung mit der BuiltIn-Funktion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dirty="0"/>
              <a:t>Über alle Collections kann iteriert werden</a:t>
            </a:r>
            <a:endParaRPr dirty="0"/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for element in collection: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dirty="0"/>
              <a:t>Collections können auch über eine BuiltIn-Funktion erzeugt werden</a:t>
            </a:r>
          </a:p>
          <a:p>
            <a:pPr lvl="1">
              <a:spcBef>
                <a:spcPts val="0"/>
              </a:spcBef>
            </a:pPr>
            <a:r>
              <a:rPr lang="de-DE" dirty="0"/>
              <a:t>Der Name der BuiltIn-Funktion entspricht dem Typen</a:t>
            </a:r>
            <a:endParaRPr dirty="0"/>
          </a:p>
          <a:p>
            <a:pPr lvl="2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my_list = list()</a:t>
            </a:r>
            <a:r>
              <a:rPr lang="de-DE" dirty="0"/>
              <a:t> erzeugt, wie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de-DE" dirty="0"/>
              <a:t> eine leere Liste</a:t>
            </a:r>
          </a:p>
          <a:p>
            <a:pPr lvl="1"/>
            <a:r>
              <a:rPr lang="de-DE" dirty="0"/>
              <a:t>Diese Funktionen können auch zur Typumwandlung genutzt werden</a:t>
            </a:r>
          </a:p>
          <a:p>
            <a:r>
              <a:rPr lang="de-DE" dirty="0"/>
              <a:t>mit in kann geprüft werden, ob ein Element in einer Liste / Set oder ein Key in einem Dictionary enthalten ist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if element in collection:</a:t>
            </a:r>
          </a:p>
        </p:txBody>
      </p:sp>
      <p:sp>
        <p:nvSpPr>
          <p:cNvPr id="343" name="Google Shape;343;p4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72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Range in Python</a:t>
            </a:r>
            <a:endParaRPr/>
          </a:p>
        </p:txBody>
      </p:sp>
      <p:sp>
        <p:nvSpPr>
          <p:cNvPr id="350" name="Google Shape;350;p4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Eine fortlaufende Liste von Ganzzahlen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Erzeugung nur mit BuiltIn-Funktion</a:t>
            </a:r>
            <a:endParaRPr dirty="0"/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my_range = range(1, 5)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de-DE" dirty="0"/>
              <a:t>start inklusive, ende exklusiv</a:t>
            </a:r>
            <a:endParaRPr dirty="0"/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my_range = range(1,5,2)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de-DE" dirty="0"/>
              <a:t>2: step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Type: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dirty="0"/>
              <a:t>Elementzugriff</a:t>
            </a:r>
            <a:endParaRPr dirty="0"/>
          </a:p>
          <a:p>
            <a:pPr lvl="1"/>
            <a:r>
              <a:rPr lang="de-DE" dirty="0"/>
              <a:t>Bei der Liste Angabe eines numerischen Index, eine Ganzzahl</a:t>
            </a:r>
            <a:endParaRPr dirty="0"/>
          </a:p>
          <a:p>
            <a:pPr lvl="2"/>
            <a:r>
              <a:rPr lang="de-DE" dirty="0"/>
              <a:t>beginnend bei 0</a:t>
            </a:r>
          </a:p>
          <a:p>
            <a:pPr lvl="1"/>
            <a:r>
              <a:rPr lang="de-DE" dirty="0"/>
              <a:t>Allerdings werden Ranges häufig für eine Iteration über ein Zahlenuntervall genutzt</a:t>
            </a:r>
            <a:endParaRPr dirty="0"/>
          </a:p>
        </p:txBody>
      </p:sp>
      <p:sp>
        <p:nvSpPr>
          <p:cNvPr id="351" name="Google Shape;351;p4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73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Tupels in Python</a:t>
            </a:r>
            <a:endParaRPr/>
          </a:p>
        </p:txBody>
      </p:sp>
      <p:sp>
        <p:nvSpPr>
          <p:cNvPr id="358" name="Google Shape;358;p4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Eine Aufzählung einer </a:t>
            </a:r>
            <a:r>
              <a:rPr lang="de-DE" b="1" dirty="0"/>
              <a:t>fixen Anzahl</a:t>
            </a:r>
            <a:r>
              <a:rPr lang="de-DE" dirty="0"/>
              <a:t> von Elementen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Typ: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dirty="0"/>
              <a:t>Erzeugung mit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tuple(['Summer', 'Autumn', 'Winter', 'Spring'])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de-DE" dirty="0"/>
              <a:t>Elementzugriff</a:t>
            </a:r>
            <a:endParaRPr dirty="0"/>
          </a:p>
          <a:p>
            <a:pPr lvl="1"/>
            <a:r>
              <a:rPr lang="de-DE" dirty="0"/>
              <a:t>Beim Tupel Angabe eines numerischen Index, eine Ganzzahl</a:t>
            </a:r>
            <a:endParaRPr dirty="0"/>
          </a:p>
          <a:p>
            <a:pPr lvl="2"/>
            <a:r>
              <a:rPr lang="de-DE" dirty="0"/>
              <a:t>beginnend bei 0</a:t>
            </a:r>
            <a:endParaRPr dirty="0"/>
          </a:p>
        </p:txBody>
      </p:sp>
      <p:sp>
        <p:nvSpPr>
          <p:cNvPr id="357" name="Google Shape;357;p4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74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4F7AA6-C8D9-A0E4-AFC1-26A853130FAB}"/>
              </a:ext>
            </a:extLst>
          </p:cNvPr>
          <p:cNvSpPr/>
          <p:nvPr/>
        </p:nvSpPr>
        <p:spPr>
          <a:xfrm>
            <a:off x="242425" y="4077072"/>
            <a:ext cx="8352606" cy="1224136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Tupels sind im Gegensatz zu Listen unveränderbar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das sehen wir weiter unten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7BECA-01E6-19C1-DDD8-077C2654D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FB28E-F288-5484-8AFE-02B818B0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komplexeres Beispiel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2AE2C-091F-9D16-1331-BFBCBE6F9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B9548-0C38-F386-F3D6-8DC73C11E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D945D-3DFD-A081-C841-486F1B167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C5D50-6512-FDBC-C9E2-981060F1B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75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1701447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DB969-0BF0-2D33-EC71-22CDC3D7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Aufgabenstellung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B5A54-C344-4AC5-B891-A17548642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6.1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285DB-6544-A5D9-C369-C349B779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9026D-51D7-DF35-96D5-07947606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E8B67-B0DB-AD9B-98B4-0E9DC78B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76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5940432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60148-E2F2-CBE6-C2E3-41400F3B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Vorgabe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96C1F-510F-F61C-5861-FF18ECA90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Als Datenbasis dient der folgende Auszug</a:t>
            </a:r>
          </a:p>
          <a:p>
            <a:pPr lvl="1"/>
            <a:r>
              <a:rPr lang="de-DE" dirty="0"/>
              <a:t>'81371': 'München',</a:t>
            </a:r>
          </a:p>
          <a:p>
            <a:pPr lvl="1"/>
            <a:r>
              <a:rPr lang="de-DE" dirty="0"/>
              <a:t>'70567': 'Stuttgart',</a:t>
            </a:r>
          </a:p>
          <a:p>
            <a:pPr lvl="1"/>
            <a:r>
              <a:rPr lang="de-DE" dirty="0"/>
              <a:t>'30000': 'Berlin',</a:t>
            </a:r>
          </a:p>
          <a:p>
            <a:pPr lvl="1"/>
            <a:r>
              <a:rPr lang="de-DE" dirty="0"/>
              <a:t>'81333': 'München',</a:t>
            </a:r>
          </a:p>
          <a:p>
            <a:pPr lvl="1"/>
            <a:r>
              <a:rPr lang="de-DE" dirty="0"/>
              <a:t>'30001': 'Berlin',</a:t>
            </a:r>
          </a:p>
          <a:p>
            <a:pPr lvl="1"/>
            <a:r>
              <a:rPr lang="de-DE" dirty="0"/>
              <a:t>'30002': 'Berlin',</a:t>
            </a:r>
          </a:p>
          <a:p>
            <a:pPr lvl="1"/>
            <a:r>
              <a:rPr lang="de-DE" dirty="0"/>
              <a:t>'40005': 'Hamburg'</a:t>
            </a:r>
          </a:p>
          <a:p>
            <a:r>
              <a:rPr lang="de-DE" dirty="0"/>
              <a:t>Es sollen zwei Anwendungen erstellt werden</a:t>
            </a:r>
          </a:p>
          <a:p>
            <a:pPr lvl="1"/>
            <a:r>
              <a:rPr lang="de-DE" dirty="0"/>
              <a:t>Welche Stadt gehört zu einer Postleitzahl?</a:t>
            </a:r>
          </a:p>
          <a:p>
            <a:pPr lvl="1"/>
            <a:r>
              <a:rPr lang="de-DE" dirty="0"/>
              <a:t>Welche Postleitzahlen gehören zu einer Stadt?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82C23-A7BF-DB8E-C080-C7CFCBE10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0269F-D318-7918-40A4-774BCF005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BF7F4-05B6-D61E-37FF-04EE6465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77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EBF7CF-0B3D-3D5D-1D46-C07085F975E7}"/>
              </a:ext>
            </a:extLst>
          </p:cNvPr>
          <p:cNvSpPr/>
          <p:nvPr/>
        </p:nvSpPr>
        <p:spPr>
          <a:xfrm>
            <a:off x="179512" y="4725144"/>
            <a:ext cx="8352606" cy="1224136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 Eingaben erfolgen über die Konsole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 Konsolenausgaben zeigen die gefundenen Treffer bzw. eine sprechende Information</a:t>
            </a:r>
          </a:p>
        </p:txBody>
      </p:sp>
    </p:spTree>
    <p:extLst>
      <p:ext uri="{BB962C8B-B14F-4D97-AF65-F5344CB8AC3E}">
        <p14:creationId xmlns:p14="http://schemas.microsoft.com/office/powerpoint/2010/main" val="38065687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B2194-A16B-5EB1-1F4F-CC6E393F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114B-2A60-1FF1-9AE8-09E71ACF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D3D23-D192-4474-969E-5192ED617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6.2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8242F-35CF-CC01-7662-12B05B60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6FD36-C592-9A77-D579-87D4BE9F7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04EFB-9C54-B403-95B3-BAD83069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78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205773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58BB-D38D-9FB9-B80F-8793DF80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Ablage auf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546F9-16F8-8EFD-43EB-A65867DF3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600" b="1" dirty="0">
                <a:solidFill>
                  <a:schemeClr val="tx1"/>
                </a:solidFill>
                <a:hlinkClick r:id="rId2"/>
              </a:rPr>
              <a:t>https://github.com/Javacream/org.javacream.training.python/tree/8892154ad50ddf48b23af243fc54f268825200b0/src/06</a:t>
            </a:r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D2BD8-37C9-49B5-DD4C-8BD48968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AB8F2-50A8-B126-B9BF-DFFEE9DAA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C7440-E234-7F85-518B-F142BEF7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79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6C6C8F-F870-A602-7429-820F4DB25687}"/>
              </a:ext>
            </a:extLst>
          </p:cNvPr>
          <p:cNvSpPr/>
          <p:nvPr/>
        </p:nvSpPr>
        <p:spPr>
          <a:xfrm>
            <a:off x="65906" y="2636912"/>
            <a:ext cx="8352606" cy="1224136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 Lösung ist natürlich nicht die einzig richtige, die beste oder eleganteste</a:t>
            </a:r>
          </a:p>
        </p:txBody>
      </p:sp>
    </p:spTree>
    <p:extLst>
      <p:ext uri="{BB962C8B-B14F-4D97-AF65-F5344CB8AC3E}">
        <p14:creationId xmlns:p14="http://schemas.microsoft.com/office/powerpoint/2010/main" val="14801800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583F28BC-3731-19E2-33C4-CD24E8FE1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/>
              <a:t>Funktionen</a:t>
            </a:r>
            <a:endParaRPr lang="de-DE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30B6E9A-B72E-F812-B572-2C4A39A07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7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2B7094-2D84-AEE5-7011-35E8FFBE662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3024D1-D8FC-F132-2E2D-B6639586B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7D8563-109C-65CE-6148-041EC383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CF851D-F73F-4F52-84BD-AD3D4C8F3A4D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80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413C3FF7-D457-D2B1-19FA-152F33350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/>
              <a:t>Übersicht</a:t>
            </a:r>
            <a:endParaRPr lang="de-DE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196E540-7FA3-84CB-F221-6F0C2D817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7.1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AAA137-174D-61C8-0212-3700C9CA4BD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0FF999-319B-3F01-1D91-4DE67F23C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544FD1-79DD-AFD4-5C6D-CC72950B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FA5F74-81DB-40B6-9752-F34ED67191E9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81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AB6E26F8-452F-428E-B3A1-7B03110A54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Funktionen</a:t>
            </a:r>
          </a:p>
        </p:txBody>
      </p:sp>
      <p:sp>
        <p:nvSpPr>
          <p:cNvPr id="79875" name="Rectangle 5">
            <a:extLst>
              <a:ext uri="{FF2B5EF4-FFF2-40B4-BE49-F238E27FC236}">
                <a16:creationId xmlns:a16="http://schemas.microsoft.com/office/drawing/2014/main" id="{B4E522B6-ED1F-2931-D880-FBA225A1A6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lnSpc>
                <a:spcPct val="102000"/>
              </a:lnSpc>
              <a:spcBef>
                <a:spcPct val="30000"/>
              </a:spcBef>
            </a:pPr>
            <a:r>
              <a:rPr altLang="de-DE" dirty="0"/>
              <a:t>Kleinste "Einheit" von wiederverwendbaren Code</a:t>
            </a:r>
          </a:p>
          <a:p>
            <a:pPr>
              <a:lnSpc>
                <a:spcPct val="102000"/>
              </a:lnSpc>
              <a:spcBef>
                <a:spcPct val="30000"/>
              </a:spcBef>
            </a:pPr>
            <a:r>
              <a:rPr altLang="de-DE" dirty="0"/>
              <a:t>Definition mit </a:t>
            </a:r>
            <a:r>
              <a:rPr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endParaRPr altLang="de-DE" dirty="0"/>
          </a:p>
          <a:p>
            <a:pPr lvl="1">
              <a:lnSpc>
                <a:spcPct val="102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de-DE" dirty="0">
                <a:latin typeface="Courier New" panose="02070309020205020404" pitchFamily="49" charset="0"/>
              </a:rPr>
              <a:t>def </a:t>
            </a:r>
            <a:r>
              <a:rPr lang="en-US" altLang="de-DE" dirty="0" err="1">
                <a:latin typeface="Courier New" panose="02070309020205020404" pitchFamily="49" charset="0"/>
              </a:rPr>
              <a:t>my_function</a:t>
            </a:r>
            <a:r>
              <a:rPr lang="en-US" altLang="de-DE" dirty="0">
                <a:latin typeface="Courier New" panose="02070309020205020404" pitchFamily="49" charset="0"/>
              </a:rPr>
              <a:t>():</a:t>
            </a:r>
          </a:p>
          <a:p>
            <a:pPr lvl="1">
              <a:lnSpc>
                <a:spcPct val="102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de-DE" dirty="0">
                <a:latin typeface="Courier New" panose="02070309020205020404" pitchFamily="49" charset="0"/>
              </a:rPr>
              <a:t>	print "called </a:t>
            </a:r>
            <a:r>
              <a:rPr lang="en-US" altLang="de-DE" dirty="0" err="1">
                <a:latin typeface="Courier New" panose="02070309020205020404" pitchFamily="49" charset="0"/>
              </a:rPr>
              <a:t>my_functionut</a:t>
            </a:r>
            <a:r>
              <a:rPr lang="en-US" altLang="de-DE" dirty="0">
                <a:latin typeface="Courier New" panose="02070309020205020404" pitchFamily="49" charset="0"/>
              </a:rPr>
              <a:t>"</a:t>
            </a:r>
          </a:p>
          <a:p>
            <a:pPr>
              <a:lnSpc>
                <a:spcPct val="102000"/>
              </a:lnSpc>
              <a:spcBef>
                <a:spcPct val="30000"/>
              </a:spcBef>
            </a:pPr>
            <a:r>
              <a:rPr altLang="de-DE" dirty="0"/>
              <a:t>Funktionen werden aufgerufen durch runde Klammern</a:t>
            </a:r>
            <a:r>
              <a:rPr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>
              <a:lnSpc>
                <a:spcPct val="102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my_function()</a:t>
            </a:r>
          </a:p>
          <a:p>
            <a:endParaRPr alt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11CA310-C4A0-A65F-47D0-7EAB4E09907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51B508-F33C-5990-77C6-301FA254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08BC02-43F7-2DA3-CF29-6D3F2724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236C37A-3BF9-453C-A8D8-F8A8460A2F1D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82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B190525C-AFE4-15F2-2EC7-F93C2204D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Deklaration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33312B-47A7-C492-05A9-4CCC2D2C199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81441A-8460-06E2-285B-5ACCAAB4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Python 3</a:t>
            </a:r>
            <a:endParaRPr lang="fr-FR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E41329-E616-EF7F-07F9-488A99E23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595CE85-6431-411E-B974-824640CD857B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83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grpSp>
        <p:nvGrpSpPr>
          <p:cNvPr id="80902" name="Gruppieren 5">
            <a:extLst>
              <a:ext uri="{FF2B5EF4-FFF2-40B4-BE49-F238E27FC236}">
                <a16:creationId xmlns:a16="http://schemas.microsoft.com/office/drawing/2014/main" id="{0F6879F3-8624-3C2D-2FAA-1EE46D1ADE22}"/>
              </a:ext>
            </a:extLst>
          </p:cNvPr>
          <p:cNvGrpSpPr>
            <a:grpSpLocks/>
          </p:cNvGrpSpPr>
          <p:nvPr/>
        </p:nvGrpSpPr>
        <p:grpSpPr bwMode="auto">
          <a:xfrm>
            <a:off x="895350" y="1196975"/>
            <a:ext cx="7853363" cy="5091113"/>
            <a:chOff x="895350" y="1196975"/>
            <a:chExt cx="7853363" cy="5091113"/>
          </a:xfrm>
        </p:grpSpPr>
        <p:pic>
          <p:nvPicPr>
            <p:cNvPr id="80903" name="Inhaltsplatzhalter 9">
              <a:extLst>
                <a:ext uri="{FF2B5EF4-FFF2-40B4-BE49-F238E27FC236}">
                  <a16:creationId xmlns:a16="http://schemas.microsoft.com/office/drawing/2014/main" id="{29948DDA-2B06-AAC9-6C49-AFA6EAD64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350" y="1196975"/>
              <a:ext cx="7246938" cy="5091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Legende mit Linie 1 11">
              <a:extLst>
                <a:ext uri="{FF2B5EF4-FFF2-40B4-BE49-F238E27FC236}">
                  <a16:creationId xmlns:a16="http://schemas.microsoft.com/office/drawing/2014/main" id="{388A6B11-4DBD-04E3-26A7-983F370BEE65}"/>
                </a:ext>
              </a:extLst>
            </p:cNvPr>
            <p:cNvSpPr/>
            <p:nvPr/>
          </p:nvSpPr>
          <p:spPr>
            <a:xfrm>
              <a:off x="7380288" y="1917700"/>
              <a:ext cx="1368425" cy="719138"/>
            </a:xfrm>
            <a:prstGeom prst="borderCallout1">
              <a:avLst>
                <a:gd name="adj1" fmla="val 18750"/>
                <a:gd name="adj2" fmla="val -8333"/>
                <a:gd name="adj3" fmla="val 80743"/>
                <a:gd name="adj4" fmla="val -274388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800" tIns="38400" rIns="76800" bIns="38400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3713" indent="-3651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87425" indent="-7302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81138" indent="-10953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74850" indent="-14605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de-DE" dirty="0">
                  <a:solidFill>
                    <a:schemeClr val="tx1"/>
                  </a:solidFill>
                </a:rPr>
                <a:t>Name der Funktion</a:t>
              </a:r>
            </a:p>
          </p:txBody>
        </p:sp>
        <p:sp>
          <p:nvSpPr>
            <p:cNvPr id="13" name="Legende mit Linie 1 12">
              <a:extLst>
                <a:ext uri="{FF2B5EF4-FFF2-40B4-BE49-F238E27FC236}">
                  <a16:creationId xmlns:a16="http://schemas.microsoft.com/office/drawing/2014/main" id="{ED420E35-47D7-0304-5EAA-1195AABB5AED}"/>
                </a:ext>
              </a:extLst>
            </p:cNvPr>
            <p:cNvSpPr/>
            <p:nvPr/>
          </p:nvSpPr>
          <p:spPr>
            <a:xfrm>
              <a:off x="7380288" y="2889250"/>
              <a:ext cx="1368425" cy="719138"/>
            </a:xfrm>
            <a:prstGeom prst="borderCallout1">
              <a:avLst>
                <a:gd name="adj1" fmla="val 18750"/>
                <a:gd name="adj2" fmla="val -8333"/>
                <a:gd name="adj3" fmla="val -32582"/>
                <a:gd name="adj4" fmla="val -198636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800" tIns="38400" rIns="76800" bIns="38400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3713" indent="-3651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87425" indent="-7302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81138" indent="-10953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74850" indent="-14605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de-DE" dirty="0">
                  <a:solidFill>
                    <a:schemeClr val="tx1"/>
                  </a:solidFill>
                </a:rPr>
                <a:t>Parameter</a:t>
              </a:r>
            </a:p>
          </p:txBody>
        </p:sp>
        <p:sp>
          <p:nvSpPr>
            <p:cNvPr id="14" name="Legende mit Linie 1 13">
              <a:extLst>
                <a:ext uri="{FF2B5EF4-FFF2-40B4-BE49-F238E27FC236}">
                  <a16:creationId xmlns:a16="http://schemas.microsoft.com/office/drawing/2014/main" id="{01B661CD-14A9-7B26-F1A7-F4D0BEA74E42}"/>
                </a:ext>
              </a:extLst>
            </p:cNvPr>
            <p:cNvSpPr/>
            <p:nvPr/>
          </p:nvSpPr>
          <p:spPr>
            <a:xfrm>
              <a:off x="7380288" y="3798888"/>
              <a:ext cx="1368425" cy="719137"/>
            </a:xfrm>
            <a:prstGeom prst="borderCallout1">
              <a:avLst>
                <a:gd name="adj1" fmla="val 18750"/>
                <a:gd name="adj2" fmla="val -8333"/>
                <a:gd name="adj3" fmla="val 58612"/>
                <a:gd name="adj4" fmla="val -29380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800" tIns="38400" rIns="76800" bIns="38400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3713" indent="-3651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87425" indent="-7302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81138" indent="-109538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74850" indent="-14605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de-DE" dirty="0">
                  <a:solidFill>
                    <a:schemeClr val="tx1"/>
                  </a:solidFill>
                </a:rPr>
                <a:t>Rückgabe</a:t>
              </a: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88EDBCC8-2509-0CF6-F1FE-5B02F6BF3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Parameter</a:t>
            </a:r>
          </a:p>
        </p:txBody>
      </p:sp>
      <p:sp>
        <p:nvSpPr>
          <p:cNvPr id="81923" name="Rectangle 5">
            <a:extLst>
              <a:ext uri="{FF2B5EF4-FFF2-40B4-BE49-F238E27FC236}">
                <a16:creationId xmlns:a16="http://schemas.microsoft.com/office/drawing/2014/main" id="{84F84227-D6B5-F538-CEDF-3FD986F1ED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3733" y="1218207"/>
            <a:ext cx="8535988" cy="5091113"/>
          </a:xfrm>
        </p:spPr>
        <p:txBody>
          <a:bodyPr/>
          <a:lstStyle/>
          <a:p>
            <a:pPr>
              <a:lnSpc>
                <a:spcPct val="102000"/>
              </a:lnSpc>
              <a:spcBef>
                <a:spcPct val="30000"/>
              </a:spcBef>
            </a:pPr>
            <a:r>
              <a:rPr altLang="de-DE" dirty="0"/>
              <a:t>Die Parameter der Funktion werden innerhalb der runden Klammern angegeben</a:t>
            </a:r>
          </a:p>
          <a:p>
            <a:pPr lvl="1">
              <a:lnSpc>
                <a:spcPct val="102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def my_function(p):</a:t>
            </a:r>
          </a:p>
          <a:p>
            <a:pPr lvl="1">
              <a:lnSpc>
                <a:spcPct val="102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	print(f"param: {p}"</a:t>
            </a:r>
          </a:p>
          <a:p>
            <a:pPr lvl="1">
              <a:lnSpc>
                <a:spcPct val="102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endParaRPr altLang="de-DE" dirty="0">
              <a:latin typeface="Courier New" panose="02070309020205020404" pitchFamily="49" charset="0"/>
            </a:endParaRPr>
          </a:p>
          <a:p>
            <a:pPr lvl="1">
              <a:lnSpc>
                <a:spcPct val="102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de-DE" altLang="de-DE" dirty="0">
                <a:latin typeface="Courier New" panose="02070309020205020404" pitchFamily="49" charset="0"/>
              </a:rPr>
              <a:t>my_function</a:t>
            </a:r>
            <a:r>
              <a:rPr altLang="de-DE" dirty="0">
                <a:latin typeface="Courier New" panose="02070309020205020404" pitchFamily="49" charset="0"/>
              </a:rPr>
              <a:t>("Spam") # param: Spam</a:t>
            </a:r>
          </a:p>
          <a:p>
            <a:pPr>
              <a:lnSpc>
                <a:spcPct val="102000"/>
              </a:lnSpc>
              <a:spcBef>
                <a:spcPct val="30000"/>
              </a:spcBef>
            </a:pPr>
            <a:r>
              <a:rPr altLang="de-DE" dirty="0"/>
              <a:t>Die Anzahl der übergebenen Parameter muss mit der Parameterliste übereinstimmen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B4D4C05-F9EC-0A26-9865-CF9F13346D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B7646F6-543F-D0A8-C7FC-2A0B8563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CBBDE2-CEA2-8210-29A4-9FBE4399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A6F79B-5F0B-4F55-9C27-51565AA0A8AA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84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903F73-808D-C2A4-A953-4011E911A726}"/>
              </a:ext>
            </a:extLst>
          </p:cNvPr>
          <p:cNvSpPr/>
          <p:nvPr/>
        </p:nvSpPr>
        <p:spPr>
          <a:xfrm>
            <a:off x="264275" y="4415657"/>
            <a:ext cx="8352606" cy="1224136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Default-Werte für Parameter sowie variable Parameterlisten werden unten behandelt</a:t>
            </a:r>
          </a:p>
        </p:txBody>
      </p:sp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>
            <a:extLst>
              <a:ext uri="{FF2B5EF4-FFF2-40B4-BE49-F238E27FC236}">
                <a16:creationId xmlns:a16="http://schemas.microsoft.com/office/drawing/2014/main" id="{5623694B-BD6A-3134-5325-6D166A498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Gültigkeitsbereiche der Variablen</a:t>
            </a:r>
          </a:p>
        </p:txBody>
      </p:sp>
      <p:sp>
        <p:nvSpPr>
          <p:cNvPr id="87043" name="Rectangle 5">
            <a:extLst>
              <a:ext uri="{FF2B5EF4-FFF2-40B4-BE49-F238E27FC236}">
                <a16:creationId xmlns:a16="http://schemas.microsoft.com/office/drawing/2014/main" id="{45EAF36A-8DD4-A422-CB30-F4ABB1E45B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 dirty="0"/>
              <a:t>In Funktionen definierte Variablen sind lokal, d.h. nur innerhalb der Funktion gültig</a:t>
            </a:r>
          </a:p>
          <a:p>
            <a:pPr lvl="1"/>
            <a:r>
              <a:rPr lang="de-DE" altLang="de-DE" dirty="0"/>
              <a:t>Im Unterschied zu einer Variablen, die in einer Funktion definiert wird, muss der Parameter beim Aufruf gesetzt werden</a:t>
            </a:r>
            <a:endParaRPr alt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35528FB-AA5B-0CD6-ECED-84CB144E6C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20A9B33-D4B0-2661-0505-BDF740B3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0DD143-F2E6-838A-37E2-0BA741B3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AB126-3BD8-446D-AF1F-CB9E1AA3049D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85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B30604-B3D2-7905-736A-33F4A8872DD0}"/>
              </a:ext>
            </a:extLst>
          </p:cNvPr>
          <p:cNvSpPr/>
          <p:nvPr/>
        </p:nvSpPr>
        <p:spPr>
          <a:xfrm>
            <a:off x="323528" y="3140968"/>
            <a:ext cx="5943005" cy="2808312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Variablen, die außerhalb einer Funktion definiert werden, können als "global" aufgefasst werden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Ein lesender Zugriff ist überall möglich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Ein schreibender Zugriff ändert jedoch den Wert der globalen Variable nicht (!), es wird im Endeffekt eine lokale Variable gleichen Namens angelegt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Soll auf Variablen außerhalb der Funktion (schreibend) zugegriffen werden, </a:t>
            </a:r>
            <a:br>
              <a:rPr lang="de-DE" altLang="de-DE" dirty="0">
                <a:solidFill>
                  <a:schemeClr val="tx1"/>
                </a:solidFill>
              </a:rPr>
            </a:br>
            <a:r>
              <a:rPr lang="de-DE" altLang="de-DE" dirty="0">
                <a:solidFill>
                  <a:schemeClr val="tx1"/>
                </a:solidFill>
              </a:rPr>
              <a:t>so müssen diese als </a:t>
            </a:r>
            <a:r>
              <a:rPr lang="de-DE" altLang="de-D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 </a:t>
            </a:r>
            <a:r>
              <a:rPr lang="de-DE" altLang="de-DE" dirty="0">
                <a:solidFill>
                  <a:schemeClr val="tx1"/>
                </a:solidFill>
              </a:rPr>
              <a:t>deklariert werden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06551-AECA-ED89-43B4-598B5810DD32}"/>
              </a:ext>
            </a:extLst>
          </p:cNvPr>
          <p:cNvSpPr/>
          <p:nvPr/>
        </p:nvSpPr>
        <p:spPr>
          <a:xfrm>
            <a:off x="6535391" y="3850432"/>
            <a:ext cx="2376264" cy="1152128"/>
          </a:xfrm>
          <a:prstGeom prst="rect">
            <a:avLst/>
          </a:prstGeom>
          <a:solidFill>
            <a:srgbClr val="FF0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Zugegebenermaßen etwas verwirrend, aber zum Glück nicht zwingend zu nutzen...</a:t>
            </a:r>
          </a:p>
        </p:txBody>
      </p:sp>
    </p:spTree>
    <p:extLst>
      <p:ext uri="{BB962C8B-B14F-4D97-AF65-F5344CB8AC3E}">
        <p14:creationId xmlns:p14="http://schemas.microsoft.com/office/powerpoint/2010/main" val="1108995545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DD132D7B-879D-0458-8CC1-53C31352A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Rückgabewerte von Funktionen</a:t>
            </a:r>
          </a:p>
        </p:txBody>
      </p:sp>
      <p:sp>
        <p:nvSpPr>
          <p:cNvPr id="66563" name="Rectangle 5">
            <a:extLst>
              <a:ext uri="{FF2B5EF4-FFF2-40B4-BE49-F238E27FC236}">
                <a16:creationId xmlns:a16="http://schemas.microsoft.com/office/drawing/2014/main" id="{E5483810-FB43-A8C4-1066-81F89C3404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defRPr/>
            </a:pPr>
            <a:r>
              <a:t>Funktionen können Werte zurückliefern</a:t>
            </a:r>
          </a:p>
          <a:p>
            <a:pPr lvl="1">
              <a:defRPr/>
            </a:pPr>
            <a:r>
              <a:t>Schlüsselwort </a:t>
            </a:r>
            <a:r>
              <a:rPr err="1">
                <a:latin typeface="Courier New" pitchFamily="49" charset="0"/>
                <a:cs typeface="Courier New" pitchFamily="49" charset="0"/>
              </a:rPr>
              <a:t>return</a:t>
            </a:r>
            <a:endParaRPr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t>Dieser Rückgabewert kann wiederum in Zuweisungen oder weiteren Funktionsaufrufen verwendet werden</a:t>
            </a:r>
          </a:p>
          <a:p>
            <a:pPr lvl="1">
              <a:lnSpc>
                <a:spcPts val="22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err="1">
                <a:latin typeface="Courier New" pitchFamily="49" charset="0"/>
              </a:rPr>
              <a:t>def</a:t>
            </a:r>
            <a:r>
              <a:rPr>
                <a:latin typeface="Courier New" pitchFamily="49" charset="0"/>
              </a:rPr>
              <a:t> </a:t>
            </a:r>
            <a:r>
              <a:rPr err="1">
                <a:latin typeface="Courier New" pitchFamily="49" charset="0"/>
              </a:rPr>
              <a:t>mult</a:t>
            </a:r>
            <a:r>
              <a:rPr>
                <a:latin typeface="Courier New" pitchFamily="49" charset="0"/>
              </a:rPr>
              <a:t>(</a:t>
            </a:r>
            <a:r>
              <a:rPr err="1">
                <a:latin typeface="Courier New" pitchFamily="49" charset="0"/>
              </a:rPr>
              <a:t>a,b</a:t>
            </a:r>
            <a:r>
              <a:rPr>
                <a:latin typeface="Courier New" pitchFamily="49" charset="0"/>
              </a:rPr>
              <a:t>):</a:t>
            </a:r>
          </a:p>
          <a:p>
            <a:pPr lvl="1">
              <a:lnSpc>
                <a:spcPts val="22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>
                <a:latin typeface="Courier New" pitchFamily="49" charset="0"/>
              </a:rPr>
              <a:t>	</a:t>
            </a:r>
            <a:r>
              <a:rPr err="1">
                <a:latin typeface="Courier New" pitchFamily="49" charset="0"/>
              </a:rPr>
              <a:t>return</a:t>
            </a:r>
            <a:r>
              <a:rPr>
                <a:latin typeface="Courier New" pitchFamily="49" charset="0"/>
              </a:rPr>
              <a:t> a*b</a:t>
            </a:r>
          </a:p>
          <a:p>
            <a:pPr lvl="1">
              <a:lnSpc>
                <a:spcPts val="22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err="1">
                <a:latin typeface="Courier New" pitchFamily="49" charset="0"/>
              </a:rPr>
              <a:t>print</a:t>
            </a:r>
            <a:r>
              <a:rPr>
                <a:latin typeface="Courier New" pitchFamily="49" charset="0"/>
              </a:rPr>
              <a:t> </a:t>
            </a:r>
            <a:r>
              <a:rPr err="1">
                <a:latin typeface="Courier New" pitchFamily="49" charset="0"/>
              </a:rPr>
              <a:t>mult</a:t>
            </a:r>
            <a:r>
              <a:rPr>
                <a:latin typeface="Courier New" pitchFamily="49" charset="0"/>
              </a:rPr>
              <a:t>(4,2)</a:t>
            </a:r>
          </a:p>
          <a:p>
            <a:pPr lvl="1">
              <a:lnSpc>
                <a:spcPts val="22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>
                <a:latin typeface="Courier New" pitchFamily="49" charset="0"/>
              </a:rPr>
              <a:t>	8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202662-B306-AF4E-E0E1-451CE8AB135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3F59738-DEAF-3718-2985-99B18395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B14EAA-71DD-A378-D1F1-001265F8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B05B96-0415-4969-8C9B-5CA925E958AC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86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87C3-41FF-DA01-D1A1-860C723A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praktisches Beispiel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CAF6C-DE69-AF5A-0892-97951A26F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7.2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01D3D-AF3A-9E70-1A2A-00921170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41959-81BA-32E9-8E76-F055915F4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726F0-F32B-40E1-CFE4-59614358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87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9052682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1BB9B-972A-6A77-52C4-90D67363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Exkurs: Refactoring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5F256-18C1-0A9C-0CF5-74322E273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Während der Entwicklung einer Anwendung wird es immer wieder vorkommen, dass die Programme qualitative Mängel aufweisen</a:t>
            </a:r>
          </a:p>
          <a:p>
            <a:pPr lvl="1"/>
            <a:r>
              <a:rPr lang="de-DE" dirty="0"/>
              <a:t>unstrukturiert</a:t>
            </a:r>
          </a:p>
          <a:p>
            <a:pPr lvl="1"/>
            <a:r>
              <a:rPr lang="de-DE" dirty="0"/>
              <a:t>schlecht dokumentiert</a:t>
            </a:r>
          </a:p>
          <a:p>
            <a:pPr lvl="1"/>
            <a:r>
              <a:rPr lang="de-DE" dirty="0"/>
              <a:t>umständlich</a:t>
            </a:r>
          </a:p>
          <a:p>
            <a:pPr lvl="1"/>
            <a:r>
              <a:rPr lang="de-DE" dirty="0"/>
              <a:t>...</a:t>
            </a:r>
          </a:p>
          <a:p>
            <a:r>
              <a:rPr lang="de-DE" dirty="0"/>
              <a:t>Um diese Qualitätsmängel zu beheben muss der Code neu gestaltet werden</a:t>
            </a:r>
          </a:p>
          <a:p>
            <a:pPr lvl="1"/>
            <a:r>
              <a:rPr lang="de-DE" dirty="0"/>
              <a:t>Dieser Vorgang wird als "Refactoring" bezeichnet</a:t>
            </a:r>
          </a:p>
          <a:p>
            <a:pPr lvl="1"/>
            <a:endParaRPr lang="de-DE" dirty="0"/>
          </a:p>
          <a:p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3447B-1199-E724-1DA2-9F758CB7E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17806-A7A0-1EA4-D685-F55A66D8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61CA1-8AD0-F2E7-509D-6A4C50B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88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5CF83-24E6-6EE5-CD56-0623B89BF62F}"/>
              </a:ext>
            </a:extLst>
          </p:cNvPr>
          <p:cNvSpPr/>
          <p:nvPr/>
        </p:nvSpPr>
        <p:spPr>
          <a:xfrm>
            <a:off x="3275856" y="1916832"/>
            <a:ext cx="5688632" cy="828092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Dies bedeutet aber nicht, dass das Programm Fehler enthält!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Aus Sicht des Anwenders ist alles in Ordnung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6A5016-98CF-3D01-5F35-8BE9683734DC}"/>
              </a:ext>
            </a:extLst>
          </p:cNvPr>
          <p:cNvSpPr/>
          <p:nvPr/>
        </p:nvSpPr>
        <p:spPr>
          <a:xfrm>
            <a:off x="107504" y="3681028"/>
            <a:ext cx="8856984" cy="2700300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Refactoring ist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keine Fehlerkorrektur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keine Einführung neuer Funktionalitäten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Sinn und Zweck des Refactorings ist eine Erhöhung der Qualität, die spätere Wartungsarbeiten / Erweiterungen erleichtern soll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und damit nicht immer notwendig ist und aus Kundensicht manchmal schwer begründbar ist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"Die Anwendung funktioniert doch schon. Warum soll ich nochmal etwas bezahlen?</a:t>
            </a:r>
          </a:p>
        </p:txBody>
      </p:sp>
    </p:spTree>
    <p:extLst>
      <p:ext uri="{BB962C8B-B14F-4D97-AF65-F5344CB8AC3E}">
        <p14:creationId xmlns:p14="http://schemas.microsoft.com/office/powerpoint/2010/main" val="41058584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F8B93-3449-0C8A-4896-E5B88CC12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D3CF81-34A3-0465-297A-C9EBDD93D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Zur Aufgabenstellung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407418-440D-D534-40F9-AEE0110AB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Das Postleitzahlen-Beispiel kann sofort in unterschiedliche Blöcke unterteilt werden</a:t>
            </a:r>
          </a:p>
          <a:p>
            <a:pPr lvl="1"/>
            <a:r>
              <a:rPr lang="de-DE" dirty="0"/>
              <a:t>Definition der Datenbasis</a:t>
            </a:r>
          </a:p>
          <a:p>
            <a:pPr lvl="1"/>
            <a:r>
              <a:rPr lang="de-DE" dirty="0"/>
              <a:t>Eingabe der Suchkriterien</a:t>
            </a:r>
          </a:p>
          <a:p>
            <a:pPr lvl="1"/>
            <a:r>
              <a:rPr lang="de-DE" dirty="0"/>
              <a:t>Bestimmung des Ergebnisses</a:t>
            </a:r>
          </a:p>
          <a:p>
            <a:pPr lvl="1"/>
            <a:r>
              <a:rPr lang="de-DE" dirty="0"/>
              <a:t>Schreiben des Ergebnisses</a:t>
            </a:r>
          </a:p>
          <a:p>
            <a:r>
              <a:rPr lang="de-DE" dirty="0"/>
              <a:t>Diese unterschiedlichen Blöcke sind in der bisherigen Lösung aber nicht getrennt</a:t>
            </a:r>
          </a:p>
          <a:p>
            <a:pPr lvl="1"/>
            <a:r>
              <a:rPr lang="de-DE" dirty="0"/>
              <a:t>"Spaghetti-Code"</a:t>
            </a:r>
          </a:p>
          <a:p>
            <a:r>
              <a:rPr lang="de-DE" dirty="0"/>
              <a:t>Spätere Wartungsarbeiten sind damit mühsam</a:t>
            </a:r>
          </a:p>
          <a:p>
            <a:pPr lvl="1"/>
            <a:r>
              <a:rPr lang="de-DE" dirty="0"/>
              <a:t>z.B. Einlesen der Daten aus einer Datei / einer Datenbank</a:t>
            </a:r>
          </a:p>
          <a:p>
            <a:pPr lvl="1"/>
            <a:r>
              <a:rPr lang="de-DE" dirty="0"/>
              <a:t>Statt Benutzereingaben Verwendung einer Web Anwendung</a:t>
            </a:r>
          </a:p>
          <a:p>
            <a:pPr lvl="1"/>
            <a:r>
              <a:rPr lang="de-DE" dirty="0"/>
              <a:t>...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98E1A-7424-EF60-FC87-21B24C667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B3CA7-4F7F-1A23-DB11-D1341AC1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BA13-3662-85DA-9DBC-0D8B0389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89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501002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96910-6D90-40B3-72AD-9BBE98EA1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A2AB7-3C1F-091E-39C0-74EBE30D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Details zu Funktionen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39D58-6936-1530-E998-F68DBCB85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8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CA938-5901-7CA1-413A-D443FA1B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1CA4B-D9EF-E310-0983-CD8F45A3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87400-7D46-CB79-305F-05E7670D5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90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674820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339FE-B410-7858-BA1E-3F90E723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3879-B837-2E2B-BADF-865D81A7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Parameter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099B4-5069-03BB-47AC-CBA7AC808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8.1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EC464-9FA8-0597-FB5C-C62D008E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0336F-2C48-1FC4-AF84-81140554E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15AD1-F85A-3781-B6E4-08714A4F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91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50998520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E099A196-0484-73CA-E80D-140A7B577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Optionale Parameter</a:t>
            </a:r>
          </a:p>
        </p:txBody>
      </p:sp>
      <p:sp>
        <p:nvSpPr>
          <p:cNvPr id="82947" name="Rectangle 5">
            <a:extLst>
              <a:ext uri="{FF2B5EF4-FFF2-40B4-BE49-F238E27FC236}">
                <a16:creationId xmlns:a16="http://schemas.microsoft.com/office/drawing/2014/main" id="{7B79E7E8-C9BF-28BC-1E08-12C1F2080A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Bei der Funktionsdefinition können Parameter mit Default-Werten versehen werden. Beim Aufruf müssen für diese dann keine Werte angegeben werden</a:t>
            </a:r>
          </a:p>
          <a:p>
            <a:pPr lvl="1"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def f(a=5,b=2):</a:t>
            </a:r>
          </a:p>
          <a:p>
            <a:pPr lvl="2"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print  a*b</a:t>
            </a:r>
          </a:p>
          <a:p>
            <a:pPr lvl="1"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f()</a:t>
            </a:r>
          </a:p>
          <a:p>
            <a:pPr lvl="1"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	10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FE5745F-2083-88B1-79F0-25A7A158B18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675A72-5093-2217-D889-31789DDD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27E329-7720-5F11-EC9D-441FE3B0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E05103F-9FC7-4FE5-B804-29B60B6941C6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92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>
            <a:extLst>
              <a:ext uri="{FF2B5EF4-FFF2-40B4-BE49-F238E27FC236}">
                <a16:creationId xmlns:a16="http://schemas.microsoft.com/office/drawing/2014/main" id="{7C1DECD8-1AEB-208C-43BC-8780B19F2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Parameter-Liste</a:t>
            </a:r>
          </a:p>
        </p:txBody>
      </p:sp>
      <p:sp>
        <p:nvSpPr>
          <p:cNvPr id="83971" name="Rectangle 5">
            <a:extLst>
              <a:ext uri="{FF2B5EF4-FFF2-40B4-BE49-F238E27FC236}">
                <a16:creationId xmlns:a16="http://schemas.microsoft.com/office/drawing/2014/main" id="{92813F59-4F22-15EB-4439-6A3C2D2FF2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Funktionsparameter die bei Definition mit einem * versehen werden, werden als beliebig langes Tupel übergeben</a:t>
            </a:r>
          </a:p>
          <a:p>
            <a:pPr lvl="1"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def f(*a):</a:t>
            </a:r>
          </a:p>
          <a:p>
            <a:pPr lvl="1"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	print a</a:t>
            </a:r>
          </a:p>
          <a:p>
            <a:pPr lvl="1"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f(1,2,3,4)</a:t>
            </a:r>
          </a:p>
          <a:p>
            <a:pPr lvl="1"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	(1, 2, 3, 4)</a:t>
            </a:r>
          </a:p>
          <a:p>
            <a:pPr lvl="1"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f("bla","bla")</a:t>
            </a:r>
          </a:p>
          <a:p>
            <a:pPr lvl="1"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	('bla', 'bla')</a:t>
            </a:r>
          </a:p>
          <a:p>
            <a:endParaRPr alt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CE37B6-48EF-B195-0884-BE8A1A3D45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5A5EA8E-A6D7-1DB3-7BF3-429F1DA6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F39239-F939-E2D9-F32B-85C47CEC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292F67-F806-4AB3-877F-93D76AA09CFF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93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BADFD48A-9E2C-999A-FCF6-0E6C19E26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Benannte Parameter</a:t>
            </a:r>
          </a:p>
        </p:txBody>
      </p:sp>
      <p:sp>
        <p:nvSpPr>
          <p:cNvPr id="84995" name="Rectangle 5">
            <a:extLst>
              <a:ext uri="{FF2B5EF4-FFF2-40B4-BE49-F238E27FC236}">
                <a16:creationId xmlns:a16="http://schemas.microsoft.com/office/drawing/2014/main" id="{48D6BE6E-B9C9-BB5A-464C-C7137CFEE3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Parameter die bei Definition mit ** markiert sind, werden im Endeffekt als Dictionary übergeben</a:t>
            </a:r>
          </a:p>
          <a:p>
            <a:pPr lvl="1">
              <a:lnSpc>
                <a:spcPts val="22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def f(**a):</a:t>
            </a:r>
          </a:p>
          <a:p>
            <a:pPr lvl="1">
              <a:lnSpc>
                <a:spcPts val="22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	print (a)</a:t>
            </a:r>
          </a:p>
          <a:p>
            <a:pPr lvl="1">
              <a:lnSpc>
                <a:spcPts val="22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endParaRPr altLang="de-DE">
              <a:latin typeface="Courier New" panose="02070309020205020404" pitchFamily="49" charset="0"/>
            </a:endParaRPr>
          </a:p>
          <a:p>
            <a:pPr lvl="1">
              <a:lnSpc>
                <a:spcPts val="22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f(number=42,name="Hugo")</a:t>
            </a:r>
          </a:p>
          <a:p>
            <a:pPr lvl="1">
              <a:lnSpc>
                <a:spcPts val="22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{'number': 2, 'name': 'Hugo'}</a:t>
            </a:r>
          </a:p>
          <a:p>
            <a:endParaRPr alt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637BF5B-7716-07D7-8EDA-ADEDA3E3664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4239B8-A901-0562-229B-CA92E52C1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B8F7B2-9DDB-F839-069B-447B57C2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015A57-AA99-45DB-9426-EFA55EFD7B36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94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963F-4FCC-D12C-E9F0-3B9097E2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1A7B-34E1-F1F2-15A0-49553AB6A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Funktionen als Variablen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5F02-AB7D-6EAD-0CF5-78D1CA37A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8.2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759F6-624F-3108-4A08-0552207E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1182A-1524-E5B6-2375-29DF9CE5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1C8A-E745-39A6-CD27-899B1B37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95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8461884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DDE1-2BC1-5B9D-BD04-8FD09F585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Funktionsdefinition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09FCE-FA02-D662-0068-4D94E60F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Bisher</a:t>
            </a:r>
          </a:p>
          <a:p>
            <a:pPr lvl="1"/>
            <a:r>
              <a:rPr lang="de-DE" dirty="0"/>
              <a:t>Variablen werden durch die erste Zuweisung erzeugt</a:t>
            </a:r>
          </a:p>
          <a:p>
            <a:pPr lvl="2"/>
            <a:r>
              <a:rPr lang="de-DE" dirty="0"/>
              <a:t>Eine Neuzuweisung ist möglich</a:t>
            </a:r>
          </a:p>
          <a:p>
            <a:pPr lvl="1"/>
            <a:r>
              <a:rPr lang="de-DE" dirty="0"/>
              <a:t>Funktionen werden mit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de-DE" dirty="0"/>
              <a:t>eingeleitet und haben einen Block mit einer Sequenz von Anweisungen</a:t>
            </a:r>
          </a:p>
          <a:p>
            <a:pPr lvl="2"/>
            <a:r>
              <a:rPr lang="de-DE" dirty="0"/>
              <a:t>Funktionen werden mit einem runden Klammernpaar aufgerufen</a:t>
            </a:r>
          </a:p>
          <a:p>
            <a:pPr lvl="2"/>
            <a:endParaRPr lang="de-DE" dirty="0"/>
          </a:p>
          <a:p>
            <a:pPr lvl="2"/>
            <a:endParaRPr lang="de-DE" dirty="0"/>
          </a:p>
          <a:p>
            <a:pPr lvl="2"/>
            <a:endParaRPr lang="de-DE" dirty="0"/>
          </a:p>
          <a:p>
            <a:r>
              <a:rPr lang="de-DE" dirty="0"/>
              <a:t>Nun</a:t>
            </a:r>
          </a:p>
          <a:p>
            <a:pPr lvl="1"/>
            <a:r>
              <a:rPr lang="de-DE" dirty="0"/>
              <a:t>Eine Funktion ist eine spezieller Typ, der im Gegensatz zu einer Variablen als Besonderheit aufgerufen werden kann</a:t>
            </a:r>
          </a:p>
          <a:p>
            <a:pPr lvl="1"/>
            <a:r>
              <a:rPr lang="de-DE" dirty="0"/>
              <a:t>Damit ist klar</a:t>
            </a:r>
          </a:p>
          <a:p>
            <a:pPr lvl="2"/>
            <a:r>
              <a:rPr lang="de-DE" dirty="0"/>
              <a:t>Eine "Redefinition" einer Funktion ist möglich, die alte Implementierung ist nicht mehr verfügbar</a:t>
            </a:r>
          </a:p>
          <a:p>
            <a:pPr lvl="2"/>
            <a:endParaRPr lang="de-DE" dirty="0"/>
          </a:p>
          <a:p>
            <a:pPr lvl="2"/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24407-A9B6-E7C4-982D-833CF284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F3DD6-F59F-9932-5DE4-4DA091F4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29099-6513-614A-1B4E-B5315EE1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96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37FA81-36C0-3B27-E37B-EB1DC8243E22}"/>
              </a:ext>
            </a:extLst>
          </p:cNvPr>
          <p:cNvSpPr/>
          <p:nvPr/>
        </p:nvSpPr>
        <p:spPr>
          <a:xfrm>
            <a:off x="228925" y="3014954"/>
            <a:ext cx="8159500" cy="414046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Variablen und Funktionen sind nach dieser Darstellung etwas völlig unterschiedliches</a:t>
            </a:r>
            <a:endParaRPr lang="de-DE" altLang="de-DE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E7DEEB-8283-7494-8F5E-411B0883EAA1}"/>
              </a:ext>
            </a:extLst>
          </p:cNvPr>
          <p:cNvSpPr/>
          <p:nvPr/>
        </p:nvSpPr>
        <p:spPr>
          <a:xfrm>
            <a:off x="228924" y="5301208"/>
            <a:ext cx="8159500" cy="986098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Andere Programmiersprachen unterstützen ein sogenanntes "Überladen von Methoden"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Hier wird zur Identifikation beim Aufruf die Paramterliste mit ausgewertet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Ist manchmal ganz praktisch, aber Python kann das halt nicht</a:t>
            </a:r>
          </a:p>
        </p:txBody>
      </p:sp>
    </p:spTree>
    <p:extLst>
      <p:ext uri="{BB962C8B-B14F-4D97-AF65-F5344CB8AC3E}">
        <p14:creationId xmlns:p14="http://schemas.microsoft.com/office/powerpoint/2010/main" val="66757469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AD63-8468-A584-DA0E-87DF3923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Noch ein paar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C9311-D6E4-D02A-1013-AF7872A14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Variablen sind keine Funktionen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message = 'Hello'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# message() 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'str' object is not callable</a:t>
            </a:r>
          </a:p>
          <a:p>
            <a:r>
              <a:rPr lang="de-DE" dirty="0"/>
              <a:t>Zuweisungen mit Funktionen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def my_fn(): print('Hello')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x = my_fn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x() # Konsolenausgabe Hello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BDF3B-8A86-CD7D-5754-ABB93EE5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9878B-616E-FBDE-0D82-9412144B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FE4FE-8C50-1C7E-688A-ABCCFBFB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97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822B8E-066A-1580-CD90-4D911CA8D42F}"/>
              </a:ext>
            </a:extLst>
          </p:cNvPr>
          <p:cNvSpPr/>
          <p:nvPr/>
        </p:nvSpPr>
        <p:spPr>
          <a:xfrm>
            <a:off x="602555" y="3356992"/>
            <a:ext cx="8184167" cy="1440160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 scheinbar sehr sinnloses Beispiel, das aber beweist, dass Funktionen auch als Parameter und Rückgabewerte benutzt werden können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Und das ist tatsächlich eine sehr populärer Programmierstil, die sogenannte "Funktionale Programmierung"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C1ECA2-A8CC-33F0-A0D7-BDCCD40D346A}"/>
              </a:ext>
            </a:extLst>
          </p:cNvPr>
          <p:cNvSpPr/>
          <p:nvPr/>
        </p:nvSpPr>
        <p:spPr>
          <a:xfrm>
            <a:off x="611560" y="4869160"/>
            <a:ext cx="8184167" cy="1440160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Weiter unten werden wir noch eine Möglichkeit der verkürzten Funktionsdefinition kennenlernen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Lambda-Ausdrücke</a:t>
            </a:r>
          </a:p>
        </p:txBody>
      </p:sp>
    </p:spTree>
    <p:extLst>
      <p:ext uri="{BB962C8B-B14F-4D97-AF65-F5344CB8AC3E}">
        <p14:creationId xmlns:p14="http://schemas.microsoft.com/office/powerpoint/2010/main" val="168023144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D0617-0235-4AE1-BA56-8B4FE811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Objektorientierte Syntax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BD404-4F40-3F20-31F2-9491F6E2E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9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D0FCF-9F37-21FE-A56B-47757D56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1A14F-7A12-6E30-377E-3A27487E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31AEF-A189-CA3C-02E5-B890478F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98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9850670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F5833-15FD-B272-E311-1705959D4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6A8D-9104-2A66-9CA0-666A4D28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E19E1-6D25-FB13-96C6-8EB9F07DE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9.1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5E4A9-FDD8-291D-E887-2AF0C5503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0C74C-D470-FD7F-E970-0395DC74A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CD22F-6BAB-2F58-45E5-89218BEF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99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284514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Stand</a:t>
            </a:r>
            <a:endParaRPr dirty="0"/>
          </a:p>
        </p:txBody>
      </p:sp>
      <p:sp>
        <p:nvSpPr>
          <p:cNvPr id="373" name="Google Shape;373;p5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Bisher</a:t>
            </a:r>
            <a:endParaRPr dirty="0"/>
          </a:p>
          <a:p>
            <a:pPr lvl="1"/>
            <a:r>
              <a:rPr lang="de-DE" dirty="0"/>
              <a:t>BuiltIn-Funktionen, die überall zur Verfügung stehen</a:t>
            </a:r>
            <a:endParaRPr dirty="0"/>
          </a:p>
          <a:p>
            <a:pPr lvl="2"/>
            <a:r>
              <a:rPr lang="de-DE" dirty="0"/>
              <a:t>print("Hello")</a:t>
            </a:r>
            <a:endParaRPr dirty="0"/>
          </a:p>
          <a:p>
            <a:pPr lvl="1"/>
            <a:r>
              <a:rPr lang="de-DE" dirty="0"/>
              <a:t>Code Assist, der viele viele unnötige Vorschläge unterbreitet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Neu</a:t>
            </a:r>
            <a:endParaRPr dirty="0"/>
          </a:p>
          <a:p>
            <a:pPr lvl="1"/>
            <a:r>
              <a:rPr lang="de-DE" dirty="0"/>
              <a:t>Alle Variablen sind (genauer: referenzieren) Objekte</a:t>
            </a:r>
            <a:endParaRPr dirty="0"/>
          </a:p>
          <a:p>
            <a:pPr lvl="2"/>
            <a:r>
              <a:rPr lang="de-DE" dirty="0"/>
              <a:t>Jedes Objekt kennt seinen Typ</a:t>
            </a:r>
            <a:endParaRPr dirty="0"/>
          </a:p>
          <a:p>
            <a:pPr lvl="1"/>
            <a:r>
              <a:rPr lang="de-DE" dirty="0"/>
              <a:t>Jedes Objekt gruppiert Funktionen, die in seinem Kontext ausgeführt werden und dem Typen des Objektes zugeordnet sind</a:t>
            </a:r>
            <a:endParaRPr dirty="0"/>
          </a:p>
          <a:p>
            <a:pPr lvl="2"/>
            <a:r>
              <a:rPr lang="de-DE" dirty="0"/>
              <a:t>Diese Funktionen nennen wir "Methoden"</a:t>
            </a:r>
            <a:endParaRPr dirty="0"/>
          </a:p>
          <a:p>
            <a:pPr lvl="1"/>
            <a:r>
              <a:rPr lang="de-DE" dirty="0"/>
              <a:t>Der Zugriff auf diese Methoden erfolgtmit dem Punkt-Operator</a:t>
            </a:r>
            <a:endParaRPr dirty="0"/>
          </a:p>
          <a:p>
            <a:pPr lvl="3"/>
            <a:r>
              <a:rPr lang="de-DE" dirty="0"/>
              <a:t>obj.method()</a:t>
            </a:r>
            <a:endParaRPr dirty="0"/>
          </a:p>
        </p:txBody>
      </p:sp>
      <p:sp>
        <p:nvSpPr>
          <p:cNvPr id="372" name="Google Shape;372;p5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100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60A015-44EC-DD9F-69E6-5CD934009BE0}"/>
              </a:ext>
            </a:extLst>
          </p:cNvPr>
          <p:cNvSpPr/>
          <p:nvPr/>
        </p:nvSpPr>
        <p:spPr>
          <a:xfrm>
            <a:off x="143508" y="4797152"/>
            <a:ext cx="8856984" cy="864096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Der Code Assist zeigt sehr übersichtlich die Methoden eines Objektes an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Bitte Alles, was mit __ beginnt ignorieren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4434-0E11-189C-2379-D0414881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Und was bringt uns das?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A911C-BB41-1CB9-239E-221CB1C70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Bisher kennen wir nur einige wenige BuiltIn-Funktionen sowie die Operatoren</a:t>
            </a:r>
          </a:p>
          <a:p>
            <a:r>
              <a:rPr lang="de-DE" dirty="0"/>
              <a:t>Damit könnten wir </a:t>
            </a:r>
            <a:r>
              <a:rPr lang="de-DE" b="1" dirty="0"/>
              <a:t>theoretisch</a:t>
            </a:r>
            <a:r>
              <a:rPr lang="de-DE" dirty="0"/>
              <a:t> alle möglichen, auch durchaus komplexen Anforderungen programieren</a:t>
            </a:r>
          </a:p>
          <a:p>
            <a:pPr lvl="1"/>
            <a:r>
              <a:rPr lang="de-DE" dirty="0"/>
              <a:t>Der Aufwand hierfür wäre jedoch absurd hoch</a:t>
            </a:r>
          </a:p>
          <a:p>
            <a:r>
              <a:rPr lang="de-DE" dirty="0"/>
              <a:t>Nun machen wir eine andere Herangehensweise</a:t>
            </a:r>
          </a:p>
          <a:p>
            <a:pPr lvl="1"/>
            <a:r>
              <a:rPr lang="de-DE" dirty="0"/>
              <a:t>Problem: "Wir müssen Zeichenketten analysieren und verarbeiten"</a:t>
            </a:r>
          </a:p>
          <a:p>
            <a:pPr lvl="1"/>
            <a:r>
              <a:rPr lang="de-DE" dirty="0"/>
              <a:t>Eine Zeichenkette in Python ist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</a:p>
          <a:p>
            <a:pPr lvl="1"/>
            <a:r>
              <a:rPr lang="de-DE" dirty="0"/>
              <a:t>Also schauen wir einmal nach, was eine Zeichenkette denn "so alles kann", indem wir die Methoden anschauen</a:t>
            </a:r>
          </a:p>
          <a:p>
            <a:pPr lvl="2"/>
            <a:r>
              <a:rPr lang="de-DE" dirty="0"/>
              <a:t>Code Assist</a:t>
            </a:r>
          </a:p>
          <a:p>
            <a:pPr lvl="2"/>
            <a:r>
              <a:rPr lang="de-DE" dirty="0"/>
              <a:t>Offizielle Python-Dokumentation</a:t>
            </a:r>
          </a:p>
          <a:p>
            <a:pPr lvl="2"/>
            <a:r>
              <a:rPr lang="de-DE" dirty="0"/>
              <a:t>Tutorials wie die w3school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F5BCB-829C-DBB9-14E2-87EBD6017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7C724-4944-72F1-6750-F01D66F9F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D56D7-3AFB-0C07-1039-C47A57D4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101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5CB6A6-0A28-0729-9B53-3EC83CA7D302}"/>
              </a:ext>
            </a:extLst>
          </p:cNvPr>
          <p:cNvSpPr/>
          <p:nvPr/>
        </p:nvSpPr>
        <p:spPr>
          <a:xfrm>
            <a:off x="3959932" y="4005064"/>
            <a:ext cx="4932548" cy="864096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Die offizielle Python-Dokumentation ist sehr technisch</a:t>
            </a:r>
          </a:p>
        </p:txBody>
      </p:sp>
    </p:spTree>
    <p:extLst>
      <p:ext uri="{BB962C8B-B14F-4D97-AF65-F5344CB8AC3E}">
        <p14:creationId xmlns:p14="http://schemas.microsoft.com/office/powerpoint/2010/main" val="324722532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2C8B7-5A6B-809E-2E80-C61FB93EE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String Methods: Code Assist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B8F71-D35F-E51B-6E4D-68F51D9F7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89185-55E4-18F2-B213-E57FF101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F0D97-EBD1-333B-98BF-FD4A229F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5711-C661-4B9F-A580-A7D95705C47D}" type="slidenum">
              <a:rPr lang="de-DE" altLang="de-DE" smtClean="0"/>
              <a:pPr/>
              <a:t>102</a:t>
            </a:fld>
            <a:endParaRPr lang="de-DE" alt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C5175D-E25D-8620-0E05-1083077FA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631"/>
          <a:stretch/>
        </p:blipFill>
        <p:spPr>
          <a:xfrm>
            <a:off x="179513" y="1124744"/>
            <a:ext cx="3384376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5572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4302-B654-1AD3-21D4-EACF2BD9C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String Methods: w3school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5BC33-B7F5-9FF0-0174-B803148A1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F2F2E-7426-4BA2-E007-6CDB3459C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A5355-3FCB-2D01-862B-59748D8E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103</a:t>
            </a:fld>
            <a:endParaRPr lang="de-DE" alt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EC9E5-1665-3C76-D5A1-C617965AF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00" y="1340768"/>
            <a:ext cx="7821116" cy="3362794"/>
          </a:xfrm>
          <a:prstGeom prst="rect">
            <a:avLst/>
          </a:prstGeom>
          <a:ln>
            <a:solidFill>
              <a:srgbClr val="E7E9EB"/>
            </a:solidFill>
          </a:ln>
        </p:spPr>
      </p:pic>
    </p:spTree>
    <p:extLst>
      <p:ext uri="{BB962C8B-B14F-4D97-AF65-F5344CB8AC3E}">
        <p14:creationId xmlns:p14="http://schemas.microsoft.com/office/powerpoint/2010/main" val="412400834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C237-37A5-3D15-EF88-487E0F53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 "Probleme"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2045F-F2F9-A7E3-16DF-7909099A3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"Wir möchten zu einer Liste dynamisch Elemente hinzufügen, entfernen, Elemente suchen, ..."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"Ist eine Menge von Elementen ein Subset einer anderen Menge?"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A9A86-0DF0-3CCA-DF41-FDFBE0135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B6269-2B04-0448-E020-63952E8F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1899A-A2A0-8365-1145-AB4EF926B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104</a:t>
            </a:fld>
            <a:endParaRPr lang="de-DE" alt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20DDA3-4C89-991A-30CF-2B4F8C373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556792"/>
            <a:ext cx="2005022" cy="20162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48EE9F-24F0-5B50-7480-9A9CC1D9CF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389"/>
          <a:stretch/>
        </p:blipFill>
        <p:spPr>
          <a:xfrm>
            <a:off x="2941463" y="4157051"/>
            <a:ext cx="3039573" cy="150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5486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F1558-FB47-E98C-D272-50B48BA1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76E6-25A5-892D-5D48-68015ED4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Referenzen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A8980-D9FA-8030-FB45-FC03774E0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9.2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47F41-D822-7DE7-3B80-A6F5E0A95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0FB27-EC2B-F0B9-5E04-239BDBE60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4D66A-6E7B-F096-E4D7-5BBE6459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105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61206917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69C4-2F04-E437-C0BF-69D595A7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Speichermodell der Python Laufzeit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D9B1D-DDA0-74C9-D77E-69A80810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F14ED-EE13-A9A9-C8A7-2C65944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93519-81EF-93D8-6847-320DB58F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106</a:t>
            </a:fld>
            <a:endParaRPr lang="de-DE" altLang="de-DE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20CA87-1087-7237-37BC-6BDA59B820B9}"/>
              </a:ext>
            </a:extLst>
          </p:cNvPr>
          <p:cNvGrpSpPr/>
          <p:nvPr/>
        </p:nvGrpSpPr>
        <p:grpSpPr>
          <a:xfrm>
            <a:off x="144016" y="1412776"/>
            <a:ext cx="5796136" cy="2880320"/>
            <a:chOff x="0" y="1412776"/>
            <a:chExt cx="5796136" cy="28803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DEC9585-8F4F-8193-2245-54D5BC18D217}"/>
                </a:ext>
              </a:extLst>
            </p:cNvPr>
            <p:cNvSpPr/>
            <p:nvPr/>
          </p:nvSpPr>
          <p:spPr>
            <a:xfrm>
              <a:off x="0" y="1412776"/>
              <a:ext cx="5796136" cy="28803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Python Runtime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Stack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Heap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F3CEBB9-E34A-FD84-3F94-F7C792E65334}"/>
                </a:ext>
              </a:extLst>
            </p:cNvPr>
            <p:cNvCxnSpPr/>
            <p:nvPr/>
          </p:nvCxnSpPr>
          <p:spPr>
            <a:xfrm>
              <a:off x="0" y="2132856"/>
              <a:ext cx="5796136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1049AF1-EEF1-52E0-EC2D-EF886633EE76}"/>
              </a:ext>
            </a:extLst>
          </p:cNvPr>
          <p:cNvSpPr/>
          <p:nvPr/>
        </p:nvSpPr>
        <p:spPr>
          <a:xfrm>
            <a:off x="35496" y="4653136"/>
            <a:ext cx="3456384" cy="398462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message = 'Hello'</a:t>
            </a:r>
          </a:p>
          <a:p>
            <a:endParaRPr lang="de-DE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D1AAF9-2AA9-1C4C-0321-A00D53213821}"/>
              </a:ext>
            </a:extLst>
          </p:cNvPr>
          <p:cNvSpPr/>
          <p:nvPr/>
        </p:nvSpPr>
        <p:spPr>
          <a:xfrm>
            <a:off x="1043608" y="1772816"/>
            <a:ext cx="288032" cy="216023"/>
          </a:xfrm>
          <a:prstGeom prst="ellipse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8E4A75-56EA-27FF-5B12-7658A8BAC5D4}"/>
              </a:ext>
            </a:extLst>
          </p:cNvPr>
          <p:cNvSpPr/>
          <p:nvPr/>
        </p:nvSpPr>
        <p:spPr>
          <a:xfrm>
            <a:off x="755576" y="2708919"/>
            <a:ext cx="864096" cy="432047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Hello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8C7E00-DA39-F522-14C4-02CBB2F8856D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1187624" y="1988839"/>
            <a:ext cx="0" cy="72008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68287D-1086-AACF-CEA7-7BD116526452}"/>
              </a:ext>
            </a:extLst>
          </p:cNvPr>
          <p:cNvSpPr txBox="1"/>
          <p:nvPr/>
        </p:nvSpPr>
        <p:spPr>
          <a:xfrm>
            <a:off x="683568" y="1454587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message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FD035F-09C4-1B77-8203-542A587EF087}"/>
              </a:ext>
            </a:extLst>
          </p:cNvPr>
          <p:cNvSpPr/>
          <p:nvPr/>
        </p:nvSpPr>
        <p:spPr>
          <a:xfrm>
            <a:off x="35496" y="5204182"/>
            <a:ext cx="3456384" cy="398462"/>
          </a:xfrm>
          <a:prstGeom prst="rect">
            <a:avLst/>
          </a:prstGeom>
          <a:solidFill>
            <a:srgbClr val="92D05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 = 42</a:t>
            </a:r>
          </a:p>
          <a:p>
            <a:endParaRPr lang="de-DE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2BB68E-652C-03B0-48D3-292B771F5CBF}"/>
              </a:ext>
            </a:extLst>
          </p:cNvPr>
          <p:cNvSpPr/>
          <p:nvPr/>
        </p:nvSpPr>
        <p:spPr>
          <a:xfrm>
            <a:off x="2411760" y="1772816"/>
            <a:ext cx="288032" cy="21602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D7F1EC-571E-ECB7-7D4A-B3E6D918790B}"/>
              </a:ext>
            </a:extLst>
          </p:cNvPr>
          <p:cNvSpPr/>
          <p:nvPr/>
        </p:nvSpPr>
        <p:spPr>
          <a:xfrm>
            <a:off x="2123728" y="2708919"/>
            <a:ext cx="864096" cy="43204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42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4E53496-3BA3-2422-7A92-C3B2723A33A5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2555776" y="1988839"/>
            <a:ext cx="0" cy="72008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4CE606F-71E3-ADAA-88CB-C8A4C06750BF}"/>
              </a:ext>
            </a:extLst>
          </p:cNvPr>
          <p:cNvSpPr txBox="1"/>
          <p:nvPr/>
        </p:nvSpPr>
        <p:spPr>
          <a:xfrm>
            <a:off x="2627784" y="1742619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70CCB4-5623-29D2-925C-B5FF37C75A1F}"/>
              </a:ext>
            </a:extLst>
          </p:cNvPr>
          <p:cNvSpPr/>
          <p:nvPr/>
        </p:nvSpPr>
        <p:spPr>
          <a:xfrm>
            <a:off x="35496" y="5766842"/>
            <a:ext cx="3456384" cy="398462"/>
          </a:xfrm>
          <a:prstGeom prst="rect">
            <a:avLst/>
          </a:prstGeom>
          <a:solidFill>
            <a:srgbClr val="7030A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elements = ['a', 'b']</a:t>
            </a:r>
          </a:p>
          <a:p>
            <a:endParaRPr lang="de-DE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EBFEF86-8CBC-9F8C-FA84-7F5370FCDE9A}"/>
              </a:ext>
            </a:extLst>
          </p:cNvPr>
          <p:cNvSpPr/>
          <p:nvPr/>
        </p:nvSpPr>
        <p:spPr>
          <a:xfrm>
            <a:off x="4067944" y="1772816"/>
            <a:ext cx="288032" cy="216023"/>
          </a:xfrm>
          <a:prstGeom prst="ellipse">
            <a:avLst/>
          </a:prstGeom>
          <a:solidFill>
            <a:srgbClr val="7030A0"/>
          </a:solidFill>
          <a:ln>
            <a:solidFill>
              <a:srgbClr val="00206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293241-C385-031C-9E2B-7381091E3366}"/>
              </a:ext>
            </a:extLst>
          </p:cNvPr>
          <p:cNvSpPr/>
          <p:nvPr/>
        </p:nvSpPr>
        <p:spPr>
          <a:xfrm>
            <a:off x="3779912" y="2708919"/>
            <a:ext cx="864096" cy="720080"/>
          </a:xfrm>
          <a:prstGeom prst="rect">
            <a:avLst/>
          </a:prstGeom>
          <a:solidFill>
            <a:srgbClr val="7030A0"/>
          </a:solidFill>
          <a:ln>
            <a:solidFill>
              <a:srgbClr val="00206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45745E-C58B-4D1C-2FAA-9B8EC719D27D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4211960" y="1988839"/>
            <a:ext cx="0" cy="72008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A5C48DE7-9372-B01E-07C0-6932D800EF03}"/>
              </a:ext>
            </a:extLst>
          </p:cNvPr>
          <p:cNvSpPr/>
          <p:nvPr/>
        </p:nvSpPr>
        <p:spPr>
          <a:xfrm>
            <a:off x="4355976" y="2780929"/>
            <a:ext cx="288032" cy="216023"/>
          </a:xfrm>
          <a:prstGeom prst="ellipse">
            <a:avLst/>
          </a:prstGeom>
          <a:solidFill>
            <a:srgbClr val="7030A0"/>
          </a:solidFill>
          <a:ln>
            <a:solidFill>
              <a:srgbClr val="00206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E8BEAB4-3598-D174-382C-A556BB86922F}"/>
              </a:ext>
            </a:extLst>
          </p:cNvPr>
          <p:cNvSpPr/>
          <p:nvPr/>
        </p:nvSpPr>
        <p:spPr>
          <a:xfrm>
            <a:off x="4355976" y="3140968"/>
            <a:ext cx="288032" cy="216023"/>
          </a:xfrm>
          <a:prstGeom prst="ellipse">
            <a:avLst/>
          </a:prstGeom>
          <a:solidFill>
            <a:srgbClr val="7030A0"/>
          </a:solidFill>
          <a:ln>
            <a:solidFill>
              <a:srgbClr val="00206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234F598-D126-5F97-7194-B12681F31A96}"/>
              </a:ext>
            </a:extLst>
          </p:cNvPr>
          <p:cNvCxnSpPr>
            <a:cxnSpLocks/>
          </p:cNvCxnSpPr>
          <p:nvPr/>
        </p:nvCxnSpPr>
        <p:spPr>
          <a:xfrm>
            <a:off x="4644008" y="2852936"/>
            <a:ext cx="288032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5F4BB78-2930-25C2-B581-D8FC18B930ED}"/>
              </a:ext>
            </a:extLst>
          </p:cNvPr>
          <p:cNvSpPr/>
          <p:nvPr/>
        </p:nvSpPr>
        <p:spPr>
          <a:xfrm>
            <a:off x="4932040" y="2708919"/>
            <a:ext cx="323528" cy="288033"/>
          </a:xfrm>
          <a:prstGeom prst="rect">
            <a:avLst/>
          </a:prstGeom>
          <a:solidFill>
            <a:srgbClr val="7030A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065230B-1FAC-27DF-7487-A800053EC210}"/>
              </a:ext>
            </a:extLst>
          </p:cNvPr>
          <p:cNvCxnSpPr>
            <a:cxnSpLocks/>
          </p:cNvCxnSpPr>
          <p:nvPr/>
        </p:nvCxnSpPr>
        <p:spPr>
          <a:xfrm>
            <a:off x="4652392" y="3248982"/>
            <a:ext cx="288032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459F209-A06E-0FB0-28A0-5595B41AAF63}"/>
              </a:ext>
            </a:extLst>
          </p:cNvPr>
          <p:cNvSpPr/>
          <p:nvPr/>
        </p:nvSpPr>
        <p:spPr>
          <a:xfrm>
            <a:off x="4940424" y="3068960"/>
            <a:ext cx="323528" cy="288033"/>
          </a:xfrm>
          <a:prstGeom prst="rect">
            <a:avLst/>
          </a:prstGeom>
          <a:solidFill>
            <a:srgbClr val="7030A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C7BB87-7BB7-1E95-D6AA-639F3CBD6FF4}"/>
              </a:ext>
            </a:extLst>
          </p:cNvPr>
          <p:cNvSpPr txBox="1"/>
          <p:nvPr/>
        </p:nvSpPr>
        <p:spPr>
          <a:xfrm>
            <a:off x="4211960" y="1772816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elements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8824652-6778-0E03-0725-FEFD842E80FD}"/>
              </a:ext>
            </a:extLst>
          </p:cNvPr>
          <p:cNvGrpSpPr/>
          <p:nvPr/>
        </p:nvGrpSpPr>
        <p:grpSpPr>
          <a:xfrm>
            <a:off x="7452320" y="2132856"/>
            <a:ext cx="288032" cy="936103"/>
            <a:chOff x="5220072" y="4509121"/>
            <a:chExt cx="288032" cy="936103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27C9284-504F-7F2D-4ACA-11C0B30118A9}"/>
                </a:ext>
              </a:extLst>
            </p:cNvPr>
            <p:cNvSpPr/>
            <p:nvPr/>
          </p:nvSpPr>
          <p:spPr>
            <a:xfrm>
              <a:off x="5220072" y="4509121"/>
              <a:ext cx="288032" cy="2160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1B574A2-2A25-1F7F-7CCE-B2BB5B6ECDD2}"/>
                </a:ext>
              </a:extLst>
            </p:cNvPr>
            <p:cNvCxnSpPr>
              <a:cxnSpLocks/>
            </p:cNvCxnSpPr>
            <p:nvPr/>
          </p:nvCxnSpPr>
          <p:spPr>
            <a:xfrm>
              <a:off x="5364088" y="4725144"/>
              <a:ext cx="0" cy="7200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B4EC3E98-F2C4-6FD8-F6DB-362227A4433A}"/>
              </a:ext>
            </a:extLst>
          </p:cNvPr>
          <p:cNvSpPr txBox="1"/>
          <p:nvPr/>
        </p:nvSpPr>
        <p:spPr>
          <a:xfrm>
            <a:off x="7020272" y="170080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800" dirty="0">
                <a:solidFill>
                  <a:schemeClr val="tx1"/>
                </a:solidFill>
                <a:latin typeface="+mn-lt"/>
                <a:cs typeface="Courier New" panose="02070309020205020404" pitchFamily="49" charset="0"/>
              </a:rPr>
              <a:t>"Referenz"</a:t>
            </a:r>
          </a:p>
        </p:txBody>
      </p:sp>
    </p:spTree>
    <p:extLst>
      <p:ext uri="{BB962C8B-B14F-4D97-AF65-F5344CB8AC3E}">
        <p14:creationId xmlns:p14="http://schemas.microsoft.com/office/powerpoint/2010/main" val="54976203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7C33-1676-9BD2-4285-C2B002F5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Variable sind Referenzen im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D65B8-22BC-74AB-FE62-1D5F9DA8B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Alles, was wir bisher als "Variable" bezeichnet haben, ist eine Referenz</a:t>
            </a:r>
          </a:p>
          <a:p>
            <a:pPr lvl="1"/>
            <a:r>
              <a:rPr lang="de-DE" dirty="0"/>
              <a:t>Eine Referenz kann man als eine Art interne "Speicheradresse" auffassen</a:t>
            </a:r>
          </a:p>
          <a:p>
            <a:pPr lvl="2"/>
            <a:r>
              <a:rPr lang="de-DE" dirty="0"/>
              <a:t>Das wäre jedoch genauer ein "Pointer", mit denen in Sprachen wie C tatsächlich auch gerechnet werden kann</a:t>
            </a:r>
          </a:p>
          <a:p>
            <a:pPr lvl="2"/>
            <a:r>
              <a:rPr lang="de-DE" dirty="0"/>
              <a:t>Die Werte von Referenzen sind für Objektorientierte Programme vollkommen transparent</a:t>
            </a:r>
          </a:p>
          <a:p>
            <a:pPr lvl="3"/>
            <a:r>
              <a:rPr lang="de-DE" dirty="0"/>
              <a:t>also keinerlei "Referenzarithmetik" möglich!</a:t>
            </a:r>
          </a:p>
          <a:p>
            <a:r>
              <a:rPr lang="de-DE" dirty="0"/>
              <a:t>Eine Zuweisung an eine Variable setzt implizit deren Wert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63DBF-F7B2-DB27-4A38-14843BE6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2AF07-CAA5-AC5F-3358-B185172FB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528B4-CDC8-B478-6062-EBBB4346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107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9751135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FD62-89EF-FC85-F0D3-EED9E428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Literale erzeugen Objekte im Heap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E377F-5C27-E464-162C-2DC7ACEF6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Wird in einem Python-Programm beispielsweise eine String-Literal angegeben, so wird</a:t>
            </a:r>
          </a:p>
          <a:p>
            <a:pPr lvl="1"/>
            <a:r>
              <a:rPr lang="de-DE" dirty="0"/>
              <a:t>Im Heap Speicherplatz reserviert, um die Daten des Literals abzulegen</a:t>
            </a:r>
          </a:p>
          <a:p>
            <a:pPr lvl="1"/>
            <a:r>
              <a:rPr lang="de-DE" dirty="0"/>
              <a:t>Als Rückgabe dieser Aktion wird die Referenz zurückgegeben</a:t>
            </a:r>
          </a:p>
          <a:p>
            <a:pPr lvl="2"/>
            <a:r>
              <a:rPr lang="de-DE" dirty="0"/>
              <a:t>und diese dann eben einer Variablen zugewiesen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7CF78-0587-A81C-C941-F04A5A871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85E33-EC83-13CD-EBC3-7D5B7434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F8C9F-4187-B9AA-CF9A-5CFC9F31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108</a:t>
            </a:fld>
            <a:endParaRPr lang="de-DE" alt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626316-F2C9-40A5-9C44-F5B9DCA704E2}"/>
              </a:ext>
            </a:extLst>
          </p:cNvPr>
          <p:cNvSpPr/>
          <p:nvPr/>
        </p:nvSpPr>
        <p:spPr>
          <a:xfrm>
            <a:off x="395536" y="2996952"/>
            <a:ext cx="8064896" cy="935038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Eine durchaus interessante Frage ist, wer den Typ der Daten (str, float, list...) bestimmt: Referenz oder Objekt?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Diese Frage wird bei der Einführung der Klassen weiter unten beantwortet werden</a:t>
            </a:r>
          </a:p>
        </p:txBody>
      </p:sp>
    </p:spTree>
    <p:extLst>
      <p:ext uri="{BB962C8B-B14F-4D97-AF65-F5344CB8AC3E}">
        <p14:creationId xmlns:p14="http://schemas.microsoft.com/office/powerpoint/2010/main" val="362764223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D0EC-587F-30B0-D52C-2FE0CE21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so kompliziert?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FEF88-A72E-7A89-AFEC-ACEB5B032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Der Stack ist der Bereich, der der Programmierung zugeordnet ist</a:t>
            </a:r>
          </a:p>
          <a:p>
            <a:r>
              <a:rPr lang="de-DE" dirty="0"/>
              <a:t>Der Heap wird ausschließlich intern verwaltet</a:t>
            </a:r>
          </a:p>
          <a:p>
            <a:pPr lvl="1"/>
            <a:r>
              <a:rPr lang="de-DE" dirty="0"/>
              <a:t>Damit vermeiden Objektorientierte Sprachen manche komplexe und damit aufwändige und Fehleranfällige Konstrukte wie ein Reservieren von Speicher und dessen zwangsläufigem wieder freigeben</a:t>
            </a:r>
          </a:p>
          <a:p>
            <a:pPr lvl="1"/>
            <a:r>
              <a:rPr lang="de-DE" dirty="0"/>
              <a:t>Das macht eine sogenannte "Garbage Collction" automatisch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E0B8C-A03D-4FB8-AED5-DD0CFE7C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ECC18-5055-B21D-435D-77FE786F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39245-1489-7FEC-0700-5698E849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109</a:t>
            </a:fld>
            <a:endParaRPr lang="de-DE" altLang="de-D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F23BC55-2222-DFF3-3768-228AC04A2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0"/>
          <a:stretch>
            <a:fillRect/>
          </a:stretch>
        </p:blipFill>
        <p:spPr bwMode="auto">
          <a:xfrm>
            <a:off x="2123728" y="3140968"/>
            <a:ext cx="4388238" cy="2776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309614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>
            <a:extLst>
              <a:ext uri="{FF2B5EF4-FFF2-40B4-BE49-F238E27FC236}">
                <a16:creationId xmlns:a16="http://schemas.microsoft.com/office/drawing/2014/main" id="{A6431AB7-7485-5C9F-DE46-26A66BFED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Parameterübergabe per Referenz</a:t>
            </a:r>
          </a:p>
        </p:txBody>
      </p:sp>
      <p:sp>
        <p:nvSpPr>
          <p:cNvPr id="88067" name="Rectangle 5">
            <a:extLst>
              <a:ext uri="{FF2B5EF4-FFF2-40B4-BE49-F238E27FC236}">
                <a16:creationId xmlns:a16="http://schemas.microsoft.com/office/drawing/2014/main" id="{15EED632-8D25-5EEB-3FC1-CB8921CA2E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 dirty="0"/>
              <a:t>Komplexere Datentypen (Liste, Tupel, String und Dictionary) werden per Referenz übergeben</a:t>
            </a:r>
          </a:p>
          <a:p>
            <a:r>
              <a:rPr altLang="de-DE" dirty="0"/>
              <a:t>Änderungen an einem Parameter in einer Funktion wirken sich auf die Variable des Aufrufer aus</a:t>
            </a:r>
          </a:p>
          <a:p>
            <a:pPr lvl="1"/>
            <a:r>
              <a:rPr lang="de-DE" altLang="de-DE" dirty="0"/>
              <a:t>Es wird nicht automatisch eine Kopie des Wertes erzeugt!</a:t>
            </a:r>
            <a:endParaRPr altLang="de-DE" dirty="0"/>
          </a:p>
          <a:p>
            <a:endParaRPr alt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46A925-E59C-FCBB-FFD6-731BFD3B96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56FF220-8C6F-79D8-8461-2478FE0B8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080B5C-D0C7-DC34-A402-46E6C5DB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160A14B-FE2B-4EA4-9A3F-95673D57BC6D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110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AB6B44-6566-AFA6-A7CB-BB4FD1CD4615}"/>
              </a:ext>
            </a:extLst>
          </p:cNvPr>
          <p:cNvSpPr/>
          <p:nvPr/>
        </p:nvSpPr>
        <p:spPr>
          <a:xfrm>
            <a:off x="395536" y="2996952"/>
            <a:ext cx="8064896" cy="1656184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Dieses Verhalten einer Objektorientierten Sprache ist auf den ersten Blick etwas sperrig zu erläutern, entspricht aber exakt unserer täglichen Erfahrung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"Wenn zwei Personen Zugriff auf z.B. einen Kühlschrank haben und die erste Person etwas entnimmt wird Person 2 nicht erwarten, dass magischerweise noch alles da ist"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48C36F-21DC-E288-D9AE-437DBCFF96F2}"/>
              </a:ext>
            </a:extLst>
          </p:cNvPr>
          <p:cNvSpPr/>
          <p:nvPr/>
        </p:nvSpPr>
        <p:spPr>
          <a:xfrm>
            <a:off x="395536" y="4797152"/>
            <a:ext cx="8064896" cy="719857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Zum Begreifen dieses Verhaltens ist der Debugger äußerst hilfreich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Das Beispiel </a:t>
            </a:r>
            <a:r>
              <a:rPr lang="de-D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references.py</a:t>
            </a:r>
            <a:r>
              <a:rPr lang="de-DE" dirty="0">
                <a:solidFill>
                  <a:schemeClr val="tx1"/>
                </a:solidFill>
              </a:rPr>
              <a:t> ist hierfür hilfreich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E370C4-43C9-3DF8-0E0B-60A17E006B5C}"/>
              </a:ext>
            </a:extLst>
          </p:cNvPr>
          <p:cNvSpPr/>
          <p:nvPr/>
        </p:nvSpPr>
        <p:spPr>
          <a:xfrm>
            <a:off x="395536" y="5661471"/>
            <a:ext cx="8064896" cy="719857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Auch der Rückgabewert einer Funktion ist eine Referenz </a:t>
            </a:r>
          </a:p>
        </p:txBody>
      </p:sp>
    </p:spTree>
  </p:cSld>
  <p:clrMapOvr>
    <a:masterClrMapping/>
  </p:clrMapOvr>
  <p:transition spd="med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Objektorientierte Programmierung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0BC94B-0D5A-0D7B-D04F-4F19916C1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10</a:t>
            </a:r>
          </a:p>
        </p:txBody>
      </p:sp>
      <p:sp>
        <p:nvSpPr>
          <p:cNvPr id="701" name="Google Shape;701;p8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111</a:t>
            </a:fld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C9705-136D-7298-2E52-9F7F359A9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 OOP-Ansatz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CF7EB-767D-3DBE-6894-63B2BD0A1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10.1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DEEA7-CF0F-AAE3-E49E-107935DD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F09A3-8181-2ACC-BD53-5B469890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0420D-C483-0510-EDDD-6AF75B97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112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1297163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itle 1">
            <a:extLst>
              <a:ext uri="{FF2B5EF4-FFF2-40B4-BE49-F238E27FC236}">
                <a16:creationId xmlns:a16="http://schemas.microsoft.com/office/drawing/2014/main" id="{614CB4B5-144B-A98F-1E2A-8A524C3FA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Das Problem</a:t>
            </a:r>
          </a:p>
        </p:txBody>
      </p:sp>
      <p:sp>
        <p:nvSpPr>
          <p:cNvPr id="135171" name="Inhaltsplatzhalter 2">
            <a:extLst>
              <a:ext uri="{FF2B5EF4-FFF2-40B4-BE49-F238E27FC236}">
                <a16:creationId xmlns:a16="http://schemas.microsoft.com/office/drawing/2014/main" id="{2CA86779-68FA-055C-F22D-E3AE8C095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Komplexes, ungeordnetes System, Zusammenhänge?</a:t>
            </a:r>
          </a:p>
          <a:p>
            <a:pPr lvl="1"/>
            <a:r>
              <a:rPr altLang="de-DE"/>
              <a:t>Was ist wesentlich, was unwesentlich?</a:t>
            </a:r>
          </a:p>
          <a:p>
            <a:pPr lvl="1"/>
            <a:r>
              <a:rPr altLang="de-DE"/>
              <a:t>Existieren Abhängigkeiten?</a:t>
            </a:r>
          </a:p>
          <a:p>
            <a:endParaRPr alt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A3388A-0F1E-856F-6698-4F1889B4505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79629A-4A92-79CD-DD9B-BB6935EF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altLang="de-DE"/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2B5533-C88E-1FA4-C509-B0FDB4E6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de-DE" sz="1000" b="0">
                <a:solidFill>
                  <a:srgbClr val="A7A7A7"/>
                </a:solidFill>
              </a:rPr>
              <a:t> Seite </a:t>
            </a:r>
            <a:fld id="{9E42C9B5-B78A-441B-AD18-EC8CF6F0D97F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113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grpSp>
        <p:nvGrpSpPr>
          <p:cNvPr id="135175" name="Group 28">
            <a:extLst>
              <a:ext uri="{FF2B5EF4-FFF2-40B4-BE49-F238E27FC236}">
                <a16:creationId xmlns:a16="http://schemas.microsoft.com/office/drawing/2014/main" id="{68E4E7B8-24FF-3A24-64D2-F248BC96F46B}"/>
              </a:ext>
            </a:extLst>
          </p:cNvPr>
          <p:cNvGrpSpPr>
            <a:grpSpLocks/>
          </p:cNvGrpSpPr>
          <p:nvPr/>
        </p:nvGrpSpPr>
        <p:grpSpPr bwMode="auto">
          <a:xfrm>
            <a:off x="1892300" y="2393950"/>
            <a:ext cx="5318125" cy="3316288"/>
            <a:chOff x="1855" y="978"/>
            <a:chExt cx="2533" cy="1451"/>
          </a:xfrm>
        </p:grpSpPr>
        <p:sp>
          <p:nvSpPr>
            <p:cNvPr id="135176" name="Rectangle 3">
              <a:extLst>
                <a:ext uri="{FF2B5EF4-FFF2-40B4-BE49-F238E27FC236}">
                  <a16:creationId xmlns:a16="http://schemas.microsoft.com/office/drawing/2014/main" id="{9B148872-9468-79E9-122E-322AE7083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978"/>
              <a:ext cx="2533" cy="145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  <p:sp>
          <p:nvSpPr>
            <p:cNvPr id="135177" name="AutoShape 4">
              <a:extLst>
                <a:ext uri="{FF2B5EF4-FFF2-40B4-BE49-F238E27FC236}">
                  <a16:creationId xmlns:a16="http://schemas.microsoft.com/office/drawing/2014/main" id="{7266D2DB-C824-4C39-30A9-80D024C01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" y="1103"/>
              <a:ext cx="152" cy="124"/>
            </a:xfrm>
            <a:prstGeom prst="rtTriangl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  <p:sp>
          <p:nvSpPr>
            <p:cNvPr id="135178" name="Rectangle 5">
              <a:extLst>
                <a:ext uri="{FF2B5EF4-FFF2-40B4-BE49-F238E27FC236}">
                  <a16:creationId xmlns:a16="http://schemas.microsoft.com/office/drawing/2014/main" id="{B58ECD02-D9D3-DED9-03E6-C11BB68E7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" y="1186"/>
              <a:ext cx="202" cy="12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  <p:sp>
          <p:nvSpPr>
            <p:cNvPr id="135179" name="AutoShape 6">
              <a:extLst>
                <a:ext uri="{FF2B5EF4-FFF2-40B4-BE49-F238E27FC236}">
                  <a16:creationId xmlns:a16="http://schemas.microsoft.com/office/drawing/2014/main" id="{C463C3DA-DBD9-F104-D335-B95B22B3A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" y="1186"/>
              <a:ext cx="202" cy="165"/>
            </a:xfrm>
            <a:prstGeom prst="hexagon">
              <a:avLst>
                <a:gd name="adj" fmla="val 30606"/>
                <a:gd name="vf" fmla="val 115470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  <p:sp>
          <p:nvSpPr>
            <p:cNvPr id="135180" name="AutoShape 7">
              <a:extLst>
                <a:ext uri="{FF2B5EF4-FFF2-40B4-BE49-F238E27FC236}">
                  <a16:creationId xmlns:a16="http://schemas.microsoft.com/office/drawing/2014/main" id="{C2271206-AE41-C0E1-5161-4C9A3E937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1" y="1642"/>
              <a:ext cx="202" cy="165"/>
            </a:xfrm>
            <a:prstGeom prst="hexagon">
              <a:avLst>
                <a:gd name="adj" fmla="val 30606"/>
                <a:gd name="vf" fmla="val 11547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  <p:sp>
          <p:nvSpPr>
            <p:cNvPr id="135181" name="Rectangle 8">
              <a:extLst>
                <a:ext uri="{FF2B5EF4-FFF2-40B4-BE49-F238E27FC236}">
                  <a16:creationId xmlns:a16="http://schemas.microsoft.com/office/drawing/2014/main" id="{E87AD011-03C2-6EC9-C9F2-889DB2466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2181"/>
              <a:ext cx="203" cy="12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  <p:sp>
          <p:nvSpPr>
            <p:cNvPr id="135182" name="Rectangle 9">
              <a:extLst>
                <a:ext uri="{FF2B5EF4-FFF2-40B4-BE49-F238E27FC236}">
                  <a16:creationId xmlns:a16="http://schemas.microsoft.com/office/drawing/2014/main" id="{FD82EDDE-5FD4-DC68-B150-68C9688CF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434"/>
              <a:ext cx="253" cy="20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  <p:sp>
          <p:nvSpPr>
            <p:cNvPr id="135183" name="Rectangle 10">
              <a:extLst>
                <a:ext uri="{FF2B5EF4-FFF2-40B4-BE49-F238E27FC236}">
                  <a16:creationId xmlns:a16="http://schemas.microsoft.com/office/drawing/2014/main" id="{BF59D8C6-C7A4-830C-5BC4-18E371896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7" y="1932"/>
              <a:ext cx="152" cy="12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  <p:sp>
          <p:nvSpPr>
            <p:cNvPr id="135184" name="Text Box 11">
              <a:extLst>
                <a:ext uri="{FF2B5EF4-FFF2-40B4-BE49-F238E27FC236}">
                  <a16:creationId xmlns:a16="http://schemas.microsoft.com/office/drawing/2014/main" id="{A70D3552-7BB8-A24E-6EE3-2A5AA9BB0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0" y="1476"/>
              <a:ext cx="25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sz="24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35185" name="Text Box 12">
              <a:extLst>
                <a:ext uri="{FF2B5EF4-FFF2-40B4-BE49-F238E27FC236}">
                  <a16:creationId xmlns:a16="http://schemas.microsoft.com/office/drawing/2014/main" id="{BB001F22-72EF-1B0D-74A1-12C55676E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1061"/>
              <a:ext cx="25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sz="24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35186" name="Text Box 13">
              <a:extLst>
                <a:ext uri="{FF2B5EF4-FFF2-40B4-BE49-F238E27FC236}">
                  <a16:creationId xmlns:a16="http://schemas.microsoft.com/office/drawing/2014/main" id="{B02078A8-6B47-F697-1B87-2AB92FEBC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9" y="1766"/>
              <a:ext cx="253" cy="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sz="1800" b="0">
                  <a:solidFill>
                    <a:srgbClr val="3333FF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35187" name="Text Box 14">
              <a:extLst>
                <a:ext uri="{FF2B5EF4-FFF2-40B4-BE49-F238E27FC236}">
                  <a16:creationId xmlns:a16="http://schemas.microsoft.com/office/drawing/2014/main" id="{0B5EC570-01FE-0253-1F5B-75D66BE4B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3" y="1144"/>
              <a:ext cx="25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sz="24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35188" name="Text Box 15">
              <a:extLst>
                <a:ext uri="{FF2B5EF4-FFF2-40B4-BE49-F238E27FC236}">
                  <a16:creationId xmlns:a16="http://schemas.microsoft.com/office/drawing/2014/main" id="{87F9D32A-3725-E138-1F32-8028B1801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2" y="2056"/>
              <a:ext cx="253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sz="2000">
                  <a:solidFill>
                    <a:schemeClr val="tx1"/>
                  </a:solidFill>
                  <a:latin typeface="Broadway" panose="04040905080B02020502" pitchFamily="82" charset="0"/>
                </a:rPr>
                <a:t>A</a:t>
              </a:r>
            </a:p>
          </p:txBody>
        </p:sp>
        <p:sp>
          <p:nvSpPr>
            <p:cNvPr id="135189" name="Text Box 16">
              <a:extLst>
                <a:ext uri="{FF2B5EF4-FFF2-40B4-BE49-F238E27FC236}">
                  <a16:creationId xmlns:a16="http://schemas.microsoft.com/office/drawing/2014/main" id="{EBA4BF16-E1D5-7CDE-0557-74378214B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2056"/>
              <a:ext cx="25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sz="24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5190" name="Text Box 17">
              <a:extLst>
                <a:ext uri="{FF2B5EF4-FFF2-40B4-BE49-F238E27FC236}">
                  <a16:creationId xmlns:a16="http://schemas.microsoft.com/office/drawing/2014/main" id="{20C28BEB-BB92-F1B7-5293-EB024045F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6" y="1559"/>
              <a:ext cx="25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sz="24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35191" name="Text Box 18">
              <a:extLst>
                <a:ext uri="{FF2B5EF4-FFF2-40B4-BE49-F238E27FC236}">
                  <a16:creationId xmlns:a16="http://schemas.microsoft.com/office/drawing/2014/main" id="{B682DDA2-5BE0-4D37-05AE-31CDE23A2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2" y="2139"/>
              <a:ext cx="25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sz="24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35192" name="Text Box 19">
              <a:extLst>
                <a:ext uri="{FF2B5EF4-FFF2-40B4-BE49-F238E27FC236}">
                  <a16:creationId xmlns:a16="http://schemas.microsoft.com/office/drawing/2014/main" id="{6422E3F1-1D1A-9700-D699-4F7FF8255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3" y="1593"/>
              <a:ext cx="13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5193" name="Text Box 20">
              <a:extLst>
                <a:ext uri="{FF2B5EF4-FFF2-40B4-BE49-F238E27FC236}">
                  <a16:creationId xmlns:a16="http://schemas.microsoft.com/office/drawing/2014/main" id="{631EA0A0-37F0-2DF0-464D-169560A50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4" y="1559"/>
              <a:ext cx="170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-3</a:t>
              </a:r>
            </a:p>
          </p:txBody>
        </p:sp>
        <p:sp>
          <p:nvSpPr>
            <p:cNvPr id="135194" name="Text Box 21">
              <a:extLst>
                <a:ext uri="{FF2B5EF4-FFF2-40B4-BE49-F238E27FC236}">
                  <a16:creationId xmlns:a16="http://schemas.microsoft.com/office/drawing/2014/main" id="{A662F36C-EAD6-7CA1-08E9-F36568573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7" y="1393"/>
              <a:ext cx="186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22</a:t>
              </a:r>
            </a:p>
          </p:txBody>
        </p:sp>
        <p:sp>
          <p:nvSpPr>
            <p:cNvPr id="135195" name="Text Box 22">
              <a:extLst>
                <a:ext uri="{FF2B5EF4-FFF2-40B4-BE49-F238E27FC236}">
                  <a16:creationId xmlns:a16="http://schemas.microsoft.com/office/drawing/2014/main" id="{0F9E2AED-9B10-F9B9-17A7-92D497668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8" y="2139"/>
              <a:ext cx="13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35196" name="Text Box 23">
              <a:extLst>
                <a:ext uri="{FF2B5EF4-FFF2-40B4-BE49-F238E27FC236}">
                  <a16:creationId xmlns:a16="http://schemas.microsoft.com/office/drawing/2014/main" id="{5CED2E4C-017A-A9E6-3E15-E49522F84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3" y="1310"/>
              <a:ext cx="182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e-DE" b="0">
                  <a:solidFill>
                    <a:srgbClr val="3333FF"/>
                  </a:solidFill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135197" name="AutoShape 24">
              <a:extLst>
                <a:ext uri="{FF2B5EF4-FFF2-40B4-BE49-F238E27FC236}">
                  <a16:creationId xmlns:a16="http://schemas.microsoft.com/office/drawing/2014/main" id="{3B60C657-4BE2-900F-CDA9-C858B1F66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1890"/>
              <a:ext cx="304" cy="249"/>
            </a:xfrm>
            <a:prstGeom prst="hexagon">
              <a:avLst>
                <a:gd name="adj" fmla="val 30522"/>
                <a:gd name="vf" fmla="val 11547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</p:grpSp>
    </p:spTree>
    <p:extLst>
      <p:ext uri="{BB962C8B-B14F-4D97-AF65-F5344CB8AC3E}">
        <p14:creationId xmlns:p14="http://schemas.microsoft.com/office/powerpoint/2010/main" val="3647329720"/>
      </p:ext>
    </p:extLst>
  </p:cSld>
  <p:clrMapOvr>
    <a:masterClrMapping/>
  </p:clrMapOvr>
  <p:transition spd="slow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itle 1">
            <a:extLst>
              <a:ext uri="{FF2B5EF4-FFF2-40B4-BE49-F238E27FC236}">
                <a16:creationId xmlns:a16="http://schemas.microsoft.com/office/drawing/2014/main" id="{C7854477-A6C4-6391-FBE7-3AD2582C37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Der objektorientierte Ansatz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6F93E876-0C24-A529-5B57-165E1444C5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Vorgehensweise</a:t>
            </a:r>
          </a:p>
          <a:p>
            <a:pPr lvl="1"/>
            <a:r>
              <a:rPr altLang="de-DE"/>
              <a:t>Klassifizieren</a:t>
            </a:r>
          </a:p>
          <a:p>
            <a:pPr lvl="1"/>
            <a:r>
              <a:rPr altLang="de-DE"/>
              <a:t>Abstrahieren</a:t>
            </a:r>
          </a:p>
          <a:p>
            <a:pPr lvl="1"/>
            <a:r>
              <a:rPr altLang="de-DE"/>
              <a:t>Ordnen, Bilden von Hierarchien</a:t>
            </a:r>
          </a:p>
          <a:p>
            <a:r>
              <a:rPr altLang="de-DE"/>
              <a:t>Ein "menschlicher" Lösungsansatz!</a:t>
            </a:r>
            <a:endParaRPr lang="de-AT" alt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4DBBE6-DC1D-1F9E-6963-D8E1281479A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BE533D-143E-9FDF-4AE4-44704EEF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altLang="de-DE"/>
              <a:t>Python 3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2A9459A-6B48-7AE6-CD3E-40C3EEFC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de-DE" sz="1000" b="0">
                <a:solidFill>
                  <a:srgbClr val="A7A7A7"/>
                </a:solidFill>
              </a:rPr>
              <a:t> Seite </a:t>
            </a:r>
            <a:fld id="{ABC612FD-8514-4FC7-A217-1E0D7FA75142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114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717478"/>
      </p:ext>
    </p:extLst>
  </p:cSld>
  <p:clrMapOvr>
    <a:masterClrMapping/>
  </p:clrMapOvr>
  <p:transition spd="slow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2C823647-5BD4-DCA2-BC46-E739E8FED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/>
              <a:t>Klassifizieren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FE7F4B-FB3A-DA7D-072E-FCECC482DBD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FC9792-EEA5-21A9-DA61-A5E0B9EB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altLang="de-DE"/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8513BA-E1D1-0107-64AF-053575F6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de-DE" sz="1000" b="0">
                <a:solidFill>
                  <a:srgbClr val="A7A7A7"/>
                </a:solidFill>
              </a:rPr>
              <a:t> Seite </a:t>
            </a:r>
            <a:fld id="{9E01417B-F8F3-4462-A96B-0825DCB68F85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115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grpSp>
        <p:nvGrpSpPr>
          <p:cNvPr id="137222" name="Gruppieren 1">
            <a:extLst>
              <a:ext uri="{FF2B5EF4-FFF2-40B4-BE49-F238E27FC236}">
                <a16:creationId xmlns:a16="http://schemas.microsoft.com/office/drawing/2014/main" id="{765A2835-7772-6EFB-3039-4E0207A85507}"/>
              </a:ext>
            </a:extLst>
          </p:cNvPr>
          <p:cNvGrpSpPr>
            <a:grpSpLocks/>
          </p:cNvGrpSpPr>
          <p:nvPr/>
        </p:nvGrpSpPr>
        <p:grpSpPr bwMode="auto">
          <a:xfrm>
            <a:off x="492125" y="1557338"/>
            <a:ext cx="7864475" cy="3152775"/>
            <a:chOff x="492125" y="1557338"/>
            <a:chExt cx="7864475" cy="3152775"/>
          </a:xfrm>
        </p:grpSpPr>
        <p:grpSp>
          <p:nvGrpSpPr>
            <p:cNvPr id="137223" name="Group 75">
              <a:extLst>
                <a:ext uri="{FF2B5EF4-FFF2-40B4-BE49-F238E27FC236}">
                  <a16:creationId xmlns:a16="http://schemas.microsoft.com/office/drawing/2014/main" id="{BA245E84-EE73-A48E-4036-E9C64D4F9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6288" y="2143125"/>
              <a:ext cx="3768725" cy="587375"/>
              <a:chOff x="3130" y="1350"/>
              <a:chExt cx="2573" cy="370"/>
            </a:xfrm>
          </p:grpSpPr>
          <p:sp>
            <p:nvSpPr>
              <p:cNvPr id="137265" name="AutoShape 8">
                <a:extLst>
                  <a:ext uri="{FF2B5EF4-FFF2-40B4-BE49-F238E27FC236}">
                    <a16:creationId xmlns:a16="http://schemas.microsoft.com/office/drawing/2014/main" id="{D478385A-107A-5738-EC3A-19EFA15CCF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1" y="1397"/>
                <a:ext cx="328" cy="277"/>
              </a:xfrm>
              <a:prstGeom prst="hexagon">
                <a:avLst>
                  <a:gd name="adj" fmla="val 29603"/>
                  <a:gd name="vf" fmla="val 11547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66" name="Rectangle 25">
                <a:extLst>
                  <a:ext uri="{FF2B5EF4-FFF2-40B4-BE49-F238E27FC236}">
                    <a16:creationId xmlns:a16="http://schemas.microsoft.com/office/drawing/2014/main" id="{645E8523-351C-317C-E2C5-3302E2233C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" y="1350"/>
                <a:ext cx="2573" cy="37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67" name="AutoShape 28">
                <a:extLst>
                  <a:ext uri="{FF2B5EF4-FFF2-40B4-BE49-F238E27FC236}">
                    <a16:creationId xmlns:a16="http://schemas.microsoft.com/office/drawing/2014/main" id="{72D9A9AF-FE90-A09A-92BA-9679E668C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0" y="1443"/>
                <a:ext cx="165" cy="138"/>
              </a:xfrm>
              <a:prstGeom prst="rtTriangl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68" name="Rectangle 29">
                <a:extLst>
                  <a:ext uri="{FF2B5EF4-FFF2-40B4-BE49-F238E27FC236}">
                    <a16:creationId xmlns:a16="http://schemas.microsoft.com/office/drawing/2014/main" id="{CA48837C-2174-4863-7D5F-34E48CFAE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1397"/>
                <a:ext cx="274" cy="23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69" name="Rectangle 30">
                <a:extLst>
                  <a:ext uri="{FF2B5EF4-FFF2-40B4-BE49-F238E27FC236}">
                    <a16:creationId xmlns:a16="http://schemas.microsoft.com/office/drawing/2014/main" id="{809911E4-609F-90ED-886B-0523A398DF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7" y="1443"/>
                <a:ext cx="219" cy="13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70" name="AutoShape 31">
                <a:extLst>
                  <a:ext uri="{FF2B5EF4-FFF2-40B4-BE49-F238E27FC236}">
                    <a16:creationId xmlns:a16="http://schemas.microsoft.com/office/drawing/2014/main" id="{79E03FAB-D3AD-32BD-24FB-8A93487D5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443"/>
                <a:ext cx="219" cy="184"/>
              </a:xfrm>
              <a:prstGeom prst="hexagon">
                <a:avLst>
                  <a:gd name="adj" fmla="val 29755"/>
                  <a:gd name="vf" fmla="val 115470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71" name="Rectangle 32">
                <a:extLst>
                  <a:ext uri="{FF2B5EF4-FFF2-40B4-BE49-F238E27FC236}">
                    <a16:creationId xmlns:a16="http://schemas.microsoft.com/office/drawing/2014/main" id="{A08EC0B7-6906-493E-04D0-7FDFB403C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4" y="1443"/>
                <a:ext cx="219" cy="13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72" name="AutoShape 33">
                <a:extLst>
                  <a:ext uri="{FF2B5EF4-FFF2-40B4-BE49-F238E27FC236}">
                    <a16:creationId xmlns:a16="http://schemas.microsoft.com/office/drawing/2014/main" id="{448EBFA9-65A2-E696-0EFB-A9EE7D87D4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8" y="1443"/>
                <a:ext cx="219" cy="184"/>
              </a:xfrm>
              <a:prstGeom prst="hexagon">
                <a:avLst>
                  <a:gd name="adj" fmla="val 29755"/>
                  <a:gd name="vf" fmla="val 115470"/>
                </a:avLst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73" name="Rectangle 34">
                <a:extLst>
                  <a:ext uri="{FF2B5EF4-FFF2-40B4-BE49-F238E27FC236}">
                    <a16:creationId xmlns:a16="http://schemas.microsoft.com/office/drawing/2014/main" id="{52D13EF3-5986-2D51-D23B-B52D95FCC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2" y="1443"/>
                <a:ext cx="164" cy="13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</p:grpSp>
        <p:grpSp>
          <p:nvGrpSpPr>
            <p:cNvPr id="137224" name="Group 76">
              <a:extLst>
                <a:ext uri="{FF2B5EF4-FFF2-40B4-BE49-F238E27FC236}">
                  <a16:creationId xmlns:a16="http://schemas.microsoft.com/office/drawing/2014/main" id="{61ED99CA-DB20-46B0-A106-F2F6DEE283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7875" y="3097213"/>
              <a:ext cx="3768725" cy="658812"/>
              <a:chOff x="3131" y="1951"/>
              <a:chExt cx="2573" cy="415"/>
            </a:xfrm>
          </p:grpSpPr>
          <p:sp>
            <p:nvSpPr>
              <p:cNvPr id="137256" name="Rectangle 26">
                <a:extLst>
                  <a:ext uri="{FF2B5EF4-FFF2-40B4-BE49-F238E27FC236}">
                    <a16:creationId xmlns:a16="http://schemas.microsoft.com/office/drawing/2014/main" id="{AAB2E8FD-D98C-3956-29E6-25ED32290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1" y="1951"/>
                <a:ext cx="2573" cy="41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57" name="Text Box 37">
                <a:extLst>
                  <a:ext uri="{FF2B5EF4-FFF2-40B4-BE49-F238E27FC236}">
                    <a16:creationId xmlns:a16="http://schemas.microsoft.com/office/drawing/2014/main" id="{A4EBF78A-392F-F4F2-10DB-3E60A12EA7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0" y="1997"/>
                <a:ext cx="2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137258" name="Text Box 38">
                <a:extLst>
                  <a:ext uri="{FF2B5EF4-FFF2-40B4-BE49-F238E27FC236}">
                    <a16:creationId xmlns:a16="http://schemas.microsoft.com/office/drawing/2014/main" id="{8C01A056-6F26-B27D-8227-5DB8413B19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4" y="1997"/>
                <a:ext cx="2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137259" name="Text Box 39">
                <a:extLst>
                  <a:ext uri="{FF2B5EF4-FFF2-40B4-BE49-F238E27FC236}">
                    <a16:creationId xmlns:a16="http://schemas.microsoft.com/office/drawing/2014/main" id="{4EB69D80-B706-F914-8312-A55651752A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3" y="1997"/>
                <a:ext cx="2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137260" name="Text Box 40">
                <a:extLst>
                  <a:ext uri="{FF2B5EF4-FFF2-40B4-BE49-F238E27FC236}">
                    <a16:creationId xmlns:a16="http://schemas.microsoft.com/office/drawing/2014/main" id="{9EBCEB0B-0230-AC11-E9D4-41162BB98F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2" y="1997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j</a:t>
                </a:r>
              </a:p>
            </p:txBody>
          </p:sp>
          <p:sp>
            <p:nvSpPr>
              <p:cNvPr id="137261" name="Text Box 41">
                <a:extLst>
                  <a:ext uri="{FF2B5EF4-FFF2-40B4-BE49-F238E27FC236}">
                    <a16:creationId xmlns:a16="http://schemas.microsoft.com/office/drawing/2014/main" id="{5EC124B1-E5AF-42E4-E3B2-E8CE6069CF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6" y="1997"/>
                <a:ext cx="2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37262" name="Text Box 42">
                <a:extLst>
                  <a:ext uri="{FF2B5EF4-FFF2-40B4-BE49-F238E27FC236}">
                    <a16:creationId xmlns:a16="http://schemas.microsoft.com/office/drawing/2014/main" id="{E23BE621-9D7C-ED02-A237-F838FE405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4" y="1997"/>
                <a:ext cx="2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37263" name="Text Box 43">
                <a:extLst>
                  <a:ext uri="{FF2B5EF4-FFF2-40B4-BE49-F238E27FC236}">
                    <a16:creationId xmlns:a16="http://schemas.microsoft.com/office/drawing/2014/main" id="{880F0B50-CCFD-10D7-227A-547A44A54A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3" y="1997"/>
                <a:ext cx="27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000" b="0">
                    <a:solidFill>
                      <a:schemeClr val="tx1"/>
                    </a:solidFill>
                    <a:latin typeface="Broadway" panose="04040905080B02020502" pitchFamily="82" charset="0"/>
                  </a:rPr>
                  <a:t>A</a:t>
                </a:r>
              </a:p>
            </p:txBody>
          </p:sp>
          <p:sp>
            <p:nvSpPr>
              <p:cNvPr id="137264" name="Text Box 44">
                <a:extLst>
                  <a:ext uri="{FF2B5EF4-FFF2-40B4-BE49-F238E27FC236}">
                    <a16:creationId xmlns:a16="http://schemas.microsoft.com/office/drawing/2014/main" id="{4676CE00-1D2D-4EB6-F40E-617CD1BEF7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6" y="1997"/>
                <a:ext cx="27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1800" b="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grpSp>
          <p:nvGrpSpPr>
            <p:cNvPr id="137225" name="Group 77">
              <a:extLst>
                <a:ext uri="{FF2B5EF4-FFF2-40B4-BE49-F238E27FC236}">
                  <a16:creationId xmlns:a16="http://schemas.microsoft.com/office/drawing/2014/main" id="{9E5C8937-6256-8590-D014-1FC009912F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7875" y="4049713"/>
              <a:ext cx="3768725" cy="660400"/>
              <a:chOff x="3131" y="2551"/>
              <a:chExt cx="2573" cy="416"/>
            </a:xfrm>
          </p:grpSpPr>
          <p:sp>
            <p:nvSpPr>
              <p:cNvPr id="137250" name="Rectangle 27">
                <a:extLst>
                  <a:ext uri="{FF2B5EF4-FFF2-40B4-BE49-F238E27FC236}">
                    <a16:creationId xmlns:a16="http://schemas.microsoft.com/office/drawing/2014/main" id="{C1BE1DC2-A0E8-7A2F-6F03-84764B9E79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1" y="2551"/>
                <a:ext cx="2573" cy="41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51" name="Text Box 45">
                <a:extLst>
                  <a:ext uri="{FF2B5EF4-FFF2-40B4-BE49-F238E27FC236}">
                    <a16:creationId xmlns:a16="http://schemas.microsoft.com/office/drawing/2014/main" id="{6FD995B0-E526-0F24-0A17-FDFE888D42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0" y="2643"/>
                <a:ext cx="19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7252" name="Text Box 46">
                <a:extLst>
                  <a:ext uri="{FF2B5EF4-FFF2-40B4-BE49-F238E27FC236}">
                    <a16:creationId xmlns:a16="http://schemas.microsoft.com/office/drawing/2014/main" id="{927928DD-E424-0A69-E85C-CAC8A19273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9" y="2643"/>
                <a:ext cx="26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22</a:t>
                </a:r>
              </a:p>
            </p:txBody>
          </p:sp>
          <p:sp>
            <p:nvSpPr>
              <p:cNvPr id="137253" name="Text Box 47">
                <a:extLst>
                  <a:ext uri="{FF2B5EF4-FFF2-40B4-BE49-F238E27FC236}">
                    <a16:creationId xmlns:a16="http://schemas.microsoft.com/office/drawing/2014/main" id="{357DA8A1-E5A0-DF7C-AD9C-541C0C2BF5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3" y="2643"/>
                <a:ext cx="26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11</a:t>
                </a:r>
              </a:p>
            </p:txBody>
          </p:sp>
          <p:sp>
            <p:nvSpPr>
              <p:cNvPr id="137254" name="Text Box 48">
                <a:extLst>
                  <a:ext uri="{FF2B5EF4-FFF2-40B4-BE49-F238E27FC236}">
                    <a16:creationId xmlns:a16="http://schemas.microsoft.com/office/drawing/2014/main" id="{E24726A9-9649-CB16-43A2-FE405C60A2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7" y="2643"/>
                <a:ext cx="243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-3</a:t>
                </a:r>
              </a:p>
            </p:txBody>
          </p:sp>
          <p:sp>
            <p:nvSpPr>
              <p:cNvPr id="137255" name="Text Box 49">
                <a:extLst>
                  <a:ext uri="{FF2B5EF4-FFF2-40B4-BE49-F238E27FC236}">
                    <a16:creationId xmlns:a16="http://schemas.microsoft.com/office/drawing/2014/main" id="{5F991267-8A90-E9A6-65E4-3196EFF637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1" y="2643"/>
                <a:ext cx="19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</p:grpSp>
        <p:sp>
          <p:nvSpPr>
            <p:cNvPr id="137226" name="AutoShape 50">
              <a:extLst>
                <a:ext uri="{FF2B5EF4-FFF2-40B4-BE49-F238E27FC236}">
                  <a16:creationId xmlns:a16="http://schemas.microsoft.com/office/drawing/2014/main" id="{28BE4467-2859-256A-1F72-C4CCE8C19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63" y="1557338"/>
              <a:ext cx="2727325" cy="512762"/>
            </a:xfrm>
            <a:prstGeom prst="curvedDownArrow">
              <a:avLst>
                <a:gd name="adj1" fmla="val 115243"/>
                <a:gd name="adj2" fmla="val 230535"/>
                <a:gd name="adj3" fmla="val 33333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  <p:grpSp>
          <p:nvGrpSpPr>
            <p:cNvPr id="137227" name="Group 52">
              <a:extLst>
                <a:ext uri="{FF2B5EF4-FFF2-40B4-BE49-F238E27FC236}">
                  <a16:creationId xmlns:a16="http://schemas.microsoft.com/office/drawing/2014/main" id="{B45D1CDD-CB1A-E810-CECF-92EBCC352B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125" y="2276475"/>
              <a:ext cx="3711575" cy="2303463"/>
              <a:chOff x="1855" y="978"/>
              <a:chExt cx="2533" cy="1451"/>
            </a:xfrm>
          </p:grpSpPr>
          <p:sp>
            <p:nvSpPr>
              <p:cNvPr id="137228" name="Rectangle 53">
                <a:extLst>
                  <a:ext uri="{FF2B5EF4-FFF2-40B4-BE49-F238E27FC236}">
                    <a16:creationId xmlns:a16="http://schemas.microsoft.com/office/drawing/2014/main" id="{34E8DAE9-1959-9F02-D55F-A2910BE44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5" y="978"/>
                <a:ext cx="2533" cy="145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29" name="AutoShape 54">
                <a:extLst>
                  <a:ext uri="{FF2B5EF4-FFF2-40B4-BE49-F238E27FC236}">
                    <a16:creationId xmlns:a16="http://schemas.microsoft.com/office/drawing/2014/main" id="{99900101-B247-9DCC-32BC-27E77C963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8" y="1103"/>
                <a:ext cx="152" cy="124"/>
              </a:xfrm>
              <a:prstGeom prst="rtTriangl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30" name="Rectangle 55">
                <a:extLst>
                  <a:ext uri="{FF2B5EF4-FFF2-40B4-BE49-F238E27FC236}">
                    <a16:creationId xmlns:a16="http://schemas.microsoft.com/office/drawing/2014/main" id="{DEAE1EBE-12DE-6E4E-3198-A7A65504AA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9" y="1186"/>
                <a:ext cx="202" cy="124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31" name="AutoShape 56">
                <a:extLst>
                  <a:ext uri="{FF2B5EF4-FFF2-40B4-BE49-F238E27FC236}">
                    <a16:creationId xmlns:a16="http://schemas.microsoft.com/office/drawing/2014/main" id="{8EBB4415-D3FC-E0C7-CA6D-E6E528A2E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8" y="1186"/>
                <a:ext cx="202" cy="165"/>
              </a:xfrm>
              <a:prstGeom prst="hexagon">
                <a:avLst>
                  <a:gd name="adj" fmla="val 30606"/>
                  <a:gd name="vf" fmla="val 115470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32" name="AutoShape 57">
                <a:extLst>
                  <a:ext uri="{FF2B5EF4-FFF2-40B4-BE49-F238E27FC236}">
                    <a16:creationId xmlns:a16="http://schemas.microsoft.com/office/drawing/2014/main" id="{ADBB11EE-4121-3244-948B-FE6591BCD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1" y="1642"/>
                <a:ext cx="202" cy="165"/>
              </a:xfrm>
              <a:prstGeom prst="hexagon">
                <a:avLst>
                  <a:gd name="adj" fmla="val 30606"/>
                  <a:gd name="vf" fmla="val 115470"/>
                </a:avLst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33" name="Rectangle 58">
                <a:extLst>
                  <a:ext uri="{FF2B5EF4-FFF2-40B4-BE49-F238E27FC236}">
                    <a16:creationId xmlns:a16="http://schemas.microsoft.com/office/drawing/2014/main" id="{581B11EF-8C26-EFC6-B68D-E8CB1D3C1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9" y="2181"/>
                <a:ext cx="203" cy="124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34" name="Rectangle 59">
                <a:extLst>
                  <a:ext uri="{FF2B5EF4-FFF2-40B4-BE49-F238E27FC236}">
                    <a16:creationId xmlns:a16="http://schemas.microsoft.com/office/drawing/2014/main" id="{C5DC8085-DCDB-2454-2FF5-2BB0543416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434"/>
                <a:ext cx="253" cy="20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35" name="Rectangle 60">
                <a:extLst>
                  <a:ext uri="{FF2B5EF4-FFF2-40B4-BE49-F238E27FC236}">
                    <a16:creationId xmlns:a16="http://schemas.microsoft.com/office/drawing/2014/main" id="{A1390597-BBA2-E574-B65A-57E4EE3691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" y="1932"/>
                <a:ext cx="152" cy="124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7236" name="Text Box 61">
                <a:extLst>
                  <a:ext uri="{FF2B5EF4-FFF2-40B4-BE49-F238E27FC236}">
                    <a16:creationId xmlns:a16="http://schemas.microsoft.com/office/drawing/2014/main" id="{AF176074-DA06-0337-D82C-45B13A3222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0" y="1476"/>
                <a:ext cx="25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137237" name="Text Box 62">
                <a:extLst>
                  <a:ext uri="{FF2B5EF4-FFF2-40B4-BE49-F238E27FC236}">
                    <a16:creationId xmlns:a16="http://schemas.microsoft.com/office/drawing/2014/main" id="{F85056EF-8C91-072D-F1E5-C445F33A58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" y="1061"/>
                <a:ext cx="25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137238" name="Text Box 63">
                <a:extLst>
                  <a:ext uri="{FF2B5EF4-FFF2-40B4-BE49-F238E27FC236}">
                    <a16:creationId xmlns:a16="http://schemas.microsoft.com/office/drawing/2014/main" id="{5121DA61-41F9-62B7-2816-467BF5AB31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9" y="1766"/>
                <a:ext cx="25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1800" b="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137239" name="Text Box 64">
                <a:extLst>
                  <a:ext uri="{FF2B5EF4-FFF2-40B4-BE49-F238E27FC236}">
                    <a16:creationId xmlns:a16="http://schemas.microsoft.com/office/drawing/2014/main" id="{E856E27F-198F-7A89-8731-8ECEF44A2A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3" y="1144"/>
                <a:ext cx="25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j</a:t>
                </a:r>
              </a:p>
            </p:txBody>
          </p:sp>
          <p:sp>
            <p:nvSpPr>
              <p:cNvPr id="137240" name="Text Box 65">
                <a:extLst>
                  <a:ext uri="{FF2B5EF4-FFF2-40B4-BE49-F238E27FC236}">
                    <a16:creationId xmlns:a16="http://schemas.microsoft.com/office/drawing/2014/main" id="{792A2B65-F4B1-0B3A-BEB4-AFD1C59E6D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2" y="2056"/>
                <a:ext cx="25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000">
                    <a:solidFill>
                      <a:schemeClr val="tx1"/>
                    </a:solidFill>
                    <a:latin typeface="Broadway" panose="04040905080B02020502" pitchFamily="82" charset="0"/>
                  </a:rPr>
                  <a:t>A</a:t>
                </a:r>
              </a:p>
            </p:txBody>
          </p:sp>
          <p:sp>
            <p:nvSpPr>
              <p:cNvPr id="137241" name="Text Box 66">
                <a:extLst>
                  <a:ext uri="{FF2B5EF4-FFF2-40B4-BE49-F238E27FC236}">
                    <a16:creationId xmlns:a16="http://schemas.microsoft.com/office/drawing/2014/main" id="{A543B582-E22B-49F3-7746-8B0D5B5861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" y="2056"/>
                <a:ext cx="25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37242" name="Text Box 67">
                <a:extLst>
                  <a:ext uri="{FF2B5EF4-FFF2-40B4-BE49-F238E27FC236}">
                    <a16:creationId xmlns:a16="http://schemas.microsoft.com/office/drawing/2014/main" id="{F178B36A-226B-8E43-1CC9-F463C05082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6" y="1559"/>
                <a:ext cx="25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137243" name="Text Box 68">
                <a:extLst>
                  <a:ext uri="{FF2B5EF4-FFF2-40B4-BE49-F238E27FC236}">
                    <a16:creationId xmlns:a16="http://schemas.microsoft.com/office/drawing/2014/main" id="{E4D7F822-72DB-3F12-7BEB-E99AD32D98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139"/>
                <a:ext cx="25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37244" name="Text Box 69">
                <a:extLst>
                  <a:ext uri="{FF2B5EF4-FFF2-40B4-BE49-F238E27FC236}">
                    <a16:creationId xmlns:a16="http://schemas.microsoft.com/office/drawing/2014/main" id="{97E24BDD-310B-D6FC-D45F-86367F479C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3" y="1593"/>
                <a:ext cx="19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7245" name="Text Box 70">
                <a:extLst>
                  <a:ext uri="{FF2B5EF4-FFF2-40B4-BE49-F238E27FC236}">
                    <a16:creationId xmlns:a16="http://schemas.microsoft.com/office/drawing/2014/main" id="{BB92A8D4-C941-7682-3325-92BF7EC567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4" y="1559"/>
                <a:ext cx="243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-3</a:t>
                </a:r>
              </a:p>
            </p:txBody>
          </p:sp>
          <p:sp>
            <p:nvSpPr>
              <p:cNvPr id="137246" name="Text Box 71">
                <a:extLst>
                  <a:ext uri="{FF2B5EF4-FFF2-40B4-BE49-F238E27FC236}">
                    <a16:creationId xmlns:a16="http://schemas.microsoft.com/office/drawing/2014/main" id="{009C2556-47A3-68D0-8270-B18AB48027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1393"/>
                <a:ext cx="26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22</a:t>
                </a:r>
              </a:p>
            </p:txBody>
          </p:sp>
          <p:sp>
            <p:nvSpPr>
              <p:cNvPr id="137247" name="Text Box 72">
                <a:extLst>
                  <a:ext uri="{FF2B5EF4-FFF2-40B4-BE49-F238E27FC236}">
                    <a16:creationId xmlns:a16="http://schemas.microsoft.com/office/drawing/2014/main" id="{37B949C7-745A-8D67-9D04-A42516B8BE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8" y="2139"/>
                <a:ext cx="19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37248" name="Text Box 73">
                <a:extLst>
                  <a:ext uri="{FF2B5EF4-FFF2-40B4-BE49-F238E27FC236}">
                    <a16:creationId xmlns:a16="http://schemas.microsoft.com/office/drawing/2014/main" id="{4CE2CE91-103E-72A7-BB59-4C30A101FB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3" y="1310"/>
                <a:ext cx="26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11</a:t>
                </a:r>
              </a:p>
            </p:txBody>
          </p:sp>
          <p:sp>
            <p:nvSpPr>
              <p:cNvPr id="137249" name="AutoShape 74">
                <a:extLst>
                  <a:ext uri="{FF2B5EF4-FFF2-40B4-BE49-F238E27FC236}">
                    <a16:creationId xmlns:a16="http://schemas.microsoft.com/office/drawing/2014/main" id="{02ABE268-8C57-1B3E-45AD-7537C12DF3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8" y="1890"/>
                <a:ext cx="304" cy="249"/>
              </a:xfrm>
              <a:prstGeom prst="hexagon">
                <a:avLst>
                  <a:gd name="adj" fmla="val 30522"/>
                  <a:gd name="vf" fmla="val 11547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4504600"/>
      </p:ext>
    </p:extLst>
  </p:cSld>
  <p:clrMapOvr>
    <a:masterClrMapping/>
  </p:clrMapOvr>
  <p:transition spd="slow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itle 1">
            <a:extLst>
              <a:ext uri="{FF2B5EF4-FFF2-40B4-BE49-F238E27FC236}">
                <a16:creationId xmlns:a16="http://schemas.microsoft.com/office/drawing/2014/main" id="{9CE520FF-CEB2-7356-89A0-1CBEC93061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/>
              <a:t>Abstrahieren</a:t>
            </a:r>
          </a:p>
        </p:txBody>
      </p:sp>
      <p:sp>
        <p:nvSpPr>
          <p:cNvPr id="138243" name="Inhaltsplatzhalter 1">
            <a:extLst>
              <a:ext uri="{FF2B5EF4-FFF2-40B4-BE49-F238E27FC236}">
                <a16:creationId xmlns:a16="http://schemas.microsoft.com/office/drawing/2014/main" id="{6E052821-7DC0-0107-A032-026430538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Ein Zeichnungsobjekt hat eine Farbe, eine Position und eine Größe als Eigenschaften. Das komplexe Zeichnungsobjekt ist eine Komposition einfacherer Elemente.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6978A6-C2EE-E2AA-B41B-B867BF6EDE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D6E6F5-137E-49A2-DE2B-F3ED550C6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altLang="de-DE"/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E9BD12-F4ED-7083-664E-45E22182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de-DE" sz="1000" b="0">
                <a:solidFill>
                  <a:srgbClr val="A7A7A7"/>
                </a:solidFill>
              </a:rPr>
              <a:t> Seite </a:t>
            </a:r>
            <a:fld id="{2C3A34A3-837C-4D0D-954E-35BCDDE7D44D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116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365956"/>
      </p:ext>
    </p:extLst>
  </p:cSld>
  <p:clrMapOvr>
    <a:masterClrMapping/>
  </p:clrMapOvr>
  <p:transition spd="slow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itle 1">
            <a:extLst>
              <a:ext uri="{FF2B5EF4-FFF2-40B4-BE49-F238E27FC236}">
                <a16:creationId xmlns:a16="http://schemas.microsoft.com/office/drawing/2014/main" id="{109ED927-72E7-FC5E-9953-6706513B0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/>
              <a:t>Abstrahieren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0CE4A-97A2-E980-05C5-1727AB546B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FE88D5-F855-9340-6B13-570339BD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altLang="de-DE"/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FDAC93-A9B3-9123-804A-CA30345F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de-DE" sz="1000" b="0">
                <a:solidFill>
                  <a:srgbClr val="A7A7A7"/>
                </a:solidFill>
              </a:rPr>
              <a:t> Seite </a:t>
            </a:r>
            <a:fld id="{AB57EEE4-AD26-4850-9B29-4CCADDBB956F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117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grpSp>
        <p:nvGrpSpPr>
          <p:cNvPr id="139270" name="Gruppieren 2">
            <a:extLst>
              <a:ext uri="{FF2B5EF4-FFF2-40B4-BE49-F238E27FC236}">
                <a16:creationId xmlns:a16="http://schemas.microsoft.com/office/drawing/2014/main" id="{7F141543-AFBB-7399-D7C6-F782B54E2F89}"/>
              </a:ext>
            </a:extLst>
          </p:cNvPr>
          <p:cNvGrpSpPr>
            <a:grpSpLocks/>
          </p:cNvGrpSpPr>
          <p:nvPr/>
        </p:nvGrpSpPr>
        <p:grpSpPr bwMode="auto">
          <a:xfrm>
            <a:off x="422275" y="1506538"/>
            <a:ext cx="8205788" cy="4298950"/>
            <a:chOff x="421963" y="2060848"/>
            <a:chExt cx="8206304" cy="4298949"/>
          </a:xfrm>
        </p:grpSpPr>
        <p:sp>
          <p:nvSpPr>
            <p:cNvPr id="139271" name="Text Box 26">
              <a:extLst>
                <a:ext uri="{FF2B5EF4-FFF2-40B4-BE49-F238E27FC236}">
                  <a16:creationId xmlns:a16="http://schemas.microsoft.com/office/drawing/2014/main" id="{B66598D5-B627-7DF6-176E-F7F8E02C9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285" y="2060848"/>
              <a:ext cx="4267982" cy="11922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15000"/>
                </a:spcBef>
              </a:pPr>
              <a:r>
                <a:rPr lang="de-DE" altLang="de-DE">
                  <a:solidFill>
                    <a:schemeClr val="tx1"/>
                  </a:solidFill>
                </a:rPr>
                <a:t>Zeichnungsobjekte</a:t>
              </a:r>
            </a:p>
            <a:p>
              <a:pPr lvl="1">
                <a:spcBef>
                  <a:spcPct val="15000"/>
                </a:spcBef>
              </a:pPr>
              <a:r>
                <a:rPr lang="de-DE" altLang="de-DE" b="0">
                  <a:solidFill>
                    <a:srgbClr val="3333FF"/>
                  </a:solidFill>
                </a:rPr>
                <a:t>Farbe</a:t>
              </a:r>
            </a:p>
            <a:p>
              <a:pPr lvl="1">
                <a:spcBef>
                  <a:spcPct val="15000"/>
                </a:spcBef>
              </a:pPr>
              <a:r>
                <a:rPr lang="de-DE" altLang="de-DE" b="0">
                  <a:solidFill>
                    <a:srgbClr val="3333FF"/>
                  </a:solidFill>
                </a:rPr>
                <a:t>Position</a:t>
              </a:r>
            </a:p>
            <a:p>
              <a:pPr lvl="1">
                <a:spcBef>
                  <a:spcPct val="15000"/>
                </a:spcBef>
              </a:pPr>
              <a:r>
                <a:rPr lang="de-DE" altLang="de-DE" b="0">
                  <a:solidFill>
                    <a:srgbClr val="3333FF"/>
                  </a:solidFill>
                </a:rPr>
                <a:t>Größe</a:t>
              </a:r>
              <a:endParaRPr lang="de-DE" altLang="de-DE" b="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9272" name="Text Box 27">
              <a:extLst>
                <a:ext uri="{FF2B5EF4-FFF2-40B4-BE49-F238E27FC236}">
                  <a16:creationId xmlns:a16="http://schemas.microsoft.com/office/drawing/2014/main" id="{5FF813DC-FC68-DE13-540E-521157FF4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285" y="3356248"/>
              <a:ext cx="4267982" cy="157162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15000"/>
                </a:spcBef>
              </a:pPr>
              <a:r>
                <a:rPr lang="de-DE" altLang="de-DE">
                  <a:solidFill>
                    <a:schemeClr val="tx1"/>
                  </a:solidFill>
                </a:rPr>
                <a:t>Buchstaben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chemeClr val="tx1"/>
                  </a:solidFill>
                </a:rPr>
                <a:t>Zeichen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chemeClr val="tx1"/>
                  </a:solidFill>
                </a:rPr>
                <a:t>Schriftart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rgbClr val="3333FF"/>
                  </a:solidFill>
                </a:rPr>
                <a:t>Farbe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rgbClr val="3333FF"/>
                  </a:solidFill>
                </a:rPr>
                <a:t>Position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rgbClr val="3333FF"/>
                  </a:solidFill>
                </a:rPr>
                <a:t>Größe</a:t>
              </a:r>
              <a:endParaRPr lang="de-DE" altLang="de-DE" b="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9273" name="Text Box 28">
              <a:extLst>
                <a:ext uri="{FF2B5EF4-FFF2-40B4-BE49-F238E27FC236}">
                  <a16:creationId xmlns:a16="http://schemas.microsoft.com/office/drawing/2014/main" id="{62B37C5C-F22E-7B3C-7286-AE1F46127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285" y="5032647"/>
              <a:ext cx="4267982" cy="13271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15000"/>
                </a:spcBef>
              </a:pPr>
              <a:r>
                <a:rPr lang="de-DE" altLang="de-DE">
                  <a:solidFill>
                    <a:schemeClr val="tx1"/>
                  </a:solidFill>
                </a:rPr>
                <a:t>Zahlen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chemeClr val="tx1"/>
                  </a:solidFill>
                </a:rPr>
                <a:t>Wert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rgbClr val="3333FF"/>
                  </a:solidFill>
                </a:rPr>
                <a:t>Farbe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rgbClr val="3333FF"/>
                  </a:solidFill>
                </a:rPr>
                <a:t>Position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rgbClr val="3333FF"/>
                  </a:solidFill>
                </a:rPr>
                <a:t>Größe</a:t>
              </a:r>
              <a:endParaRPr lang="de-DE" altLang="de-DE" b="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39274" name="Group 31">
              <a:extLst>
                <a:ext uri="{FF2B5EF4-FFF2-40B4-BE49-F238E27FC236}">
                  <a16:creationId xmlns:a16="http://schemas.microsoft.com/office/drawing/2014/main" id="{A8A631A2-FDD4-DADF-3026-25829A0F6C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963" y="2298973"/>
              <a:ext cx="3768365" cy="587375"/>
              <a:chOff x="3130" y="1350"/>
              <a:chExt cx="2573" cy="370"/>
            </a:xfrm>
          </p:grpSpPr>
          <p:sp>
            <p:nvSpPr>
              <p:cNvPr id="139292" name="AutoShape 32">
                <a:extLst>
                  <a:ext uri="{FF2B5EF4-FFF2-40B4-BE49-F238E27FC236}">
                    <a16:creationId xmlns:a16="http://schemas.microsoft.com/office/drawing/2014/main" id="{4853F4BA-4EAA-607C-1B2F-C1859B672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1" y="1397"/>
                <a:ext cx="328" cy="277"/>
              </a:xfrm>
              <a:prstGeom prst="hexagon">
                <a:avLst>
                  <a:gd name="adj" fmla="val 29603"/>
                  <a:gd name="vf" fmla="val 11547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9293" name="Rectangle 33">
                <a:extLst>
                  <a:ext uri="{FF2B5EF4-FFF2-40B4-BE49-F238E27FC236}">
                    <a16:creationId xmlns:a16="http://schemas.microsoft.com/office/drawing/2014/main" id="{4C7606CE-D047-4EB4-0721-CA555A200A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" y="1350"/>
                <a:ext cx="2573" cy="37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9294" name="AutoShape 34">
                <a:extLst>
                  <a:ext uri="{FF2B5EF4-FFF2-40B4-BE49-F238E27FC236}">
                    <a16:creationId xmlns:a16="http://schemas.microsoft.com/office/drawing/2014/main" id="{DC05A7D8-2497-1AFE-4371-B53A6A500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0" y="1443"/>
                <a:ext cx="165" cy="138"/>
              </a:xfrm>
              <a:prstGeom prst="rtTriangl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9295" name="Rectangle 35">
                <a:extLst>
                  <a:ext uri="{FF2B5EF4-FFF2-40B4-BE49-F238E27FC236}">
                    <a16:creationId xmlns:a16="http://schemas.microsoft.com/office/drawing/2014/main" id="{A1566B4A-A03E-E712-5FF5-109188EB7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1397"/>
                <a:ext cx="274" cy="23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9296" name="Rectangle 36">
                <a:extLst>
                  <a:ext uri="{FF2B5EF4-FFF2-40B4-BE49-F238E27FC236}">
                    <a16:creationId xmlns:a16="http://schemas.microsoft.com/office/drawing/2014/main" id="{45119645-E38A-1E35-6CB8-D20BCC8AE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7" y="1443"/>
                <a:ext cx="219" cy="13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9297" name="AutoShape 37">
                <a:extLst>
                  <a:ext uri="{FF2B5EF4-FFF2-40B4-BE49-F238E27FC236}">
                    <a16:creationId xmlns:a16="http://schemas.microsoft.com/office/drawing/2014/main" id="{E97F1A62-47F4-2B52-628F-FFD2946E4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443"/>
                <a:ext cx="219" cy="184"/>
              </a:xfrm>
              <a:prstGeom prst="hexagon">
                <a:avLst>
                  <a:gd name="adj" fmla="val 29755"/>
                  <a:gd name="vf" fmla="val 115470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9298" name="Rectangle 38">
                <a:extLst>
                  <a:ext uri="{FF2B5EF4-FFF2-40B4-BE49-F238E27FC236}">
                    <a16:creationId xmlns:a16="http://schemas.microsoft.com/office/drawing/2014/main" id="{01B93A97-6AB3-2814-3ABC-00A942B90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4" y="1443"/>
                <a:ext cx="219" cy="13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9299" name="AutoShape 39">
                <a:extLst>
                  <a:ext uri="{FF2B5EF4-FFF2-40B4-BE49-F238E27FC236}">
                    <a16:creationId xmlns:a16="http://schemas.microsoft.com/office/drawing/2014/main" id="{A2C9A911-DA46-19FC-C73A-208A51CC7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8" y="1443"/>
                <a:ext cx="219" cy="184"/>
              </a:xfrm>
              <a:prstGeom prst="hexagon">
                <a:avLst>
                  <a:gd name="adj" fmla="val 29755"/>
                  <a:gd name="vf" fmla="val 115470"/>
                </a:avLst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9300" name="Rectangle 40">
                <a:extLst>
                  <a:ext uri="{FF2B5EF4-FFF2-40B4-BE49-F238E27FC236}">
                    <a16:creationId xmlns:a16="http://schemas.microsoft.com/office/drawing/2014/main" id="{C6AEE515-7DEC-F092-C75C-FB69D6B3C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2" y="1443"/>
                <a:ext cx="164" cy="13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</p:grpSp>
        <p:grpSp>
          <p:nvGrpSpPr>
            <p:cNvPr id="139275" name="Group 41">
              <a:extLst>
                <a:ext uri="{FF2B5EF4-FFF2-40B4-BE49-F238E27FC236}">
                  <a16:creationId xmlns:a16="http://schemas.microsoft.com/office/drawing/2014/main" id="{FAEB8BE8-AF3B-645A-35CF-BFB3972B71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963" y="3797573"/>
              <a:ext cx="3768365" cy="658813"/>
              <a:chOff x="3131" y="1951"/>
              <a:chExt cx="2573" cy="415"/>
            </a:xfrm>
          </p:grpSpPr>
          <p:sp>
            <p:nvSpPr>
              <p:cNvPr id="139283" name="Rectangle 42">
                <a:extLst>
                  <a:ext uri="{FF2B5EF4-FFF2-40B4-BE49-F238E27FC236}">
                    <a16:creationId xmlns:a16="http://schemas.microsoft.com/office/drawing/2014/main" id="{6BC9D3DC-5865-6077-FB04-9C83D3A72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1" y="1951"/>
                <a:ext cx="2573" cy="41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9284" name="Text Box 43">
                <a:extLst>
                  <a:ext uri="{FF2B5EF4-FFF2-40B4-BE49-F238E27FC236}">
                    <a16:creationId xmlns:a16="http://schemas.microsoft.com/office/drawing/2014/main" id="{5D96D585-3A1B-E934-0195-052362C64E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0" y="1997"/>
                <a:ext cx="2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139285" name="Text Box 44">
                <a:extLst>
                  <a:ext uri="{FF2B5EF4-FFF2-40B4-BE49-F238E27FC236}">
                    <a16:creationId xmlns:a16="http://schemas.microsoft.com/office/drawing/2014/main" id="{EEE68C0F-EFCF-1FAF-286D-F786409915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4" y="1997"/>
                <a:ext cx="2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139286" name="Text Box 45">
                <a:extLst>
                  <a:ext uri="{FF2B5EF4-FFF2-40B4-BE49-F238E27FC236}">
                    <a16:creationId xmlns:a16="http://schemas.microsoft.com/office/drawing/2014/main" id="{824B1486-C4C5-C026-EB4C-E807ABF1C7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3" y="1997"/>
                <a:ext cx="2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139287" name="Text Box 46">
                <a:extLst>
                  <a:ext uri="{FF2B5EF4-FFF2-40B4-BE49-F238E27FC236}">
                    <a16:creationId xmlns:a16="http://schemas.microsoft.com/office/drawing/2014/main" id="{2928C12A-0715-C678-3F3B-EF29296CEC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2" y="1997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j</a:t>
                </a:r>
              </a:p>
            </p:txBody>
          </p:sp>
          <p:sp>
            <p:nvSpPr>
              <p:cNvPr id="139288" name="Text Box 47">
                <a:extLst>
                  <a:ext uri="{FF2B5EF4-FFF2-40B4-BE49-F238E27FC236}">
                    <a16:creationId xmlns:a16="http://schemas.microsoft.com/office/drawing/2014/main" id="{442833A6-693C-642E-1194-BD0853B772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6" y="1997"/>
                <a:ext cx="2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39289" name="Text Box 48">
                <a:extLst>
                  <a:ext uri="{FF2B5EF4-FFF2-40B4-BE49-F238E27FC236}">
                    <a16:creationId xmlns:a16="http://schemas.microsoft.com/office/drawing/2014/main" id="{784CC4C3-7065-D953-0C0A-D4EB920668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4" y="1997"/>
                <a:ext cx="2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39290" name="Text Box 49">
                <a:extLst>
                  <a:ext uri="{FF2B5EF4-FFF2-40B4-BE49-F238E27FC236}">
                    <a16:creationId xmlns:a16="http://schemas.microsoft.com/office/drawing/2014/main" id="{58047519-A705-17E0-2138-9FD8910006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3" y="1997"/>
                <a:ext cx="27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2000" b="0">
                    <a:solidFill>
                      <a:schemeClr val="tx1"/>
                    </a:solidFill>
                    <a:latin typeface="Broadway" panose="04040905080B02020502" pitchFamily="82" charset="0"/>
                  </a:rPr>
                  <a:t>A</a:t>
                </a:r>
              </a:p>
            </p:txBody>
          </p:sp>
          <p:sp>
            <p:nvSpPr>
              <p:cNvPr id="139291" name="Text Box 50">
                <a:extLst>
                  <a:ext uri="{FF2B5EF4-FFF2-40B4-BE49-F238E27FC236}">
                    <a16:creationId xmlns:a16="http://schemas.microsoft.com/office/drawing/2014/main" id="{68740CD8-E850-AE97-22E7-512FD95409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6" y="1997"/>
                <a:ext cx="27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sz="1800" b="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grpSp>
          <p:nvGrpSpPr>
            <p:cNvPr id="139276" name="Group 51">
              <a:extLst>
                <a:ext uri="{FF2B5EF4-FFF2-40B4-BE49-F238E27FC236}">
                  <a16:creationId xmlns:a16="http://schemas.microsoft.com/office/drawing/2014/main" id="{67E16D6C-F72B-BFD8-8827-8F026F3328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963" y="5346972"/>
              <a:ext cx="3768365" cy="660400"/>
              <a:chOff x="3131" y="2551"/>
              <a:chExt cx="2573" cy="416"/>
            </a:xfrm>
          </p:grpSpPr>
          <p:sp>
            <p:nvSpPr>
              <p:cNvPr id="139277" name="Rectangle 52">
                <a:extLst>
                  <a:ext uri="{FF2B5EF4-FFF2-40B4-BE49-F238E27FC236}">
                    <a16:creationId xmlns:a16="http://schemas.microsoft.com/office/drawing/2014/main" id="{7F91C83D-E353-C9AA-1C97-3BB772F3F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1" y="2551"/>
                <a:ext cx="2573" cy="41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de-DE" altLang="de-DE"/>
              </a:p>
            </p:txBody>
          </p:sp>
          <p:sp>
            <p:nvSpPr>
              <p:cNvPr id="139278" name="Text Box 53">
                <a:extLst>
                  <a:ext uri="{FF2B5EF4-FFF2-40B4-BE49-F238E27FC236}">
                    <a16:creationId xmlns:a16="http://schemas.microsoft.com/office/drawing/2014/main" id="{83DE2744-3EBE-F76C-FF4D-94438703E9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0" y="2643"/>
                <a:ext cx="19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9279" name="Text Box 54">
                <a:extLst>
                  <a:ext uri="{FF2B5EF4-FFF2-40B4-BE49-F238E27FC236}">
                    <a16:creationId xmlns:a16="http://schemas.microsoft.com/office/drawing/2014/main" id="{08DF49D2-FA46-3EF9-4C91-4070A6250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9" y="2643"/>
                <a:ext cx="26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22</a:t>
                </a:r>
              </a:p>
            </p:txBody>
          </p:sp>
          <p:sp>
            <p:nvSpPr>
              <p:cNvPr id="139280" name="Text Box 55">
                <a:extLst>
                  <a:ext uri="{FF2B5EF4-FFF2-40B4-BE49-F238E27FC236}">
                    <a16:creationId xmlns:a16="http://schemas.microsoft.com/office/drawing/2014/main" id="{54750E6A-4D12-1DD5-137D-7EE3150C16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3" y="2643"/>
                <a:ext cx="26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11</a:t>
                </a:r>
              </a:p>
            </p:txBody>
          </p:sp>
          <p:sp>
            <p:nvSpPr>
              <p:cNvPr id="139281" name="Text Box 56">
                <a:extLst>
                  <a:ext uri="{FF2B5EF4-FFF2-40B4-BE49-F238E27FC236}">
                    <a16:creationId xmlns:a16="http://schemas.microsoft.com/office/drawing/2014/main" id="{BD8CA50C-5354-D7D4-D486-29FB9266AE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7" y="2643"/>
                <a:ext cx="243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-3</a:t>
                </a:r>
              </a:p>
            </p:txBody>
          </p:sp>
          <p:sp>
            <p:nvSpPr>
              <p:cNvPr id="139282" name="Text Box 57">
                <a:extLst>
                  <a:ext uri="{FF2B5EF4-FFF2-40B4-BE49-F238E27FC236}">
                    <a16:creationId xmlns:a16="http://schemas.microsoft.com/office/drawing/2014/main" id="{86FF1838-4AE7-A274-867E-041658E7B1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1" y="2643"/>
                <a:ext cx="19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de-DE" altLang="de-DE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1957363"/>
      </p:ext>
    </p:extLst>
  </p:cSld>
  <p:clrMapOvr>
    <a:masterClrMapping/>
  </p:clrMapOvr>
  <p:transition spd="slow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1">
            <a:extLst>
              <a:ext uri="{FF2B5EF4-FFF2-40B4-BE49-F238E27FC236}">
                <a16:creationId xmlns:a16="http://schemas.microsoft.com/office/drawing/2014/main" id="{92D444A7-7086-D48E-C795-C4C9BEE01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Ordnen, Bilden von Hierarchien</a:t>
            </a:r>
          </a:p>
        </p:txBody>
      </p:sp>
      <p:sp>
        <p:nvSpPr>
          <p:cNvPr id="140291" name="Inhaltsplatzhalter 1">
            <a:extLst>
              <a:ext uri="{FF2B5EF4-FFF2-40B4-BE49-F238E27FC236}">
                <a16:creationId xmlns:a16="http://schemas.microsoft.com/office/drawing/2014/main" id="{461A4B61-1ACC-E868-8E7B-090E763BC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Ein Buchstabe ist ein Zeichnungsobjekt, das ein Zeichen in einer Schriftart darstellt</a:t>
            </a:r>
          </a:p>
          <a:p>
            <a:r>
              <a:rPr altLang="de-DE"/>
              <a:t>Eine Zahl ist ein Zeichnungsobjekt, das einen Zahlenwert darstellt</a:t>
            </a:r>
          </a:p>
          <a:p>
            <a:r>
              <a:rPr altLang="de-DE"/>
              <a:t>Buchstaben und Zahlen sind Zeichnungsobjekte und erben automatisch auch alle Eigenschaften eines Zeichnungsobjekts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B6E7DA-AA51-5BC8-18B8-027B48365D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36A2E9-13EE-4585-84AB-CCE5A403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altLang="de-DE"/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D51475-8BA7-87BA-724A-4D54F590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de-DE" sz="1000" b="0">
                <a:solidFill>
                  <a:srgbClr val="A7A7A7"/>
                </a:solidFill>
              </a:rPr>
              <a:t> Seite </a:t>
            </a:r>
            <a:fld id="{124AFDB5-9DD4-47E1-A661-05AE59690C5B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118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sp>
        <p:nvSpPr>
          <p:cNvPr id="140295" name="Text Box 7">
            <a:extLst>
              <a:ext uri="{FF2B5EF4-FFF2-40B4-BE49-F238E27FC236}">
                <a16:creationId xmlns:a16="http://schemas.microsoft.com/office/drawing/2014/main" id="{B356D4A1-A072-E1DC-1FD1-52D16A3FD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4437063"/>
            <a:ext cx="76962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e-DE" altLang="de-DE" sz="1800" b="0">
                <a:solidFill>
                  <a:schemeClr val="hlink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4563397"/>
      </p:ext>
    </p:extLst>
  </p:cSld>
  <p:clrMapOvr>
    <a:masterClrMapping/>
  </p:clrMapOvr>
  <p:transition spd="slow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itle 1">
            <a:extLst>
              <a:ext uri="{FF2B5EF4-FFF2-40B4-BE49-F238E27FC236}">
                <a16:creationId xmlns:a16="http://schemas.microsoft.com/office/drawing/2014/main" id="{C1EB6B41-BDC4-A0F6-7F35-84767EB8A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Ordnen, Bilden von Hierarchien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89B389-66BD-B769-D05D-51895E9F87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0BB196-8828-31C7-4252-676645393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altLang="de-DE"/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E7050A-3A6C-7381-8E6F-769A33BC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de-DE" sz="1000" b="0">
                <a:solidFill>
                  <a:srgbClr val="A7A7A7"/>
                </a:solidFill>
              </a:rPr>
              <a:t> Seite </a:t>
            </a:r>
            <a:fld id="{0CE2CF1C-26EE-49C8-BE7A-45DA214DC822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119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sp>
        <p:nvSpPr>
          <p:cNvPr id="141318" name="Text Box 7">
            <a:extLst>
              <a:ext uri="{FF2B5EF4-FFF2-40B4-BE49-F238E27FC236}">
                <a16:creationId xmlns:a16="http://schemas.microsoft.com/office/drawing/2014/main" id="{7414303F-6818-BEF7-FF28-F95D44BF5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4437063"/>
            <a:ext cx="76962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e-DE" altLang="de-DE" sz="1800" b="0">
                <a:solidFill>
                  <a:schemeClr val="hlink"/>
                </a:solidFill>
              </a:rPr>
              <a:t>.</a:t>
            </a:r>
          </a:p>
        </p:txBody>
      </p:sp>
      <p:grpSp>
        <p:nvGrpSpPr>
          <p:cNvPr id="141319" name="Gruppieren 10">
            <a:extLst>
              <a:ext uri="{FF2B5EF4-FFF2-40B4-BE49-F238E27FC236}">
                <a16:creationId xmlns:a16="http://schemas.microsoft.com/office/drawing/2014/main" id="{B32EE650-2A70-FBB9-3E46-20E6E5459142}"/>
              </a:ext>
            </a:extLst>
          </p:cNvPr>
          <p:cNvGrpSpPr>
            <a:grpSpLocks/>
          </p:cNvGrpSpPr>
          <p:nvPr/>
        </p:nvGrpSpPr>
        <p:grpSpPr bwMode="auto">
          <a:xfrm>
            <a:off x="2068513" y="1312863"/>
            <a:ext cx="4802187" cy="2863850"/>
            <a:chOff x="2068792" y="1312863"/>
            <a:chExt cx="4801296" cy="2863850"/>
          </a:xfrm>
        </p:grpSpPr>
        <p:sp>
          <p:nvSpPr>
            <p:cNvPr id="141320" name="Text Box 2">
              <a:extLst>
                <a:ext uri="{FF2B5EF4-FFF2-40B4-BE49-F238E27FC236}">
                  <a16:creationId xmlns:a16="http://schemas.microsoft.com/office/drawing/2014/main" id="{6D3A4698-0F87-8A1C-2F14-DF5D43E19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233" y="1312863"/>
              <a:ext cx="2972789" cy="1312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15000"/>
                </a:spcBef>
              </a:pPr>
              <a:r>
                <a:rPr lang="de-DE" altLang="de-DE" sz="2400" b="0">
                  <a:solidFill>
                    <a:schemeClr val="hlink"/>
                  </a:solidFill>
                </a:rPr>
                <a:t>Zeichnungsobjekte</a:t>
              </a:r>
            </a:p>
            <a:p>
              <a:pPr lvl="1">
                <a:spcBef>
                  <a:spcPct val="15000"/>
                </a:spcBef>
              </a:pPr>
              <a:r>
                <a:rPr lang="de-DE" altLang="de-DE" b="0">
                  <a:solidFill>
                    <a:schemeClr val="hlink"/>
                  </a:solidFill>
                </a:rPr>
                <a:t>Farbe</a:t>
              </a:r>
            </a:p>
            <a:p>
              <a:pPr lvl="1">
                <a:spcBef>
                  <a:spcPct val="15000"/>
                </a:spcBef>
              </a:pPr>
              <a:r>
                <a:rPr lang="de-DE" altLang="de-DE" b="0">
                  <a:solidFill>
                    <a:schemeClr val="hlink"/>
                  </a:solidFill>
                </a:rPr>
                <a:t>Position</a:t>
              </a:r>
            </a:p>
            <a:p>
              <a:pPr lvl="1">
                <a:spcBef>
                  <a:spcPct val="15000"/>
                </a:spcBef>
              </a:pPr>
              <a:r>
                <a:rPr lang="de-DE" altLang="de-DE" b="0">
                  <a:solidFill>
                    <a:schemeClr val="hlink"/>
                  </a:solidFill>
                </a:rPr>
                <a:t>Größe</a:t>
              </a:r>
              <a:endParaRPr lang="de-DE" altLang="de-DE" sz="2400" b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1321" name="Text Box 3">
              <a:extLst>
                <a:ext uri="{FF2B5EF4-FFF2-40B4-BE49-F238E27FC236}">
                  <a16:creationId xmlns:a16="http://schemas.microsoft.com/office/drawing/2014/main" id="{1C314C8F-2893-62DB-2919-FE15D0889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8792" y="3217863"/>
              <a:ext cx="2361821" cy="9588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15000"/>
                </a:spcBef>
              </a:pPr>
              <a:r>
                <a:rPr lang="de-DE" altLang="de-DE" sz="2400" b="0">
                  <a:solidFill>
                    <a:schemeClr val="hlink"/>
                  </a:solidFill>
                </a:rPr>
                <a:t>Buchstaben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chemeClr val="hlink"/>
                  </a:solidFill>
                </a:rPr>
                <a:t>Zeichen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chemeClr val="hlink"/>
                  </a:solidFill>
                </a:rPr>
                <a:t>Schriftart</a:t>
              </a:r>
              <a:endParaRPr lang="de-DE" altLang="de-DE" sz="2400" b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1322" name="Text Box 4">
              <a:extLst>
                <a:ext uri="{FF2B5EF4-FFF2-40B4-BE49-F238E27FC236}">
                  <a16:creationId xmlns:a16="http://schemas.microsoft.com/office/drawing/2014/main" id="{84D26161-B5EA-E99F-2582-B71007906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4454" y="3217863"/>
              <a:ext cx="2285634" cy="9588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15000"/>
                </a:spcBef>
              </a:pPr>
              <a:r>
                <a:rPr lang="de-DE" altLang="de-DE" sz="2400" b="0">
                  <a:solidFill>
                    <a:schemeClr val="hlink"/>
                  </a:solidFill>
                </a:rPr>
                <a:t>Zahlen</a:t>
              </a:r>
            </a:p>
            <a:p>
              <a:pPr lvl="1">
                <a:spcBef>
                  <a:spcPct val="0"/>
                </a:spcBef>
              </a:pPr>
              <a:r>
                <a:rPr lang="de-DE" altLang="de-DE" b="0">
                  <a:solidFill>
                    <a:schemeClr val="hlink"/>
                  </a:solidFill>
                </a:rPr>
                <a:t>Wert</a:t>
              </a:r>
            </a:p>
            <a:p>
              <a:pPr lvl="1">
                <a:spcBef>
                  <a:spcPct val="0"/>
                </a:spcBef>
              </a:pPr>
              <a:endParaRPr lang="de-DE" altLang="de-DE" b="0">
                <a:solidFill>
                  <a:schemeClr val="hlink"/>
                </a:solidFill>
              </a:endParaRPr>
            </a:p>
          </p:txBody>
        </p:sp>
        <p:cxnSp>
          <p:nvCxnSpPr>
            <p:cNvPr id="141323" name="AutoShape 5">
              <a:extLst>
                <a:ext uri="{FF2B5EF4-FFF2-40B4-BE49-F238E27FC236}">
                  <a16:creationId xmlns:a16="http://schemas.microsoft.com/office/drawing/2014/main" id="{53CDF607-326B-AD73-1B7F-8D0CEEFFADB6}"/>
                </a:ext>
              </a:extLst>
            </p:cNvPr>
            <p:cNvCxnSpPr>
              <a:cxnSpLocks noChangeShapeType="1"/>
              <a:stCxn id="141321" idx="0"/>
              <a:endCxn id="141320" idx="2"/>
            </p:cNvCxnSpPr>
            <p:nvPr/>
          </p:nvCxnSpPr>
          <p:spPr bwMode="auto">
            <a:xfrm flipV="1">
              <a:off x="3249702" y="2625725"/>
              <a:ext cx="1296658" cy="59213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1324" name="AutoShape 6">
              <a:extLst>
                <a:ext uri="{FF2B5EF4-FFF2-40B4-BE49-F238E27FC236}">
                  <a16:creationId xmlns:a16="http://schemas.microsoft.com/office/drawing/2014/main" id="{D2A6175B-1F34-FBD4-3D83-DEAE880602AB}"/>
                </a:ext>
              </a:extLst>
            </p:cNvPr>
            <p:cNvCxnSpPr>
              <a:cxnSpLocks noChangeShapeType="1"/>
              <a:stCxn id="141322" idx="0"/>
              <a:endCxn id="141320" idx="2"/>
            </p:cNvCxnSpPr>
            <p:nvPr/>
          </p:nvCxnSpPr>
          <p:spPr bwMode="auto">
            <a:xfrm flipH="1" flipV="1">
              <a:off x="4546360" y="2625725"/>
              <a:ext cx="1180911" cy="59213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1325" name="AutoShape 10">
              <a:extLst>
                <a:ext uri="{FF2B5EF4-FFF2-40B4-BE49-F238E27FC236}">
                  <a16:creationId xmlns:a16="http://schemas.microsoft.com/office/drawing/2014/main" id="{FB4EBABA-29FB-4B71-FE9A-FF11181E14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957925">
              <a:off x="4370531" y="2595087"/>
              <a:ext cx="133350" cy="15970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  <p:sp>
          <p:nvSpPr>
            <p:cNvPr id="141326" name="AutoShape 11">
              <a:extLst>
                <a:ext uri="{FF2B5EF4-FFF2-40B4-BE49-F238E27FC236}">
                  <a16:creationId xmlns:a16="http://schemas.microsoft.com/office/drawing/2014/main" id="{BF274904-F51C-377F-F076-02AA1D2C35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774372">
              <a:off x="4547082" y="2595820"/>
              <a:ext cx="133350" cy="15823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de-DE" altLang="de-DE"/>
            </a:p>
          </p:txBody>
        </p:sp>
      </p:grpSp>
    </p:spTree>
    <p:extLst>
      <p:ext uri="{BB962C8B-B14F-4D97-AF65-F5344CB8AC3E}">
        <p14:creationId xmlns:p14="http://schemas.microsoft.com/office/powerpoint/2010/main" val="3884650916"/>
      </p:ext>
    </p:extLst>
  </p:cSld>
  <p:clrMapOvr>
    <a:masterClrMapping/>
  </p:clrMapOvr>
  <p:transition spd="slow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itle 1">
            <a:extLst>
              <a:ext uri="{FF2B5EF4-FFF2-40B4-BE49-F238E27FC236}">
                <a16:creationId xmlns:a16="http://schemas.microsoft.com/office/drawing/2014/main" id="{37E26EA0-EE23-3958-D4B2-7F9F6BEB1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/>
              <a:t>Objekte</a:t>
            </a:r>
          </a:p>
        </p:txBody>
      </p:sp>
      <p:sp>
        <p:nvSpPr>
          <p:cNvPr id="11270" name="Rectangle 3">
            <a:extLst>
              <a:ext uri="{FF2B5EF4-FFF2-40B4-BE49-F238E27FC236}">
                <a16:creationId xmlns:a16="http://schemas.microsoft.com/office/drawing/2014/main" id="{DE46A990-F057-8994-2F6F-0211BBCDEB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lnSpc>
                <a:spcPct val="105000"/>
              </a:lnSpc>
              <a:defRPr/>
            </a:pPr>
            <a:r>
              <a:rPr altLang="de-DE"/>
              <a:t>Ein Objekt besitzt</a:t>
            </a:r>
          </a:p>
          <a:p>
            <a:pPr lvl="1">
              <a:lnSpc>
                <a:spcPct val="105000"/>
              </a:lnSpc>
              <a:defRPr/>
            </a:pPr>
            <a:r>
              <a:rPr altLang="de-DE"/>
              <a:t>Eigenschaften 	</a:t>
            </a:r>
            <a:r>
              <a:rPr altLang="de-DE">
                <a:sym typeface="Symbol" pitchFamily="18" charset="2"/>
              </a:rPr>
              <a:t> 	</a:t>
            </a:r>
            <a:r>
              <a:rPr altLang="de-DE">
                <a:solidFill>
                  <a:srgbClr val="C00000"/>
                </a:solidFill>
                <a:sym typeface="Symbol" pitchFamily="18" charset="2"/>
              </a:rPr>
              <a:t>Attribute</a:t>
            </a:r>
          </a:p>
          <a:p>
            <a:pPr lvl="1">
              <a:lnSpc>
                <a:spcPct val="105000"/>
              </a:lnSpc>
              <a:defRPr/>
            </a:pPr>
            <a:r>
              <a:rPr altLang="de-DE">
                <a:sym typeface="Symbol" pitchFamily="18" charset="2"/>
              </a:rPr>
              <a:t>Fähigkeiten</a:t>
            </a:r>
            <a:r>
              <a:rPr altLang="de-DE"/>
              <a:t> 		</a:t>
            </a:r>
            <a:r>
              <a:rPr altLang="de-DE">
                <a:sym typeface="Symbol" pitchFamily="18" charset="2"/>
              </a:rPr>
              <a:t> 	</a:t>
            </a:r>
            <a:r>
              <a:rPr altLang="de-DE">
                <a:solidFill>
                  <a:srgbClr val="C00000"/>
                </a:solidFill>
                <a:sym typeface="Symbol" pitchFamily="18" charset="2"/>
              </a:rPr>
              <a:t>Methoden</a:t>
            </a:r>
          </a:p>
          <a:p>
            <a:pPr lvl="1">
              <a:lnSpc>
                <a:spcPct val="105000"/>
              </a:lnSpc>
              <a:defRPr/>
            </a:pPr>
            <a:r>
              <a:rPr altLang="de-DE">
                <a:sym typeface="Symbol" pitchFamily="18" charset="2"/>
              </a:rPr>
              <a:t>Interaktivität</a:t>
            </a:r>
            <a:r>
              <a:rPr altLang="de-DE"/>
              <a:t> 		</a:t>
            </a:r>
            <a:r>
              <a:rPr altLang="de-DE">
                <a:sym typeface="Symbol" pitchFamily="18" charset="2"/>
              </a:rPr>
              <a:t> 	</a:t>
            </a:r>
            <a:r>
              <a:rPr altLang="de-DE">
                <a:solidFill>
                  <a:srgbClr val="C00000"/>
                </a:solidFill>
                <a:sym typeface="Symbol" pitchFamily="18" charset="2"/>
              </a:rPr>
              <a:t>Botschaften</a:t>
            </a:r>
            <a:br>
              <a:rPr altLang="de-DE">
                <a:solidFill>
                  <a:schemeClr val="accent1"/>
                </a:solidFill>
                <a:sym typeface="Symbol" pitchFamily="18" charset="2"/>
              </a:rPr>
            </a:br>
            <a:endParaRPr altLang="de-DE">
              <a:solidFill>
                <a:schemeClr val="accent1"/>
              </a:solidFill>
              <a:sym typeface="Symbol" pitchFamily="18" charset="2"/>
            </a:endParaRPr>
          </a:p>
          <a:p>
            <a:pPr>
              <a:lnSpc>
                <a:spcPct val="105000"/>
              </a:lnSpc>
              <a:defRPr/>
            </a:pPr>
            <a:r>
              <a:rPr altLang="de-DE"/>
              <a:t>Analogie zu traditionellen Programmen</a:t>
            </a:r>
          </a:p>
          <a:p>
            <a:pPr lvl="1">
              <a:lnSpc>
                <a:spcPct val="105000"/>
              </a:lnSpc>
              <a:defRPr/>
            </a:pPr>
            <a:r>
              <a:rPr altLang="de-DE">
                <a:sym typeface="Symbol" pitchFamily="18" charset="2"/>
              </a:rPr>
              <a:t>Attribute   			Variable</a:t>
            </a:r>
          </a:p>
          <a:p>
            <a:pPr lvl="1">
              <a:lnSpc>
                <a:spcPct val="105000"/>
              </a:lnSpc>
              <a:defRPr/>
            </a:pPr>
            <a:r>
              <a:rPr altLang="de-DE">
                <a:sym typeface="Symbol" pitchFamily="18" charset="2"/>
              </a:rPr>
              <a:t>Methoden 			Funktionen, Prozeduren</a:t>
            </a:r>
          </a:p>
          <a:p>
            <a:pPr lvl="1">
              <a:lnSpc>
                <a:spcPct val="105000"/>
              </a:lnSpc>
              <a:defRPr/>
            </a:pPr>
            <a:r>
              <a:rPr altLang="de-DE">
                <a:sym typeface="Symbol" pitchFamily="18" charset="2"/>
              </a:rPr>
              <a:t>Botschaften			Ablaufsteuerung, Parameter</a:t>
            </a:r>
          </a:p>
          <a:p>
            <a:pPr>
              <a:defRPr/>
            </a:pPr>
            <a:r>
              <a:rPr altLang="de-DE" sz="1800" kern="0"/>
              <a:t>Gleichartige Objekte werden zu Klassen abstrahiert</a:t>
            </a:r>
          </a:p>
          <a:p>
            <a:pPr lvl="1">
              <a:defRPr/>
            </a:pPr>
            <a:r>
              <a:rPr altLang="de-DE" kern="0"/>
              <a:t>Eine Klasse dient als Vorlage, Bauanleitung für (mehrere) Objekte</a:t>
            </a:r>
            <a:endParaRPr/>
          </a:p>
          <a:p>
            <a:pPr lvl="1">
              <a:lnSpc>
                <a:spcPct val="105000"/>
              </a:lnSpc>
              <a:defRPr/>
            </a:pPr>
            <a:endParaRPr altLang="de-DE"/>
          </a:p>
          <a:p>
            <a:pPr lvl="1">
              <a:lnSpc>
                <a:spcPct val="105000"/>
              </a:lnSpc>
              <a:buClr>
                <a:schemeClr val="tx2"/>
              </a:buClr>
              <a:buFontTx/>
              <a:buChar char="–"/>
              <a:defRPr/>
            </a:pPr>
            <a:endParaRPr lang="de-AT" altLang="de-DE">
              <a:sym typeface="Symbol" pitchFamily="18" charset="2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8D79FF-9146-1905-78EA-F610FA4277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FD37F3-76E9-B01F-D414-CF10D3B6B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altLang="de-DE"/>
              <a:t>Python 3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BBE6EB6-D12B-6F25-F90E-89F839D1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de-DE" sz="1000" b="0">
                <a:solidFill>
                  <a:srgbClr val="A7A7A7"/>
                </a:solidFill>
              </a:rPr>
              <a:t> Seite </a:t>
            </a:r>
            <a:fld id="{0E755888-AB93-43AE-9A0E-E4214CFB4246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120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133505"/>
      </p:ext>
    </p:extLst>
  </p:cSld>
  <p:clrMapOvr>
    <a:masterClrMapping/>
  </p:clrMapOvr>
  <p:transition spd="slow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6BA6B-CB8E-E01F-44F8-7CBB5BE8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Klassenmodell und Umsetzung in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56FCB-BA4A-150B-AC0F-A8139CB1F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10.2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9F209-7E83-4A66-3373-1C92DF72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75A7C-0F21-121A-64E0-8A549575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83702-2FB1-EAA5-53EB-4CF4FD4D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121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458923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Ein Modell visualisiert über ein Klassendiagramm</a:t>
            </a:r>
            <a:endParaRPr dirty="0"/>
          </a:p>
        </p:txBody>
      </p:sp>
      <p:sp>
        <p:nvSpPr>
          <p:cNvPr id="707" name="Google Shape;707;p8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</a:pPr>
              <a:t>122</a:t>
            </a:fld>
            <a:endParaRPr/>
          </a:p>
        </p:txBody>
      </p:sp>
      <p:sp>
        <p:nvSpPr>
          <p:cNvPr id="708" name="Google Shape;708;p89"/>
          <p:cNvSpPr/>
          <p:nvPr/>
        </p:nvSpPr>
        <p:spPr>
          <a:xfrm>
            <a:off x="3419872" y="1268760"/>
            <a:ext cx="1874700" cy="1251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Person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lastname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firstname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say_hello()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09" name="Google Shape;709;p89"/>
          <p:cNvSpPr/>
          <p:nvPr/>
        </p:nvSpPr>
        <p:spPr>
          <a:xfrm>
            <a:off x="220238" y="4005064"/>
            <a:ext cx="8096177" cy="1251900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+mn-lt"/>
              </a:rPr>
              <a:t>In OOP werden Klassen programmiert</a:t>
            </a:r>
            <a:endParaRPr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+mn-lt"/>
              </a:rPr>
              <a:t>Eine Klasse ist ein Template = Abstraktion von Objekten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 Objekt ist eine Instanz einer Klasse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/>
              <a:t>Umsetzung in Python</a:t>
            </a:r>
            <a:endParaRPr/>
          </a:p>
        </p:txBody>
      </p:sp>
      <p:sp>
        <p:nvSpPr>
          <p:cNvPr id="715" name="Google Shape;715;p9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123</a:t>
            </a:fld>
            <a:endParaRPr/>
          </a:p>
        </p:txBody>
      </p:sp>
      <p:sp>
        <p:nvSpPr>
          <p:cNvPr id="716" name="Google Shape;716;p90"/>
          <p:cNvSpPr/>
          <p:nvPr/>
        </p:nvSpPr>
        <p:spPr>
          <a:xfrm>
            <a:off x="345150" y="1967175"/>
            <a:ext cx="1874700" cy="1251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Person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lastname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firstname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say_hello()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717" name="Google Shape;71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951" y="2002052"/>
            <a:ext cx="4714875" cy="1628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8" name="Google Shape;718;p90"/>
          <p:cNvCxnSpPr/>
          <p:nvPr/>
        </p:nvCxnSpPr>
        <p:spPr>
          <a:xfrm rot="10800000" flipH="1">
            <a:off x="1685175" y="2136325"/>
            <a:ext cx="1861200" cy="155700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9" name="Google Shape;719;p90"/>
          <p:cNvCxnSpPr/>
          <p:nvPr/>
        </p:nvCxnSpPr>
        <p:spPr>
          <a:xfrm>
            <a:off x="2219825" y="2075450"/>
            <a:ext cx="568500" cy="60900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0" name="Google Shape;720;p90"/>
          <p:cNvCxnSpPr/>
          <p:nvPr/>
        </p:nvCxnSpPr>
        <p:spPr>
          <a:xfrm>
            <a:off x="1414475" y="2907875"/>
            <a:ext cx="1800300" cy="209700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1" name="Google Shape;721;p90"/>
          <p:cNvCxnSpPr/>
          <p:nvPr/>
        </p:nvCxnSpPr>
        <p:spPr>
          <a:xfrm>
            <a:off x="1211425" y="2508575"/>
            <a:ext cx="2388900" cy="142200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2" name="Google Shape;722;p90"/>
          <p:cNvCxnSpPr/>
          <p:nvPr/>
        </p:nvCxnSpPr>
        <p:spPr>
          <a:xfrm>
            <a:off x="1299400" y="2698075"/>
            <a:ext cx="2219700" cy="189600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Erzeugung eines Personen-Objekts</a:t>
            </a:r>
            <a:endParaRPr/>
          </a:p>
        </p:txBody>
      </p:sp>
      <p:sp>
        <p:nvSpPr>
          <p:cNvPr id="729" name="Google Shape;729;p9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"Ich instanziiere die Klasse Person"</a:t>
            </a:r>
            <a:endParaRPr/>
          </a:p>
          <a:p>
            <a:pPr lvl="1"/>
            <a:r>
              <a:rPr lang="de-DE"/>
              <a:t>Objekt = Instanz einer Klasse</a:t>
            </a:r>
            <a:endParaRPr/>
          </a:p>
        </p:txBody>
      </p:sp>
      <p:sp>
        <p:nvSpPr>
          <p:cNvPr id="728" name="Google Shape;728;p9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124</a:t>
            </a:fld>
            <a:endParaRPr/>
          </a:p>
        </p:txBody>
      </p:sp>
      <p:pic>
        <p:nvPicPr>
          <p:cNvPr id="730" name="Google Shape;730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8789" y="2646700"/>
            <a:ext cx="4524375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91"/>
          <p:cNvSpPr/>
          <p:nvPr/>
        </p:nvSpPr>
        <p:spPr>
          <a:xfrm>
            <a:off x="611560" y="4234128"/>
            <a:ext cx="7992888" cy="1475400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+mn-lt"/>
              </a:rPr>
              <a:t>Der Konstruktor __init__ hat drei Parameter, der Aufruf der Klasse als Funktion aber einen weniger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self ist das implizit erzeugte "leere" Objekt, dass durch den Konstruktor mit Eigenschaften befüllt wird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Implementierung der Methoden</a:t>
            </a:r>
            <a:endParaRPr dirty="0"/>
          </a:p>
        </p:txBody>
      </p:sp>
      <p:sp>
        <p:nvSpPr>
          <p:cNvPr id="738" name="Google Shape;738;p9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Das ist nicht aus dem Klassendiagramm ersichtlich, hier wird eine zusätzliche fachliche Spezifikation notwendig sein</a:t>
            </a:r>
            <a:endParaRPr/>
          </a:p>
          <a:p>
            <a:pPr lvl="1"/>
            <a:r>
              <a:rPr lang="de-DE"/>
              <a:t>"Beim Aufruf von say_hello soll als Ergebnis eine Zeichenkette der Form"</a:t>
            </a:r>
            <a:endParaRPr/>
          </a:p>
          <a:p>
            <a:pPr lvl="2"/>
            <a:r>
              <a:rPr lang="de-DE"/>
              <a:t>'Hallo, mein Name ist {firstname} {lastname}'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r>
              <a:rPr lang="de-DE"/>
              <a:t>Aufruf</a:t>
            </a:r>
            <a:endParaRPr/>
          </a:p>
        </p:txBody>
      </p:sp>
      <p:sp>
        <p:nvSpPr>
          <p:cNvPr id="737" name="Google Shape;737;p9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125</a:t>
            </a:fld>
            <a:endParaRPr/>
          </a:p>
        </p:txBody>
      </p:sp>
      <p:pic>
        <p:nvPicPr>
          <p:cNvPr id="739" name="Google Shape;73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276" y="2619375"/>
            <a:ext cx="75723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9175" y="4077072"/>
            <a:ext cx="2615200" cy="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Title 1"/>
          <p:cNvSpPr txBox="1">
            <a:spLocks noGrp="1"/>
          </p:cNvSpPr>
          <p:nvPr>
            <p:ph type="title"/>
          </p:nvPr>
        </p:nvSpPr>
        <p:spPr>
          <a:xfrm>
            <a:off x="179512" y="-20478"/>
            <a:ext cx="5689600" cy="935038"/>
          </a:xfrm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Erweiterung</a:t>
            </a:r>
            <a:endParaRPr dirty="0"/>
          </a:p>
        </p:txBody>
      </p:sp>
      <p:sp>
        <p:nvSpPr>
          <p:cNvPr id="746" name="Google Shape;746;p9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126</a:t>
            </a:fld>
            <a:endParaRPr/>
          </a:p>
        </p:txBody>
      </p:sp>
      <p:sp>
        <p:nvSpPr>
          <p:cNvPr id="747" name="Google Shape;747;p93"/>
          <p:cNvSpPr/>
          <p:nvPr/>
        </p:nvSpPr>
        <p:spPr>
          <a:xfrm>
            <a:off x="324523" y="2507100"/>
            <a:ext cx="2282634" cy="1843799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Person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lastname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firstname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  <a:highlight>
                  <a:srgbClr val="C0C0C0"/>
                </a:highlight>
              </a:rPr>
              <a:t>city</a:t>
            </a:r>
            <a:endParaRPr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  <a:highlight>
                  <a:srgbClr val="C0C0C0"/>
                </a:highlight>
              </a:rPr>
              <a:t>street</a:t>
            </a:r>
            <a:endParaRPr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say_hello()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48" name="Google Shape;748;p93"/>
          <p:cNvSpPr/>
          <p:nvPr/>
        </p:nvSpPr>
        <p:spPr>
          <a:xfrm>
            <a:off x="324523" y="1052736"/>
            <a:ext cx="4705170" cy="133568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Fachliche Erweiterung: Eine Person hat Adressinformationen, city und street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49" name="Google Shape;749;p93"/>
          <p:cNvSpPr/>
          <p:nvPr/>
        </p:nvSpPr>
        <p:spPr>
          <a:xfrm>
            <a:off x="35496" y="4609536"/>
            <a:ext cx="8748464" cy="184380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Diese Umsetzung ist nicht "gut":</a:t>
            </a:r>
            <a:endParaRPr dirty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Es können ja auch andere Dinge eine Adressinformation besitzen, diese müssten dann auch alle neue Attribute bekommen</a:t>
            </a:r>
            <a:endParaRPr dirty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Änderung in den Address-Eigenschaften (z.B. country) müssten dann mehrfach gemacht werden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>
          <a:extLst>
            <a:ext uri="{FF2B5EF4-FFF2-40B4-BE49-F238E27FC236}">
              <a16:creationId xmlns:a16="http://schemas.microsoft.com/office/drawing/2014/main" id="{8DAF54D4-9535-83EA-ABA5-D2840D6E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Title 1">
            <a:extLst>
              <a:ext uri="{FF2B5EF4-FFF2-40B4-BE49-F238E27FC236}">
                <a16:creationId xmlns:a16="http://schemas.microsoft.com/office/drawing/2014/main" id="{C0191283-1E88-FD6A-3E2C-392B550D3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512" y="-20478"/>
            <a:ext cx="5689600" cy="935038"/>
          </a:xfrm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Erweiterung</a:t>
            </a:r>
            <a:endParaRPr dirty="0"/>
          </a:p>
        </p:txBody>
      </p:sp>
      <p:sp>
        <p:nvSpPr>
          <p:cNvPr id="746" name="Google Shape;746;p93">
            <a:extLst>
              <a:ext uri="{FF2B5EF4-FFF2-40B4-BE49-F238E27FC236}">
                <a16:creationId xmlns:a16="http://schemas.microsoft.com/office/drawing/2014/main" id="{075A66F0-5227-40A9-F110-AB24BBFF228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127</a:t>
            </a:fld>
            <a:endParaRPr/>
          </a:p>
        </p:txBody>
      </p:sp>
      <p:sp>
        <p:nvSpPr>
          <p:cNvPr id="747" name="Google Shape;747;p93">
            <a:extLst>
              <a:ext uri="{FF2B5EF4-FFF2-40B4-BE49-F238E27FC236}">
                <a16:creationId xmlns:a16="http://schemas.microsoft.com/office/drawing/2014/main" id="{17B99F48-C978-0FCE-1B8A-D6BC37AADE25}"/>
              </a:ext>
            </a:extLst>
          </p:cNvPr>
          <p:cNvSpPr/>
          <p:nvPr/>
        </p:nvSpPr>
        <p:spPr>
          <a:xfrm>
            <a:off x="324523" y="2507100"/>
            <a:ext cx="2282634" cy="1843799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Person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lastname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firstname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  <a:highlight>
                  <a:srgbClr val="C0C0C0"/>
                </a:highlight>
              </a:rPr>
              <a:t>city</a:t>
            </a:r>
            <a:endParaRPr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  <a:highlight>
                  <a:srgbClr val="C0C0C0"/>
                </a:highlight>
              </a:rPr>
              <a:t>street</a:t>
            </a:r>
            <a:endParaRPr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say_hello()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48" name="Google Shape;748;p93">
            <a:extLst>
              <a:ext uri="{FF2B5EF4-FFF2-40B4-BE49-F238E27FC236}">
                <a16:creationId xmlns:a16="http://schemas.microsoft.com/office/drawing/2014/main" id="{0B750183-6656-11D9-6539-14FDEF0C7258}"/>
              </a:ext>
            </a:extLst>
          </p:cNvPr>
          <p:cNvSpPr/>
          <p:nvPr/>
        </p:nvSpPr>
        <p:spPr>
          <a:xfrm>
            <a:off x="324523" y="1052736"/>
            <a:ext cx="4705170" cy="133568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Fachliche Erweiterung: Eine Person hat Adressinformationen, city und street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49" name="Google Shape;749;p93">
            <a:extLst>
              <a:ext uri="{FF2B5EF4-FFF2-40B4-BE49-F238E27FC236}">
                <a16:creationId xmlns:a16="http://schemas.microsoft.com/office/drawing/2014/main" id="{4ED3C8F5-A8B8-4BCE-564D-56F984A0EDCE}"/>
              </a:ext>
            </a:extLst>
          </p:cNvPr>
          <p:cNvSpPr/>
          <p:nvPr/>
        </p:nvSpPr>
        <p:spPr>
          <a:xfrm>
            <a:off x="35496" y="5301208"/>
            <a:ext cx="8748464" cy="1152128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Viel besser, Addressinformationen bekommen eine eigene Klasse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Aber: Der Zusammenhang Person – Addresse ist dem Modell nicht zu entnehmen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Google Shape;758;p94">
            <a:extLst>
              <a:ext uri="{FF2B5EF4-FFF2-40B4-BE49-F238E27FC236}">
                <a16:creationId xmlns:a16="http://schemas.microsoft.com/office/drawing/2014/main" id="{D85F900C-063D-E59E-88D6-2C63B08210C1}"/>
              </a:ext>
            </a:extLst>
          </p:cNvPr>
          <p:cNvSpPr/>
          <p:nvPr/>
        </p:nvSpPr>
        <p:spPr>
          <a:xfrm>
            <a:off x="3707904" y="2924944"/>
            <a:ext cx="3160500" cy="757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Address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de-DE" dirty="0">
                <a:solidFill>
                  <a:schemeClr val="tx1"/>
                </a:solidFill>
              </a:rPr>
              <a:t>city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street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56812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>
          <a:extLst>
            <a:ext uri="{FF2B5EF4-FFF2-40B4-BE49-F238E27FC236}">
              <a16:creationId xmlns:a16="http://schemas.microsoft.com/office/drawing/2014/main" id="{37137133-42A3-2A0F-4F3E-0B55D80A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Title 1">
            <a:extLst>
              <a:ext uri="{FF2B5EF4-FFF2-40B4-BE49-F238E27FC236}">
                <a16:creationId xmlns:a16="http://schemas.microsoft.com/office/drawing/2014/main" id="{ED180F13-7798-057C-DDD1-82F2C933F8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512" y="-20478"/>
            <a:ext cx="5689600" cy="935038"/>
          </a:xfrm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Erweiterung</a:t>
            </a:r>
            <a:endParaRPr dirty="0"/>
          </a:p>
        </p:txBody>
      </p:sp>
      <p:sp>
        <p:nvSpPr>
          <p:cNvPr id="746" name="Google Shape;746;p93">
            <a:extLst>
              <a:ext uri="{FF2B5EF4-FFF2-40B4-BE49-F238E27FC236}">
                <a16:creationId xmlns:a16="http://schemas.microsoft.com/office/drawing/2014/main" id="{47360200-C46B-B5DB-025C-1FDC2C776A4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128</a:t>
            </a:fld>
            <a:endParaRPr/>
          </a:p>
        </p:txBody>
      </p:sp>
      <p:sp>
        <p:nvSpPr>
          <p:cNvPr id="747" name="Google Shape;747;p93">
            <a:extLst>
              <a:ext uri="{FF2B5EF4-FFF2-40B4-BE49-F238E27FC236}">
                <a16:creationId xmlns:a16="http://schemas.microsoft.com/office/drawing/2014/main" id="{24A9ECF6-DB1F-726D-1CB2-7F0E62E4ABA1}"/>
              </a:ext>
            </a:extLst>
          </p:cNvPr>
          <p:cNvSpPr/>
          <p:nvPr/>
        </p:nvSpPr>
        <p:spPr>
          <a:xfrm>
            <a:off x="324523" y="1700808"/>
            <a:ext cx="2282634" cy="1843799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Person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lastname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firstname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  <a:highlight>
                  <a:srgbClr val="C0C0C0"/>
                </a:highlight>
              </a:rPr>
              <a:t>city</a:t>
            </a:r>
            <a:endParaRPr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  <a:highlight>
                  <a:srgbClr val="C0C0C0"/>
                </a:highlight>
              </a:rPr>
              <a:t>street</a:t>
            </a:r>
            <a:endParaRPr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say_hello()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48" name="Google Shape;748;p93">
            <a:extLst>
              <a:ext uri="{FF2B5EF4-FFF2-40B4-BE49-F238E27FC236}">
                <a16:creationId xmlns:a16="http://schemas.microsoft.com/office/drawing/2014/main" id="{85FAC0DC-ED7C-D01D-DD24-D66A0050BA65}"/>
              </a:ext>
            </a:extLst>
          </p:cNvPr>
          <p:cNvSpPr/>
          <p:nvPr/>
        </p:nvSpPr>
        <p:spPr>
          <a:xfrm>
            <a:off x="324522" y="1052736"/>
            <a:ext cx="8748463" cy="48578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Fachliche Erweiterung: Eine Person hat Adressinformationen, city und street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49" name="Google Shape;749;p93">
            <a:extLst>
              <a:ext uri="{FF2B5EF4-FFF2-40B4-BE49-F238E27FC236}">
                <a16:creationId xmlns:a16="http://schemas.microsoft.com/office/drawing/2014/main" id="{722BC88B-06F3-ED23-2632-315017F9C493}"/>
              </a:ext>
            </a:extLst>
          </p:cNvPr>
          <p:cNvSpPr/>
          <p:nvPr/>
        </p:nvSpPr>
        <p:spPr>
          <a:xfrm>
            <a:off x="72008" y="3789040"/>
            <a:ext cx="8748464" cy="2215207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Der Pfeil mit Zahl definiert die Abhängigkeit, die Zahl entspricht der Kardinalität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Hier: Eine Person hat extakt eine Addresse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Andere Möglichkeiten</a:t>
            </a:r>
          </a:p>
          <a:p>
            <a:pPr marL="1200150" lvl="2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0:1 (eine oder keine)</a:t>
            </a:r>
          </a:p>
          <a:p>
            <a:pPr marL="1200150" lvl="2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0:n (beliebig viele)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 Richtung des Pfeils definiert die Richtung der Abhängigkeit</a:t>
            </a:r>
          </a:p>
          <a:p>
            <a:pPr marL="1200150" lvl="2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Hier: Person hat Addresse, die Addresse weiß nichts von Personen</a:t>
            </a:r>
          </a:p>
          <a:p>
            <a:pPr marL="1200150" lvl="2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Alternativ: Bidirektional mit Kardinalität</a:t>
            </a:r>
          </a:p>
        </p:txBody>
      </p:sp>
      <p:sp>
        <p:nvSpPr>
          <p:cNvPr id="2" name="Google Shape;758;p94">
            <a:extLst>
              <a:ext uri="{FF2B5EF4-FFF2-40B4-BE49-F238E27FC236}">
                <a16:creationId xmlns:a16="http://schemas.microsoft.com/office/drawing/2014/main" id="{7ADDEEA3-C514-5FC8-8202-FC49239587BA}"/>
              </a:ext>
            </a:extLst>
          </p:cNvPr>
          <p:cNvSpPr/>
          <p:nvPr/>
        </p:nvSpPr>
        <p:spPr>
          <a:xfrm>
            <a:off x="3859772" y="2262668"/>
            <a:ext cx="3160500" cy="757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Address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de-DE" dirty="0">
                <a:solidFill>
                  <a:schemeClr val="tx1"/>
                </a:solidFill>
              </a:rPr>
              <a:t>city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street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56B8719-9791-31FD-88D7-D44887BC3C96}"/>
              </a:ext>
            </a:extLst>
          </p:cNvPr>
          <p:cNvCxnSpPr>
            <a:cxnSpLocks/>
            <a:stCxn id="747" idx="3"/>
            <a:endCxn id="2" idx="1"/>
          </p:cNvCxnSpPr>
          <p:nvPr/>
        </p:nvCxnSpPr>
        <p:spPr>
          <a:xfrm>
            <a:off x="2607157" y="2622708"/>
            <a:ext cx="1252615" cy="18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51B80DF-02D2-4A66-B1D0-685E3C92D56E}"/>
              </a:ext>
            </a:extLst>
          </p:cNvPr>
          <p:cNvSpPr txBox="1"/>
          <p:nvPr/>
        </p:nvSpPr>
        <p:spPr>
          <a:xfrm>
            <a:off x="3419872" y="2262668"/>
            <a:ext cx="36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5705649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Erweiterung</a:t>
            </a:r>
            <a:endParaRPr dirty="0"/>
          </a:p>
        </p:txBody>
      </p:sp>
      <p:sp>
        <p:nvSpPr>
          <p:cNvPr id="789" name="Google Shape;789;p9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129</a:t>
            </a:fld>
            <a:endParaRPr/>
          </a:p>
        </p:txBody>
      </p:sp>
      <p:sp>
        <p:nvSpPr>
          <p:cNvPr id="790" name="Google Shape;790;p97"/>
          <p:cNvSpPr/>
          <p:nvPr/>
        </p:nvSpPr>
        <p:spPr>
          <a:xfrm>
            <a:off x="1103150" y="2578750"/>
            <a:ext cx="1874700" cy="964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Person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lastname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firstname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say_hello()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91" name="Google Shape;791;p97"/>
          <p:cNvSpPr/>
          <p:nvPr/>
        </p:nvSpPr>
        <p:spPr>
          <a:xfrm>
            <a:off x="4107950" y="2681950"/>
            <a:ext cx="3160500" cy="757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Address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  <a:highlight>
                  <a:srgbClr val="D9EAD3"/>
                </a:highlight>
              </a:rPr>
              <a:t>city</a:t>
            </a:r>
            <a:endParaRPr>
              <a:solidFill>
                <a:schemeClr val="tx1"/>
              </a:solidFill>
              <a:highlight>
                <a:srgbClr val="D9EAD3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  <a:highlight>
                  <a:srgbClr val="D9EAD3"/>
                </a:highlight>
              </a:rPr>
              <a:t>street</a:t>
            </a:r>
            <a:endParaRPr>
              <a:solidFill>
                <a:schemeClr val="tx1"/>
              </a:solidFill>
              <a:highlight>
                <a:srgbClr val="D9EAD3"/>
              </a:highlight>
            </a:endParaRPr>
          </a:p>
        </p:txBody>
      </p:sp>
      <p:cxnSp>
        <p:nvCxnSpPr>
          <p:cNvPr id="792" name="Google Shape;792;p97"/>
          <p:cNvCxnSpPr>
            <a:stCxn id="790" idx="3"/>
            <a:endCxn id="791" idx="1"/>
          </p:cNvCxnSpPr>
          <p:nvPr/>
        </p:nvCxnSpPr>
        <p:spPr>
          <a:xfrm>
            <a:off x="2977850" y="3060850"/>
            <a:ext cx="1130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3" name="Google Shape;793;p97"/>
          <p:cNvSpPr txBox="1"/>
          <p:nvPr/>
        </p:nvSpPr>
        <p:spPr>
          <a:xfrm>
            <a:off x="3724025" y="2777550"/>
            <a:ext cx="351900" cy="19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chemeClr val="dk1"/>
                </a:solidFill>
              </a:rPr>
              <a:t>1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94" name="Google Shape;794;p97"/>
          <p:cNvSpPr/>
          <p:nvPr/>
        </p:nvSpPr>
        <p:spPr>
          <a:xfrm>
            <a:off x="250825" y="1615250"/>
            <a:ext cx="8585199" cy="78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Es gibt "Abarten" von Personen</a:t>
            </a:r>
            <a:endParaRPr dirty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 Student studiert an einer Universität</a:t>
            </a:r>
            <a:endParaRPr dirty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 Arbeiter arbeitet in einer Firma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95" name="Google Shape;795;p97"/>
          <p:cNvSpPr/>
          <p:nvPr/>
        </p:nvSpPr>
        <p:spPr>
          <a:xfrm>
            <a:off x="2072600" y="4329575"/>
            <a:ext cx="1678500" cy="785100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Student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university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study()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96" name="Google Shape;796;p97"/>
          <p:cNvSpPr/>
          <p:nvPr/>
        </p:nvSpPr>
        <p:spPr>
          <a:xfrm>
            <a:off x="158925" y="4329575"/>
            <a:ext cx="1678500" cy="785100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Worker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company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work()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797" name="Google Shape;797;p97"/>
          <p:cNvCxnSpPr>
            <a:stCxn id="795" idx="0"/>
            <a:endCxn id="790" idx="2"/>
          </p:cNvCxnSpPr>
          <p:nvPr/>
        </p:nvCxnSpPr>
        <p:spPr>
          <a:xfrm rot="10800000">
            <a:off x="2040350" y="3542975"/>
            <a:ext cx="871500" cy="78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8" name="Google Shape;798;p97"/>
          <p:cNvCxnSpPr>
            <a:stCxn id="796" idx="0"/>
            <a:endCxn id="790" idx="2"/>
          </p:cNvCxnSpPr>
          <p:nvPr/>
        </p:nvCxnSpPr>
        <p:spPr>
          <a:xfrm rot="10800000" flipH="1">
            <a:off x="998175" y="3542975"/>
            <a:ext cx="1042200" cy="78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9" name="Google Shape;799;p97"/>
          <p:cNvSpPr txBox="1"/>
          <p:nvPr/>
        </p:nvSpPr>
        <p:spPr>
          <a:xfrm>
            <a:off x="1617500" y="3790950"/>
            <a:ext cx="710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chemeClr val="dk1"/>
                </a:solidFill>
              </a:rPr>
              <a:t>extends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800" name="Google Shape;80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101" y="4144821"/>
            <a:ext cx="4928925" cy="11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Komplexere Modelle sind natürlich möglich</a:t>
            </a:r>
            <a:endParaRPr dirty="0"/>
          </a:p>
        </p:txBody>
      </p:sp>
      <p:sp>
        <p:nvSpPr>
          <p:cNvPr id="830" name="Google Shape;830;p9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130</a:t>
            </a:fld>
            <a:endParaRPr/>
          </a:p>
        </p:txBody>
      </p:sp>
      <p:sp>
        <p:nvSpPr>
          <p:cNvPr id="831" name="Google Shape;831;p99"/>
          <p:cNvSpPr/>
          <p:nvPr/>
        </p:nvSpPr>
        <p:spPr>
          <a:xfrm>
            <a:off x="1331640" y="1664350"/>
            <a:ext cx="1874700" cy="964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Person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lastname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firstname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say_hello()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32" name="Google Shape;832;p99"/>
          <p:cNvSpPr/>
          <p:nvPr/>
        </p:nvSpPr>
        <p:spPr>
          <a:xfrm>
            <a:off x="4412750" y="1767550"/>
            <a:ext cx="3160500" cy="757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Address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city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street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833" name="Google Shape;833;p99"/>
          <p:cNvCxnSpPr>
            <a:stCxn id="831" idx="3"/>
            <a:endCxn id="832" idx="1"/>
          </p:cNvCxnSpPr>
          <p:nvPr/>
        </p:nvCxnSpPr>
        <p:spPr>
          <a:xfrm>
            <a:off x="3206340" y="2146450"/>
            <a:ext cx="120641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4" name="Google Shape;834;p99"/>
          <p:cNvSpPr txBox="1"/>
          <p:nvPr/>
        </p:nvSpPr>
        <p:spPr>
          <a:xfrm>
            <a:off x="4028825" y="1863150"/>
            <a:ext cx="351900" cy="19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chemeClr val="dk1"/>
                </a:solidFill>
              </a:rPr>
              <a:t>1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35" name="Google Shape;835;p99"/>
          <p:cNvSpPr/>
          <p:nvPr/>
        </p:nvSpPr>
        <p:spPr>
          <a:xfrm>
            <a:off x="2377400" y="3415175"/>
            <a:ext cx="1678500" cy="785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Student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study()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36" name="Google Shape;836;p99"/>
          <p:cNvSpPr/>
          <p:nvPr/>
        </p:nvSpPr>
        <p:spPr>
          <a:xfrm>
            <a:off x="250825" y="4516108"/>
            <a:ext cx="1678500" cy="785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Worker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work()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837" name="Google Shape;837;p99"/>
          <p:cNvCxnSpPr>
            <a:stCxn id="835" idx="0"/>
            <a:endCxn id="831" idx="2"/>
          </p:cNvCxnSpPr>
          <p:nvPr/>
        </p:nvCxnSpPr>
        <p:spPr>
          <a:xfrm flipH="1" flipV="1">
            <a:off x="2268990" y="2628550"/>
            <a:ext cx="947660" cy="7866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8" name="Google Shape;838;p99"/>
          <p:cNvCxnSpPr>
            <a:stCxn id="836" idx="0"/>
            <a:endCxn id="831" idx="2"/>
          </p:cNvCxnSpPr>
          <p:nvPr/>
        </p:nvCxnSpPr>
        <p:spPr>
          <a:xfrm flipV="1">
            <a:off x="1090075" y="2628550"/>
            <a:ext cx="1178915" cy="18875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9" name="Google Shape;839;p99"/>
          <p:cNvSpPr txBox="1"/>
          <p:nvPr/>
        </p:nvSpPr>
        <p:spPr>
          <a:xfrm>
            <a:off x="1922300" y="2876550"/>
            <a:ext cx="710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chemeClr val="dk1"/>
                </a:solidFill>
              </a:rPr>
              <a:t>extends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40" name="Google Shape;840;p99"/>
          <p:cNvSpPr/>
          <p:nvPr/>
        </p:nvSpPr>
        <p:spPr>
          <a:xfrm>
            <a:off x="4796900" y="3381150"/>
            <a:ext cx="1678500" cy="819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University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name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841" name="Google Shape;841;p99"/>
          <p:cNvCxnSpPr>
            <a:stCxn id="840" idx="0"/>
            <a:endCxn id="832" idx="2"/>
          </p:cNvCxnSpPr>
          <p:nvPr/>
        </p:nvCxnSpPr>
        <p:spPr>
          <a:xfrm flipV="1">
            <a:off x="5636150" y="2525350"/>
            <a:ext cx="356850" cy="85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2" name="Google Shape;842;p99"/>
          <p:cNvSpPr txBox="1"/>
          <p:nvPr/>
        </p:nvSpPr>
        <p:spPr>
          <a:xfrm>
            <a:off x="5580112" y="2569500"/>
            <a:ext cx="351900" cy="9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chemeClr val="dk1"/>
                </a:solidFill>
              </a:rPr>
              <a:t>1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843" name="Google Shape;843;p99"/>
          <p:cNvCxnSpPr>
            <a:stCxn id="835" idx="3"/>
            <a:endCxn id="840" idx="1"/>
          </p:cNvCxnSpPr>
          <p:nvPr/>
        </p:nvCxnSpPr>
        <p:spPr>
          <a:xfrm flipV="1">
            <a:off x="4055900" y="3790650"/>
            <a:ext cx="741000" cy="170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4" name="Google Shape;844;p99"/>
          <p:cNvSpPr txBox="1"/>
          <p:nvPr/>
        </p:nvSpPr>
        <p:spPr>
          <a:xfrm>
            <a:off x="4572000" y="3545723"/>
            <a:ext cx="224900" cy="1371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chemeClr val="dk1"/>
                </a:solidFill>
              </a:rPr>
              <a:t>1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45" name="Google Shape;845;p99"/>
          <p:cNvSpPr/>
          <p:nvPr/>
        </p:nvSpPr>
        <p:spPr>
          <a:xfrm>
            <a:off x="6156176" y="4509120"/>
            <a:ext cx="2574324" cy="819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Company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company_name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846" name="Google Shape;846;p99"/>
          <p:cNvCxnSpPr>
            <a:cxnSpLocks/>
            <a:stCxn id="836" idx="3"/>
            <a:endCxn id="845" idx="1"/>
          </p:cNvCxnSpPr>
          <p:nvPr/>
        </p:nvCxnSpPr>
        <p:spPr>
          <a:xfrm>
            <a:off x="1929325" y="4908658"/>
            <a:ext cx="4226851" cy="9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7" name="Google Shape;847;p99"/>
          <p:cNvSpPr txBox="1"/>
          <p:nvPr/>
        </p:nvSpPr>
        <p:spPr>
          <a:xfrm>
            <a:off x="5876284" y="4697852"/>
            <a:ext cx="279892" cy="1202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chemeClr val="dk1"/>
                </a:solidFill>
              </a:rPr>
              <a:t>1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848" name="Google Shape;848;p99"/>
          <p:cNvCxnSpPr>
            <a:cxnSpLocks/>
            <a:stCxn id="845" idx="0"/>
            <a:endCxn id="832" idx="2"/>
          </p:cNvCxnSpPr>
          <p:nvPr/>
        </p:nvCxnSpPr>
        <p:spPr>
          <a:xfrm flipH="1" flipV="1">
            <a:off x="5993000" y="2525350"/>
            <a:ext cx="1450338" cy="198377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9" name="Google Shape;849;p99"/>
          <p:cNvSpPr txBox="1"/>
          <p:nvPr/>
        </p:nvSpPr>
        <p:spPr>
          <a:xfrm>
            <a:off x="6300192" y="2564904"/>
            <a:ext cx="3519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chemeClr val="dk1"/>
                </a:solidFill>
              </a:rPr>
              <a:t>n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F6B2-0B8A-5DA6-9B03-D1760C63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Polymorphie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5B9DA-4756-B782-35AD-2E115A64C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10.3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B58CB-95B4-1865-8BC2-4CD65B1C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51DCA-23B1-2DC7-8208-073CAC30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F650E-88C8-D5E0-D6D4-84FC42AC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131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051440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Polymorphie</a:t>
            </a:r>
            <a:endParaRPr/>
          </a:p>
        </p:txBody>
      </p:sp>
      <p:sp>
        <p:nvSpPr>
          <p:cNvPr id="879" name="Google Shape;879;p10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"Vielgesichtigkeit"</a:t>
            </a:r>
            <a:endParaRPr/>
          </a:p>
          <a:p>
            <a:pPr lvl="1"/>
            <a:r>
              <a:rPr lang="de-DE"/>
              <a:t>Eine Methode eines Objekts kann unterschiedliche Ausprägungen / Funktionalitäten enthalten</a:t>
            </a:r>
            <a:endParaRPr/>
          </a:p>
          <a:p>
            <a:pPr>
              <a:spcBef>
                <a:spcPts val="0"/>
              </a:spcBef>
            </a:pPr>
            <a:r>
              <a:rPr lang="de-DE"/>
              <a:t>Beispiel</a:t>
            </a:r>
            <a:endParaRPr/>
          </a:p>
          <a:p>
            <a:pPr lvl="1"/>
            <a:r>
              <a:rPr lang="de-DE"/>
              <a:t>Unsere Collections enthalten alle eine clear-Methode</a:t>
            </a:r>
            <a:endParaRPr/>
          </a:p>
        </p:txBody>
      </p:sp>
      <p:sp>
        <p:nvSpPr>
          <p:cNvPr id="878" name="Google Shape;878;p10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132</a:t>
            </a:fld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Polymorphie in eigenen Klassen</a:t>
            </a:r>
            <a:endParaRPr/>
          </a:p>
        </p:txBody>
      </p:sp>
      <p:sp>
        <p:nvSpPr>
          <p:cNvPr id="885" name="Google Shape;885;p10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Beispiel</a:t>
            </a:r>
            <a:endParaRPr/>
          </a:p>
          <a:p>
            <a:pPr lvl="1"/>
            <a:r>
              <a:rPr lang="de-DE"/>
              <a:t>"Beim Aufruf von say_hello eines Studenten soll als Ergebnis eine Zeichenkette der Form"</a:t>
            </a:r>
            <a:endParaRPr/>
          </a:p>
          <a:p>
            <a:pPr lvl="2"/>
            <a:r>
              <a:rPr lang="de-DE"/>
              <a:t>'Hallo, mein Name ist {firstname} {lastname} und ich studiere an {university}'</a:t>
            </a:r>
            <a:endParaRPr/>
          </a:p>
          <a:p>
            <a:pPr>
              <a:spcBef>
                <a:spcPts val="0"/>
              </a:spcBef>
            </a:pPr>
            <a:r>
              <a:rPr lang="de-DE"/>
              <a:t>Umsetzung</a:t>
            </a:r>
            <a:endParaRPr/>
          </a:p>
          <a:p>
            <a:pPr lvl="1"/>
            <a:r>
              <a:rPr lang="de-DE"/>
              <a:t>"Überschreiben" bzw. "Überschatten" von Methoden</a:t>
            </a:r>
            <a:endParaRPr/>
          </a:p>
          <a:p>
            <a:pPr lvl="2"/>
            <a:r>
              <a:rPr lang="de-DE"/>
              <a:t>Die Subklasse definiert nochmals eine Methode desselben Namens</a:t>
            </a:r>
            <a:endParaRPr/>
          </a:p>
        </p:txBody>
      </p:sp>
      <p:sp>
        <p:nvSpPr>
          <p:cNvPr id="886" name="Google Shape;886;p10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133</a:t>
            </a:fld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6CAC9-DC4A-EE45-BAD2-8893139F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F6E9-6FFC-9E41-15B7-50DA09D9A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Klassenobjekt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86AA5-3485-2576-0F21-CF8047529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10.4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7462C-1636-A806-F831-5B43BBA9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F0EE6-E92C-D494-C503-F0AA8FB9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810B5-5F1C-089F-5502-C4506400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134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0191638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A62F3FFF-01F3-B739-9E08-AAA58F55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Title 1">
            <a:extLst>
              <a:ext uri="{FF2B5EF4-FFF2-40B4-BE49-F238E27FC236}">
                <a16:creationId xmlns:a16="http://schemas.microsoft.com/office/drawing/2014/main" id="{8EB911F5-CA88-353B-7DD2-9E41FDD8EA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Revisited Referenzen</a:t>
            </a:r>
            <a:endParaRPr dirty="0"/>
          </a:p>
        </p:txBody>
      </p:sp>
      <p:sp>
        <p:nvSpPr>
          <p:cNvPr id="892" name="Google Shape;892;p104">
            <a:extLst>
              <a:ext uri="{FF2B5EF4-FFF2-40B4-BE49-F238E27FC236}">
                <a16:creationId xmlns:a16="http://schemas.microsoft.com/office/drawing/2014/main" id="{623DD76D-B65C-FD20-0613-D65BE1FDB07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</a:pPr>
              <a:t>135</a:t>
            </a:fld>
            <a:endParaRPr/>
          </a:p>
        </p:txBody>
      </p:sp>
      <p:sp>
        <p:nvSpPr>
          <p:cNvPr id="893" name="Google Shape;893;p104">
            <a:extLst>
              <a:ext uri="{FF2B5EF4-FFF2-40B4-BE49-F238E27FC236}">
                <a16:creationId xmlns:a16="http://schemas.microsoft.com/office/drawing/2014/main" id="{B306E84B-79C5-E774-DA1D-03DF2FE9AF12}"/>
              </a:ext>
            </a:extLst>
          </p:cNvPr>
          <p:cNvSpPr/>
          <p:nvPr/>
        </p:nvSpPr>
        <p:spPr>
          <a:xfrm>
            <a:off x="115050" y="1770900"/>
            <a:ext cx="6057300" cy="243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Python Laufzeit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Stack</a:t>
            </a:r>
            <a:r>
              <a:rPr lang="de-DE" dirty="0"/>
              <a:t>tack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Heap</a:t>
            </a:r>
            <a:endParaRPr dirty="0"/>
          </a:p>
        </p:txBody>
      </p:sp>
      <p:cxnSp>
        <p:nvCxnSpPr>
          <p:cNvPr id="894" name="Google Shape;894;p104">
            <a:extLst>
              <a:ext uri="{FF2B5EF4-FFF2-40B4-BE49-F238E27FC236}">
                <a16:creationId xmlns:a16="http://schemas.microsoft.com/office/drawing/2014/main" id="{B13E4A61-C970-2CD2-C6E5-AD9E5CFE5CB3}"/>
              </a:ext>
            </a:extLst>
          </p:cNvPr>
          <p:cNvCxnSpPr/>
          <p:nvPr/>
        </p:nvCxnSpPr>
        <p:spPr>
          <a:xfrm>
            <a:off x="121825" y="2413825"/>
            <a:ext cx="605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5" name="Google Shape;895;p104">
            <a:extLst>
              <a:ext uri="{FF2B5EF4-FFF2-40B4-BE49-F238E27FC236}">
                <a16:creationId xmlns:a16="http://schemas.microsoft.com/office/drawing/2014/main" id="{7BCF1A74-37D8-091D-6B6C-0E143A05B34C}"/>
              </a:ext>
            </a:extLst>
          </p:cNvPr>
          <p:cNvSpPr/>
          <p:nvPr/>
        </p:nvSpPr>
        <p:spPr>
          <a:xfrm>
            <a:off x="6379798" y="1791488"/>
            <a:ext cx="2310102" cy="6294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Der Stack ist die Welt der Programmierung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96" name="Google Shape;896;p104">
            <a:extLst>
              <a:ext uri="{FF2B5EF4-FFF2-40B4-BE49-F238E27FC236}">
                <a16:creationId xmlns:a16="http://schemas.microsoft.com/office/drawing/2014/main" id="{711E22E9-5E14-6739-8061-1B92CE14E027}"/>
              </a:ext>
            </a:extLst>
          </p:cNvPr>
          <p:cNvSpPr/>
          <p:nvPr/>
        </p:nvSpPr>
        <p:spPr>
          <a:xfrm>
            <a:off x="6379798" y="2589348"/>
            <a:ext cx="2310102" cy="12717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Der Heap enthält alle Objekte und wird komplett von der Python Laufzeit verwaltet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97" name="Google Shape;897;p104">
            <a:extLst>
              <a:ext uri="{FF2B5EF4-FFF2-40B4-BE49-F238E27FC236}">
                <a16:creationId xmlns:a16="http://schemas.microsoft.com/office/drawing/2014/main" id="{784C3699-B17E-DDDD-F9B8-70BC29DA34B4}"/>
              </a:ext>
            </a:extLst>
          </p:cNvPr>
          <p:cNvSpPr/>
          <p:nvPr/>
        </p:nvSpPr>
        <p:spPr>
          <a:xfrm>
            <a:off x="60900" y="4579525"/>
            <a:ext cx="3411000" cy="1049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  <a:highlight>
                  <a:srgbClr val="EAD1DC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 = list()</a:t>
            </a:r>
            <a:endParaRPr>
              <a:solidFill>
                <a:schemeClr val="tx1"/>
              </a:solidFill>
              <a:highlight>
                <a:srgbClr val="EAD1DC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  <a:highlight>
                  <a:srgbClr val="FFF2CC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 = Person('Hugo')</a:t>
            </a:r>
            <a:endParaRPr>
              <a:solidFill>
                <a:schemeClr val="tx1"/>
              </a:solidFill>
              <a:highlight>
                <a:srgbClr val="FFF2CC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  <a:highlight>
                  <a:srgbClr val="D9EAD3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 = Student('Bert', 'TU')</a:t>
            </a:r>
            <a:endParaRPr>
              <a:solidFill>
                <a:schemeClr val="tx1"/>
              </a:solidFill>
              <a:highlight>
                <a:srgbClr val="D9EAD3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98" name="Google Shape;898;p104">
            <a:extLst>
              <a:ext uri="{FF2B5EF4-FFF2-40B4-BE49-F238E27FC236}">
                <a16:creationId xmlns:a16="http://schemas.microsoft.com/office/drawing/2014/main" id="{7A98AE1E-2508-C154-3A1E-5118E3311DD6}"/>
              </a:ext>
            </a:extLst>
          </p:cNvPr>
          <p:cNvSpPr/>
          <p:nvPr/>
        </p:nvSpPr>
        <p:spPr>
          <a:xfrm>
            <a:off x="403740" y="2780928"/>
            <a:ext cx="927900" cy="602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[  ]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899" name="Google Shape;899;p104">
            <a:extLst>
              <a:ext uri="{FF2B5EF4-FFF2-40B4-BE49-F238E27FC236}">
                <a16:creationId xmlns:a16="http://schemas.microsoft.com/office/drawing/2014/main" id="{5CDDB639-4502-E5E5-692E-01208F7F7331}"/>
              </a:ext>
            </a:extLst>
          </p:cNvPr>
          <p:cNvCxnSpPr>
            <a:cxnSpLocks/>
            <a:endCxn id="898" idx="0"/>
          </p:cNvCxnSpPr>
          <p:nvPr/>
        </p:nvCxnSpPr>
        <p:spPr>
          <a:xfrm flipH="1">
            <a:off x="867690" y="2319050"/>
            <a:ext cx="6693" cy="46187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1" name="Google Shape;901;p104">
            <a:extLst>
              <a:ext uri="{FF2B5EF4-FFF2-40B4-BE49-F238E27FC236}">
                <a16:creationId xmlns:a16="http://schemas.microsoft.com/office/drawing/2014/main" id="{1DE9FBAD-C32F-C93A-C9D5-8BC6E0A69AE4}"/>
              </a:ext>
            </a:extLst>
          </p:cNvPr>
          <p:cNvSpPr/>
          <p:nvPr/>
        </p:nvSpPr>
        <p:spPr>
          <a:xfrm>
            <a:off x="791825" y="2075450"/>
            <a:ext cx="213600" cy="2031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2" name="Google Shape;902;p104">
            <a:extLst>
              <a:ext uri="{FF2B5EF4-FFF2-40B4-BE49-F238E27FC236}">
                <a16:creationId xmlns:a16="http://schemas.microsoft.com/office/drawing/2014/main" id="{41DA812D-649E-863A-AC4F-D8EBFAEED1EC}"/>
              </a:ext>
            </a:extLst>
          </p:cNvPr>
          <p:cNvSpPr txBox="1"/>
          <p:nvPr/>
        </p:nvSpPr>
        <p:spPr>
          <a:xfrm>
            <a:off x="1031940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chemeClr val="dk1"/>
                </a:solidFill>
              </a:rPr>
              <a:t>l</a:t>
            </a:r>
            <a:endParaRPr sz="800" dirty="0">
              <a:solidFill>
                <a:schemeClr val="dk1"/>
              </a:solidFill>
            </a:endParaRPr>
          </a:p>
        </p:txBody>
      </p:sp>
      <p:sp>
        <p:nvSpPr>
          <p:cNvPr id="903" name="Google Shape;903;p104">
            <a:extLst>
              <a:ext uri="{FF2B5EF4-FFF2-40B4-BE49-F238E27FC236}">
                <a16:creationId xmlns:a16="http://schemas.microsoft.com/office/drawing/2014/main" id="{81C4EDBE-F809-F3C0-8482-CE6CD81CE388}"/>
              </a:ext>
            </a:extLst>
          </p:cNvPr>
          <p:cNvSpPr/>
          <p:nvPr/>
        </p:nvSpPr>
        <p:spPr>
          <a:xfrm>
            <a:off x="1640335" y="2916400"/>
            <a:ext cx="1324040" cy="377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name=Hugo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904" name="Google Shape;904;p104">
            <a:extLst>
              <a:ext uri="{FF2B5EF4-FFF2-40B4-BE49-F238E27FC236}">
                <a16:creationId xmlns:a16="http://schemas.microsoft.com/office/drawing/2014/main" id="{88139F7A-7E3D-01F7-27FB-E85C9C0B2106}"/>
              </a:ext>
            </a:extLst>
          </p:cNvPr>
          <p:cNvCxnSpPr>
            <a:cxnSpLocks/>
            <a:stCxn id="905" idx="4"/>
            <a:endCxn id="903" idx="0"/>
          </p:cNvCxnSpPr>
          <p:nvPr/>
        </p:nvCxnSpPr>
        <p:spPr>
          <a:xfrm flipH="1">
            <a:off x="2302355" y="2263948"/>
            <a:ext cx="2605" cy="6524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5" name="Google Shape;905;p104">
            <a:extLst>
              <a:ext uri="{FF2B5EF4-FFF2-40B4-BE49-F238E27FC236}">
                <a16:creationId xmlns:a16="http://schemas.microsoft.com/office/drawing/2014/main" id="{175F119A-E4C4-02A4-8470-A874E8506E5E}"/>
              </a:ext>
            </a:extLst>
          </p:cNvPr>
          <p:cNvSpPr/>
          <p:nvPr/>
        </p:nvSpPr>
        <p:spPr>
          <a:xfrm>
            <a:off x="2198160" y="2060848"/>
            <a:ext cx="213600" cy="2031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6" name="Google Shape;906;p104">
            <a:extLst>
              <a:ext uri="{FF2B5EF4-FFF2-40B4-BE49-F238E27FC236}">
                <a16:creationId xmlns:a16="http://schemas.microsoft.com/office/drawing/2014/main" id="{32111AAB-3CF7-8E52-101A-79F5E08E5366}"/>
              </a:ext>
            </a:extLst>
          </p:cNvPr>
          <p:cNvSpPr txBox="1"/>
          <p:nvPr/>
        </p:nvSpPr>
        <p:spPr>
          <a:xfrm>
            <a:off x="2400092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p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07" name="Google Shape;907;p104">
            <a:extLst>
              <a:ext uri="{FF2B5EF4-FFF2-40B4-BE49-F238E27FC236}">
                <a16:creationId xmlns:a16="http://schemas.microsoft.com/office/drawing/2014/main" id="{8A659742-4872-7934-6E69-82CB1025A415}"/>
              </a:ext>
            </a:extLst>
          </p:cNvPr>
          <p:cNvSpPr/>
          <p:nvPr/>
        </p:nvSpPr>
        <p:spPr>
          <a:xfrm>
            <a:off x="4572000" y="2579963"/>
            <a:ext cx="1244325" cy="701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Student</a:t>
            </a:r>
            <a:endParaRPr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name=Bert</a:t>
            </a:r>
            <a:endParaRPr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uni=TU</a:t>
            </a:r>
            <a:endParaRPr sz="1200">
              <a:solidFill>
                <a:schemeClr val="tx1"/>
              </a:solidFill>
            </a:endParaRPr>
          </a:p>
        </p:txBody>
      </p:sp>
      <p:cxnSp>
        <p:nvCxnSpPr>
          <p:cNvPr id="908" name="Google Shape;908;p104">
            <a:extLst>
              <a:ext uri="{FF2B5EF4-FFF2-40B4-BE49-F238E27FC236}">
                <a16:creationId xmlns:a16="http://schemas.microsoft.com/office/drawing/2014/main" id="{D7384C86-73E1-DD77-E394-74346CBD4F5A}"/>
              </a:ext>
            </a:extLst>
          </p:cNvPr>
          <p:cNvCxnSpPr>
            <a:cxnSpLocks/>
            <a:stCxn id="909" idx="4"/>
            <a:endCxn id="907" idx="0"/>
          </p:cNvCxnSpPr>
          <p:nvPr/>
        </p:nvCxnSpPr>
        <p:spPr>
          <a:xfrm>
            <a:off x="5194163" y="2192418"/>
            <a:ext cx="0" cy="3875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9" name="Google Shape;909;p104">
            <a:extLst>
              <a:ext uri="{FF2B5EF4-FFF2-40B4-BE49-F238E27FC236}">
                <a16:creationId xmlns:a16="http://schemas.microsoft.com/office/drawing/2014/main" id="{42AC92AD-51F9-1173-6B39-5AE4B89E9E59}"/>
              </a:ext>
            </a:extLst>
          </p:cNvPr>
          <p:cNvSpPr/>
          <p:nvPr/>
        </p:nvSpPr>
        <p:spPr>
          <a:xfrm>
            <a:off x="5087363" y="1989318"/>
            <a:ext cx="213600" cy="203100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10" name="Google Shape;910;p104">
            <a:extLst>
              <a:ext uri="{FF2B5EF4-FFF2-40B4-BE49-F238E27FC236}">
                <a16:creationId xmlns:a16="http://schemas.microsoft.com/office/drawing/2014/main" id="{212ADFEA-9C26-DA9D-F143-EF59DE9B95CC}"/>
              </a:ext>
            </a:extLst>
          </p:cNvPr>
          <p:cNvSpPr txBox="1"/>
          <p:nvPr/>
        </p:nvSpPr>
        <p:spPr>
          <a:xfrm>
            <a:off x="5352420" y="1930510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s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915" name="Google Shape;915;p104">
            <a:extLst>
              <a:ext uri="{FF2B5EF4-FFF2-40B4-BE49-F238E27FC236}">
                <a16:creationId xmlns:a16="http://schemas.microsoft.com/office/drawing/2014/main" id="{BF281087-0E3F-6DA7-745B-1B81F3BBA551}"/>
              </a:ext>
            </a:extLst>
          </p:cNvPr>
          <p:cNvCxnSpPr>
            <a:cxnSpLocks/>
            <a:stCxn id="907" idx="2"/>
          </p:cNvCxnSpPr>
          <p:nvPr/>
        </p:nvCxnSpPr>
        <p:spPr>
          <a:xfrm flipH="1">
            <a:off x="5182682" y="3281363"/>
            <a:ext cx="11481" cy="16613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749;p93">
            <a:extLst>
              <a:ext uri="{FF2B5EF4-FFF2-40B4-BE49-F238E27FC236}">
                <a16:creationId xmlns:a16="http://schemas.microsoft.com/office/drawing/2014/main" id="{8C6F1D14-C504-5578-7AD6-A5D8BB7CD5AA}"/>
              </a:ext>
            </a:extLst>
          </p:cNvPr>
          <p:cNvSpPr/>
          <p:nvPr/>
        </p:nvSpPr>
        <p:spPr>
          <a:xfrm>
            <a:off x="57792" y="5686250"/>
            <a:ext cx="8978704" cy="62940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Aber wo sind die Methoden?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Pro Objekt? -&gt; Eigentlich Verschwendung...</a:t>
            </a:r>
          </a:p>
        </p:txBody>
      </p:sp>
    </p:spTree>
    <p:extLst>
      <p:ext uri="{BB962C8B-B14F-4D97-AF65-F5344CB8AC3E}">
        <p14:creationId xmlns:p14="http://schemas.microsoft.com/office/powerpoint/2010/main" val="138785341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5A3DD788-E348-96ED-DD9F-C1E8EE01F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Title 1">
            <a:extLst>
              <a:ext uri="{FF2B5EF4-FFF2-40B4-BE49-F238E27FC236}">
                <a16:creationId xmlns:a16="http://schemas.microsoft.com/office/drawing/2014/main" id="{E6738F7F-5DB7-BE9A-047F-1355F62BE9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Revisited Referenzen</a:t>
            </a:r>
            <a:endParaRPr dirty="0"/>
          </a:p>
        </p:txBody>
      </p:sp>
      <p:sp>
        <p:nvSpPr>
          <p:cNvPr id="892" name="Google Shape;892;p104">
            <a:extLst>
              <a:ext uri="{FF2B5EF4-FFF2-40B4-BE49-F238E27FC236}">
                <a16:creationId xmlns:a16="http://schemas.microsoft.com/office/drawing/2014/main" id="{C763A1C8-EE3E-3AFD-CFB3-1D9FE3E1831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</a:pPr>
              <a:t>136</a:t>
            </a:fld>
            <a:endParaRPr/>
          </a:p>
        </p:txBody>
      </p:sp>
      <p:sp>
        <p:nvSpPr>
          <p:cNvPr id="893" name="Google Shape;893;p104">
            <a:extLst>
              <a:ext uri="{FF2B5EF4-FFF2-40B4-BE49-F238E27FC236}">
                <a16:creationId xmlns:a16="http://schemas.microsoft.com/office/drawing/2014/main" id="{20703B83-EFEF-4998-1028-430CDF2218D8}"/>
              </a:ext>
            </a:extLst>
          </p:cNvPr>
          <p:cNvSpPr/>
          <p:nvPr/>
        </p:nvSpPr>
        <p:spPr>
          <a:xfrm>
            <a:off x="115050" y="1770900"/>
            <a:ext cx="6057300" cy="243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Python Laufzeit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Stack</a:t>
            </a:r>
            <a:r>
              <a:rPr lang="de-DE" dirty="0"/>
              <a:t>tack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Heap</a:t>
            </a:r>
            <a:endParaRPr dirty="0"/>
          </a:p>
        </p:txBody>
      </p:sp>
      <p:cxnSp>
        <p:nvCxnSpPr>
          <p:cNvPr id="894" name="Google Shape;894;p104">
            <a:extLst>
              <a:ext uri="{FF2B5EF4-FFF2-40B4-BE49-F238E27FC236}">
                <a16:creationId xmlns:a16="http://schemas.microsoft.com/office/drawing/2014/main" id="{CC9AD7C0-DFEC-2603-2261-07B4A0649E27}"/>
              </a:ext>
            </a:extLst>
          </p:cNvPr>
          <p:cNvCxnSpPr/>
          <p:nvPr/>
        </p:nvCxnSpPr>
        <p:spPr>
          <a:xfrm>
            <a:off x="121825" y="2413825"/>
            <a:ext cx="605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5" name="Google Shape;895;p104">
            <a:extLst>
              <a:ext uri="{FF2B5EF4-FFF2-40B4-BE49-F238E27FC236}">
                <a16:creationId xmlns:a16="http://schemas.microsoft.com/office/drawing/2014/main" id="{DA2749F9-0A74-B1D8-4910-CA332E4E12BC}"/>
              </a:ext>
            </a:extLst>
          </p:cNvPr>
          <p:cNvSpPr/>
          <p:nvPr/>
        </p:nvSpPr>
        <p:spPr>
          <a:xfrm>
            <a:off x="6379798" y="1791488"/>
            <a:ext cx="2310102" cy="6294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Der Stack ist die Welt der Programmierung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96" name="Google Shape;896;p104">
            <a:extLst>
              <a:ext uri="{FF2B5EF4-FFF2-40B4-BE49-F238E27FC236}">
                <a16:creationId xmlns:a16="http://schemas.microsoft.com/office/drawing/2014/main" id="{4F8D75FD-A981-25D7-F22D-95B44880D136}"/>
              </a:ext>
            </a:extLst>
          </p:cNvPr>
          <p:cNvSpPr/>
          <p:nvPr/>
        </p:nvSpPr>
        <p:spPr>
          <a:xfrm>
            <a:off x="6379798" y="2589348"/>
            <a:ext cx="2310102" cy="12717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Der Heap enthält alle Objekte und wird komplett von der Python Laufzeit verwaltet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98" name="Google Shape;898;p104">
            <a:extLst>
              <a:ext uri="{FF2B5EF4-FFF2-40B4-BE49-F238E27FC236}">
                <a16:creationId xmlns:a16="http://schemas.microsoft.com/office/drawing/2014/main" id="{71512DFC-43D5-6CD3-D126-A6F6DB2AD36E}"/>
              </a:ext>
            </a:extLst>
          </p:cNvPr>
          <p:cNvSpPr/>
          <p:nvPr/>
        </p:nvSpPr>
        <p:spPr>
          <a:xfrm>
            <a:off x="403740" y="2780928"/>
            <a:ext cx="927900" cy="602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[  ]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899" name="Google Shape;899;p104">
            <a:extLst>
              <a:ext uri="{FF2B5EF4-FFF2-40B4-BE49-F238E27FC236}">
                <a16:creationId xmlns:a16="http://schemas.microsoft.com/office/drawing/2014/main" id="{601BBD3A-4FC0-E97A-A206-045473BA6E72}"/>
              </a:ext>
            </a:extLst>
          </p:cNvPr>
          <p:cNvCxnSpPr>
            <a:cxnSpLocks/>
            <a:endCxn id="898" idx="0"/>
          </p:cNvCxnSpPr>
          <p:nvPr/>
        </p:nvCxnSpPr>
        <p:spPr>
          <a:xfrm flipH="1">
            <a:off x="867690" y="2319050"/>
            <a:ext cx="6693" cy="46187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1" name="Google Shape;901;p104">
            <a:extLst>
              <a:ext uri="{FF2B5EF4-FFF2-40B4-BE49-F238E27FC236}">
                <a16:creationId xmlns:a16="http://schemas.microsoft.com/office/drawing/2014/main" id="{77F778C1-935E-7E68-00A3-D3047C55A67C}"/>
              </a:ext>
            </a:extLst>
          </p:cNvPr>
          <p:cNvSpPr/>
          <p:nvPr/>
        </p:nvSpPr>
        <p:spPr>
          <a:xfrm>
            <a:off x="791825" y="2075450"/>
            <a:ext cx="213600" cy="2031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2" name="Google Shape;902;p104">
            <a:extLst>
              <a:ext uri="{FF2B5EF4-FFF2-40B4-BE49-F238E27FC236}">
                <a16:creationId xmlns:a16="http://schemas.microsoft.com/office/drawing/2014/main" id="{4D324ED6-4FED-2DD3-7CBF-694E3ADC7B45}"/>
              </a:ext>
            </a:extLst>
          </p:cNvPr>
          <p:cNvSpPr txBox="1"/>
          <p:nvPr/>
        </p:nvSpPr>
        <p:spPr>
          <a:xfrm>
            <a:off x="1031940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chemeClr val="dk1"/>
                </a:solidFill>
              </a:rPr>
              <a:t>l</a:t>
            </a:r>
            <a:endParaRPr sz="800" dirty="0">
              <a:solidFill>
                <a:schemeClr val="dk1"/>
              </a:solidFill>
            </a:endParaRPr>
          </a:p>
        </p:txBody>
      </p:sp>
      <p:sp>
        <p:nvSpPr>
          <p:cNvPr id="903" name="Google Shape;903;p104">
            <a:extLst>
              <a:ext uri="{FF2B5EF4-FFF2-40B4-BE49-F238E27FC236}">
                <a16:creationId xmlns:a16="http://schemas.microsoft.com/office/drawing/2014/main" id="{4E075E7C-127D-2EC6-4839-A8F1F968058C}"/>
              </a:ext>
            </a:extLst>
          </p:cNvPr>
          <p:cNvSpPr/>
          <p:nvPr/>
        </p:nvSpPr>
        <p:spPr>
          <a:xfrm>
            <a:off x="1640335" y="2916400"/>
            <a:ext cx="1324040" cy="377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name=Hugo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904" name="Google Shape;904;p104">
            <a:extLst>
              <a:ext uri="{FF2B5EF4-FFF2-40B4-BE49-F238E27FC236}">
                <a16:creationId xmlns:a16="http://schemas.microsoft.com/office/drawing/2014/main" id="{E4927D6C-64F7-485D-F044-6EDDBEA34667}"/>
              </a:ext>
            </a:extLst>
          </p:cNvPr>
          <p:cNvCxnSpPr>
            <a:cxnSpLocks/>
            <a:stCxn id="905" idx="4"/>
            <a:endCxn id="903" idx="0"/>
          </p:cNvCxnSpPr>
          <p:nvPr/>
        </p:nvCxnSpPr>
        <p:spPr>
          <a:xfrm flipH="1">
            <a:off x="2302355" y="2263948"/>
            <a:ext cx="2605" cy="6524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5" name="Google Shape;905;p104">
            <a:extLst>
              <a:ext uri="{FF2B5EF4-FFF2-40B4-BE49-F238E27FC236}">
                <a16:creationId xmlns:a16="http://schemas.microsoft.com/office/drawing/2014/main" id="{C7A0CC8A-B941-BFCE-F31F-072B2050C15E}"/>
              </a:ext>
            </a:extLst>
          </p:cNvPr>
          <p:cNvSpPr/>
          <p:nvPr/>
        </p:nvSpPr>
        <p:spPr>
          <a:xfrm>
            <a:off x="2198160" y="2060848"/>
            <a:ext cx="213600" cy="2031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6" name="Google Shape;906;p104">
            <a:extLst>
              <a:ext uri="{FF2B5EF4-FFF2-40B4-BE49-F238E27FC236}">
                <a16:creationId xmlns:a16="http://schemas.microsoft.com/office/drawing/2014/main" id="{D044D97C-00F5-564E-0F7B-9F35326A4C00}"/>
              </a:ext>
            </a:extLst>
          </p:cNvPr>
          <p:cNvSpPr txBox="1"/>
          <p:nvPr/>
        </p:nvSpPr>
        <p:spPr>
          <a:xfrm>
            <a:off x="2400092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p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07" name="Google Shape;907;p104">
            <a:extLst>
              <a:ext uri="{FF2B5EF4-FFF2-40B4-BE49-F238E27FC236}">
                <a16:creationId xmlns:a16="http://schemas.microsoft.com/office/drawing/2014/main" id="{41C6984C-D4A7-D412-D8DB-4FA70D09271E}"/>
              </a:ext>
            </a:extLst>
          </p:cNvPr>
          <p:cNvSpPr/>
          <p:nvPr/>
        </p:nvSpPr>
        <p:spPr>
          <a:xfrm>
            <a:off x="4572000" y="2579963"/>
            <a:ext cx="1244325" cy="701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Student</a:t>
            </a:r>
            <a:endParaRPr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name=Bert</a:t>
            </a:r>
            <a:endParaRPr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uni=TU</a:t>
            </a:r>
            <a:endParaRPr sz="1200">
              <a:solidFill>
                <a:schemeClr val="tx1"/>
              </a:solidFill>
            </a:endParaRPr>
          </a:p>
        </p:txBody>
      </p:sp>
      <p:cxnSp>
        <p:nvCxnSpPr>
          <p:cNvPr id="908" name="Google Shape;908;p104">
            <a:extLst>
              <a:ext uri="{FF2B5EF4-FFF2-40B4-BE49-F238E27FC236}">
                <a16:creationId xmlns:a16="http://schemas.microsoft.com/office/drawing/2014/main" id="{74AEBADA-0EEE-4E39-6F56-3D6DCF179C4E}"/>
              </a:ext>
            </a:extLst>
          </p:cNvPr>
          <p:cNvCxnSpPr>
            <a:cxnSpLocks/>
            <a:stCxn id="909" idx="4"/>
            <a:endCxn id="907" idx="0"/>
          </p:cNvCxnSpPr>
          <p:nvPr/>
        </p:nvCxnSpPr>
        <p:spPr>
          <a:xfrm>
            <a:off x="5194163" y="2192418"/>
            <a:ext cx="0" cy="3875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9" name="Google Shape;909;p104">
            <a:extLst>
              <a:ext uri="{FF2B5EF4-FFF2-40B4-BE49-F238E27FC236}">
                <a16:creationId xmlns:a16="http://schemas.microsoft.com/office/drawing/2014/main" id="{FBD24396-1A2D-54F0-DDBB-E9C450ECC0F0}"/>
              </a:ext>
            </a:extLst>
          </p:cNvPr>
          <p:cNvSpPr/>
          <p:nvPr/>
        </p:nvSpPr>
        <p:spPr>
          <a:xfrm>
            <a:off x="5087363" y="1989318"/>
            <a:ext cx="213600" cy="203100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10" name="Google Shape;910;p104">
            <a:extLst>
              <a:ext uri="{FF2B5EF4-FFF2-40B4-BE49-F238E27FC236}">
                <a16:creationId xmlns:a16="http://schemas.microsoft.com/office/drawing/2014/main" id="{8F555E66-1DB4-C7F9-5DB0-D84A48DA4B49}"/>
              </a:ext>
            </a:extLst>
          </p:cNvPr>
          <p:cNvSpPr txBox="1"/>
          <p:nvPr/>
        </p:nvSpPr>
        <p:spPr>
          <a:xfrm>
            <a:off x="5352420" y="1930510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11" name="Google Shape;911;p104">
            <a:extLst>
              <a:ext uri="{FF2B5EF4-FFF2-40B4-BE49-F238E27FC236}">
                <a16:creationId xmlns:a16="http://schemas.microsoft.com/office/drawing/2014/main" id="{85E41054-62D5-1484-4F1E-8CE386503DC4}"/>
              </a:ext>
            </a:extLst>
          </p:cNvPr>
          <p:cNvSpPr/>
          <p:nvPr/>
        </p:nvSpPr>
        <p:spPr>
          <a:xfrm>
            <a:off x="1510188" y="3599900"/>
            <a:ext cx="1909683" cy="60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say_hello(self)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2" name="Google Shape;912;p104">
            <a:extLst>
              <a:ext uri="{FF2B5EF4-FFF2-40B4-BE49-F238E27FC236}">
                <a16:creationId xmlns:a16="http://schemas.microsoft.com/office/drawing/2014/main" id="{81CEBFD5-112D-C1D3-FAAB-D080E873A1FD}"/>
              </a:ext>
            </a:extLst>
          </p:cNvPr>
          <p:cNvCxnSpPr>
            <a:cxnSpLocks/>
            <a:stCxn id="903" idx="2"/>
            <a:endCxn id="911" idx="0"/>
          </p:cNvCxnSpPr>
          <p:nvPr/>
        </p:nvCxnSpPr>
        <p:spPr>
          <a:xfrm>
            <a:off x="2302355" y="3293500"/>
            <a:ext cx="162675" cy="30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3" name="Google Shape;913;p104">
            <a:extLst>
              <a:ext uri="{FF2B5EF4-FFF2-40B4-BE49-F238E27FC236}">
                <a16:creationId xmlns:a16="http://schemas.microsoft.com/office/drawing/2014/main" id="{82EF6883-361A-3E28-EBA4-1F8E9927109C}"/>
              </a:ext>
            </a:extLst>
          </p:cNvPr>
          <p:cNvSpPr/>
          <p:nvPr/>
        </p:nvSpPr>
        <p:spPr>
          <a:xfrm>
            <a:off x="4405789" y="3618688"/>
            <a:ext cx="1553786" cy="602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study(self)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4" name="Google Shape;914;p104">
            <a:extLst>
              <a:ext uri="{FF2B5EF4-FFF2-40B4-BE49-F238E27FC236}">
                <a16:creationId xmlns:a16="http://schemas.microsoft.com/office/drawing/2014/main" id="{82B72B29-4FE8-C842-3D37-DF3F42A76E92}"/>
              </a:ext>
            </a:extLst>
          </p:cNvPr>
          <p:cNvCxnSpPr>
            <a:cxnSpLocks/>
            <a:stCxn id="913" idx="1"/>
            <a:endCxn id="911" idx="3"/>
          </p:cNvCxnSpPr>
          <p:nvPr/>
        </p:nvCxnSpPr>
        <p:spPr>
          <a:xfrm flipH="1" flipV="1">
            <a:off x="3419871" y="3901100"/>
            <a:ext cx="985918" cy="18788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5" name="Google Shape;915;p104">
            <a:extLst>
              <a:ext uri="{FF2B5EF4-FFF2-40B4-BE49-F238E27FC236}">
                <a16:creationId xmlns:a16="http://schemas.microsoft.com/office/drawing/2014/main" id="{BD2FFC21-397E-013B-3A66-9D12156CCE20}"/>
              </a:ext>
            </a:extLst>
          </p:cNvPr>
          <p:cNvCxnSpPr>
            <a:cxnSpLocks/>
            <a:stCxn id="907" idx="2"/>
            <a:endCxn id="913" idx="0"/>
          </p:cNvCxnSpPr>
          <p:nvPr/>
        </p:nvCxnSpPr>
        <p:spPr>
          <a:xfrm flipH="1">
            <a:off x="5182682" y="3281363"/>
            <a:ext cx="11481" cy="337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749;p93">
            <a:extLst>
              <a:ext uri="{FF2B5EF4-FFF2-40B4-BE49-F238E27FC236}">
                <a16:creationId xmlns:a16="http://schemas.microsoft.com/office/drawing/2014/main" id="{962A03E2-B30A-9B84-33B1-A2B841854D74}"/>
              </a:ext>
            </a:extLst>
          </p:cNvPr>
          <p:cNvSpPr/>
          <p:nvPr/>
        </p:nvSpPr>
        <p:spPr>
          <a:xfrm>
            <a:off x="121825" y="5591891"/>
            <a:ext cx="8748464" cy="70303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Das Klassenobjekt enthält die Methoden zentral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self ist die Referenz auf das Objekt, auf dem die Methode aufgerufen wird</a:t>
            </a:r>
          </a:p>
          <a:p>
            <a:pPr marL="1200150" lvl="2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30833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B3A3340A-047D-FC54-D4B7-9A41EC14F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Title 1">
            <a:extLst>
              <a:ext uri="{FF2B5EF4-FFF2-40B4-BE49-F238E27FC236}">
                <a16:creationId xmlns:a16="http://schemas.microsoft.com/office/drawing/2014/main" id="{B1963B3B-BAD8-ABCB-6F71-97AEDB2243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Das Klassenobjekt</a:t>
            </a:r>
            <a:endParaRPr dirty="0"/>
          </a:p>
        </p:txBody>
      </p:sp>
      <p:sp>
        <p:nvSpPr>
          <p:cNvPr id="892" name="Google Shape;892;p104">
            <a:extLst>
              <a:ext uri="{FF2B5EF4-FFF2-40B4-BE49-F238E27FC236}">
                <a16:creationId xmlns:a16="http://schemas.microsoft.com/office/drawing/2014/main" id="{5EA0278C-393D-E076-B40C-AFBD019DE501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</a:pPr>
              <a:t>137</a:t>
            </a:fld>
            <a:endParaRPr/>
          </a:p>
        </p:txBody>
      </p:sp>
      <p:sp>
        <p:nvSpPr>
          <p:cNvPr id="893" name="Google Shape;893;p104">
            <a:extLst>
              <a:ext uri="{FF2B5EF4-FFF2-40B4-BE49-F238E27FC236}">
                <a16:creationId xmlns:a16="http://schemas.microsoft.com/office/drawing/2014/main" id="{8F37574F-B25C-40E4-7262-855D624C9E1B}"/>
              </a:ext>
            </a:extLst>
          </p:cNvPr>
          <p:cNvSpPr/>
          <p:nvPr/>
        </p:nvSpPr>
        <p:spPr>
          <a:xfrm>
            <a:off x="115050" y="1770900"/>
            <a:ext cx="6057300" cy="273822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Python Laufzeit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Stack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de-D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Heap</a:t>
            </a:r>
            <a:r>
              <a:rPr lang="de-DE" dirty="0"/>
              <a:t>tack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Heap</a:t>
            </a:r>
            <a:endParaRPr dirty="0"/>
          </a:p>
        </p:txBody>
      </p:sp>
      <p:cxnSp>
        <p:nvCxnSpPr>
          <p:cNvPr id="894" name="Google Shape;894;p104">
            <a:extLst>
              <a:ext uri="{FF2B5EF4-FFF2-40B4-BE49-F238E27FC236}">
                <a16:creationId xmlns:a16="http://schemas.microsoft.com/office/drawing/2014/main" id="{6B77B52C-9030-7066-07F0-D513EDE9F78A}"/>
              </a:ext>
            </a:extLst>
          </p:cNvPr>
          <p:cNvCxnSpPr/>
          <p:nvPr/>
        </p:nvCxnSpPr>
        <p:spPr>
          <a:xfrm>
            <a:off x="121825" y="2413825"/>
            <a:ext cx="605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8" name="Google Shape;898;p104">
            <a:extLst>
              <a:ext uri="{FF2B5EF4-FFF2-40B4-BE49-F238E27FC236}">
                <a16:creationId xmlns:a16="http://schemas.microsoft.com/office/drawing/2014/main" id="{F72A7CFF-3155-C1F3-303E-A84E43882E3C}"/>
              </a:ext>
            </a:extLst>
          </p:cNvPr>
          <p:cNvSpPr/>
          <p:nvPr/>
        </p:nvSpPr>
        <p:spPr>
          <a:xfrm>
            <a:off x="403740" y="2970616"/>
            <a:ext cx="927900" cy="602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[  ]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899" name="Google Shape;899;p104">
            <a:extLst>
              <a:ext uri="{FF2B5EF4-FFF2-40B4-BE49-F238E27FC236}">
                <a16:creationId xmlns:a16="http://schemas.microsoft.com/office/drawing/2014/main" id="{7AC9AD85-AADA-5714-AFA9-396AEA179F96}"/>
              </a:ext>
            </a:extLst>
          </p:cNvPr>
          <p:cNvCxnSpPr>
            <a:cxnSpLocks/>
            <a:endCxn id="898" idx="0"/>
          </p:cNvCxnSpPr>
          <p:nvPr/>
        </p:nvCxnSpPr>
        <p:spPr>
          <a:xfrm>
            <a:off x="867690" y="2278550"/>
            <a:ext cx="0" cy="6920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1" name="Google Shape;901;p104">
            <a:extLst>
              <a:ext uri="{FF2B5EF4-FFF2-40B4-BE49-F238E27FC236}">
                <a16:creationId xmlns:a16="http://schemas.microsoft.com/office/drawing/2014/main" id="{EAC6DF43-1A91-E04A-2634-8DBB94992E4E}"/>
              </a:ext>
            </a:extLst>
          </p:cNvPr>
          <p:cNvSpPr/>
          <p:nvPr/>
        </p:nvSpPr>
        <p:spPr>
          <a:xfrm>
            <a:off x="791825" y="2075450"/>
            <a:ext cx="213600" cy="2031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2" name="Google Shape;902;p104">
            <a:extLst>
              <a:ext uri="{FF2B5EF4-FFF2-40B4-BE49-F238E27FC236}">
                <a16:creationId xmlns:a16="http://schemas.microsoft.com/office/drawing/2014/main" id="{54523229-9796-75F2-FF74-186DBC7334F1}"/>
              </a:ext>
            </a:extLst>
          </p:cNvPr>
          <p:cNvSpPr txBox="1"/>
          <p:nvPr/>
        </p:nvSpPr>
        <p:spPr>
          <a:xfrm>
            <a:off x="1031940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chemeClr val="dk1"/>
                </a:solidFill>
              </a:rPr>
              <a:t>l</a:t>
            </a:r>
            <a:endParaRPr sz="800" dirty="0">
              <a:solidFill>
                <a:schemeClr val="dk1"/>
              </a:solidFill>
            </a:endParaRPr>
          </a:p>
        </p:txBody>
      </p:sp>
      <p:sp>
        <p:nvSpPr>
          <p:cNvPr id="903" name="Google Shape;903;p104">
            <a:extLst>
              <a:ext uri="{FF2B5EF4-FFF2-40B4-BE49-F238E27FC236}">
                <a16:creationId xmlns:a16="http://schemas.microsoft.com/office/drawing/2014/main" id="{D3677D1F-17A6-5A0B-9CDD-5CEF70878314}"/>
              </a:ext>
            </a:extLst>
          </p:cNvPr>
          <p:cNvSpPr/>
          <p:nvPr/>
        </p:nvSpPr>
        <p:spPr>
          <a:xfrm>
            <a:off x="1640334" y="2916400"/>
            <a:ext cx="1627155" cy="377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name=Hugo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904" name="Google Shape;904;p104">
            <a:extLst>
              <a:ext uri="{FF2B5EF4-FFF2-40B4-BE49-F238E27FC236}">
                <a16:creationId xmlns:a16="http://schemas.microsoft.com/office/drawing/2014/main" id="{9443112A-9F76-063F-6963-1BBDEA98E561}"/>
              </a:ext>
            </a:extLst>
          </p:cNvPr>
          <p:cNvCxnSpPr>
            <a:cxnSpLocks/>
            <a:stCxn id="905" idx="4"/>
            <a:endCxn id="903" idx="0"/>
          </p:cNvCxnSpPr>
          <p:nvPr/>
        </p:nvCxnSpPr>
        <p:spPr>
          <a:xfrm>
            <a:off x="2446552" y="2308789"/>
            <a:ext cx="7360" cy="6076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5" name="Google Shape;905;p104">
            <a:extLst>
              <a:ext uri="{FF2B5EF4-FFF2-40B4-BE49-F238E27FC236}">
                <a16:creationId xmlns:a16="http://schemas.microsoft.com/office/drawing/2014/main" id="{BA822A89-F7C0-622D-1777-007AFC4CAD37}"/>
              </a:ext>
            </a:extLst>
          </p:cNvPr>
          <p:cNvSpPr/>
          <p:nvPr/>
        </p:nvSpPr>
        <p:spPr>
          <a:xfrm>
            <a:off x="2339752" y="2105689"/>
            <a:ext cx="213600" cy="2031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6" name="Google Shape;906;p104">
            <a:extLst>
              <a:ext uri="{FF2B5EF4-FFF2-40B4-BE49-F238E27FC236}">
                <a16:creationId xmlns:a16="http://schemas.microsoft.com/office/drawing/2014/main" id="{B3148F88-FD5B-15BE-FB66-3E6F21B9EEFC}"/>
              </a:ext>
            </a:extLst>
          </p:cNvPr>
          <p:cNvSpPr txBox="1"/>
          <p:nvPr/>
        </p:nvSpPr>
        <p:spPr>
          <a:xfrm>
            <a:off x="2550276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p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07" name="Google Shape;907;p104">
            <a:extLst>
              <a:ext uri="{FF2B5EF4-FFF2-40B4-BE49-F238E27FC236}">
                <a16:creationId xmlns:a16="http://schemas.microsoft.com/office/drawing/2014/main" id="{E1DE344F-5157-1E99-0D50-8480973165F1}"/>
              </a:ext>
            </a:extLst>
          </p:cNvPr>
          <p:cNvSpPr/>
          <p:nvPr/>
        </p:nvSpPr>
        <p:spPr>
          <a:xfrm>
            <a:off x="4413150" y="2579963"/>
            <a:ext cx="1546425" cy="701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Student</a:t>
            </a:r>
            <a:endParaRPr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name=Bert</a:t>
            </a:r>
            <a:endParaRPr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uni=TU</a:t>
            </a:r>
            <a:endParaRPr sz="1200">
              <a:solidFill>
                <a:schemeClr val="tx1"/>
              </a:solidFill>
            </a:endParaRPr>
          </a:p>
        </p:txBody>
      </p:sp>
      <p:cxnSp>
        <p:nvCxnSpPr>
          <p:cNvPr id="908" name="Google Shape;908;p104">
            <a:extLst>
              <a:ext uri="{FF2B5EF4-FFF2-40B4-BE49-F238E27FC236}">
                <a16:creationId xmlns:a16="http://schemas.microsoft.com/office/drawing/2014/main" id="{CA032650-2189-2BFE-B8B2-8E550E4F9B1F}"/>
              </a:ext>
            </a:extLst>
          </p:cNvPr>
          <p:cNvCxnSpPr>
            <a:cxnSpLocks/>
            <a:stCxn id="909" idx="4"/>
            <a:endCxn id="907" idx="0"/>
          </p:cNvCxnSpPr>
          <p:nvPr/>
        </p:nvCxnSpPr>
        <p:spPr>
          <a:xfrm flipH="1">
            <a:off x="5186363" y="2192418"/>
            <a:ext cx="7800" cy="3875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9" name="Google Shape;909;p104">
            <a:extLst>
              <a:ext uri="{FF2B5EF4-FFF2-40B4-BE49-F238E27FC236}">
                <a16:creationId xmlns:a16="http://schemas.microsoft.com/office/drawing/2014/main" id="{8AA54264-B791-1FC5-1261-10A3951819AB}"/>
              </a:ext>
            </a:extLst>
          </p:cNvPr>
          <p:cNvSpPr/>
          <p:nvPr/>
        </p:nvSpPr>
        <p:spPr>
          <a:xfrm>
            <a:off x="5087363" y="1989318"/>
            <a:ext cx="213600" cy="203100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10" name="Google Shape;910;p104">
            <a:extLst>
              <a:ext uri="{FF2B5EF4-FFF2-40B4-BE49-F238E27FC236}">
                <a16:creationId xmlns:a16="http://schemas.microsoft.com/office/drawing/2014/main" id="{988DD688-D488-5A73-DAD7-5784927D2FF9}"/>
              </a:ext>
            </a:extLst>
          </p:cNvPr>
          <p:cNvSpPr txBox="1"/>
          <p:nvPr/>
        </p:nvSpPr>
        <p:spPr>
          <a:xfrm>
            <a:off x="5352420" y="1930510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11" name="Google Shape;911;p104">
            <a:extLst>
              <a:ext uri="{FF2B5EF4-FFF2-40B4-BE49-F238E27FC236}">
                <a16:creationId xmlns:a16="http://schemas.microsoft.com/office/drawing/2014/main" id="{E58822D5-1195-0FC3-A26E-08B1ECC7DAAD}"/>
              </a:ext>
            </a:extLst>
          </p:cNvPr>
          <p:cNvSpPr/>
          <p:nvPr/>
        </p:nvSpPr>
        <p:spPr>
          <a:xfrm>
            <a:off x="1510188" y="3599900"/>
            <a:ext cx="1909683" cy="60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say_hello(self)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2" name="Google Shape;912;p104">
            <a:extLst>
              <a:ext uri="{FF2B5EF4-FFF2-40B4-BE49-F238E27FC236}">
                <a16:creationId xmlns:a16="http://schemas.microsoft.com/office/drawing/2014/main" id="{01AAEBCB-8DCD-0B2F-8055-5C0147915A3D}"/>
              </a:ext>
            </a:extLst>
          </p:cNvPr>
          <p:cNvCxnSpPr>
            <a:cxnSpLocks/>
            <a:stCxn id="903" idx="2"/>
            <a:endCxn id="911" idx="0"/>
          </p:cNvCxnSpPr>
          <p:nvPr/>
        </p:nvCxnSpPr>
        <p:spPr>
          <a:xfrm>
            <a:off x="2453912" y="3293500"/>
            <a:ext cx="11118" cy="30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3" name="Google Shape;913;p104">
            <a:extLst>
              <a:ext uri="{FF2B5EF4-FFF2-40B4-BE49-F238E27FC236}">
                <a16:creationId xmlns:a16="http://schemas.microsoft.com/office/drawing/2014/main" id="{DC92E596-738D-C12F-9359-3E0AE250934C}"/>
              </a:ext>
            </a:extLst>
          </p:cNvPr>
          <p:cNvSpPr/>
          <p:nvPr/>
        </p:nvSpPr>
        <p:spPr>
          <a:xfrm>
            <a:off x="4405789" y="3618688"/>
            <a:ext cx="1553786" cy="602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study(self)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5" name="Google Shape;915;p104">
            <a:extLst>
              <a:ext uri="{FF2B5EF4-FFF2-40B4-BE49-F238E27FC236}">
                <a16:creationId xmlns:a16="http://schemas.microsoft.com/office/drawing/2014/main" id="{7D94EC40-C09E-FE1A-8A26-29B84F1A7CEC}"/>
              </a:ext>
            </a:extLst>
          </p:cNvPr>
          <p:cNvCxnSpPr>
            <a:cxnSpLocks/>
            <a:stCxn id="907" idx="2"/>
            <a:endCxn id="913" idx="0"/>
          </p:cNvCxnSpPr>
          <p:nvPr/>
        </p:nvCxnSpPr>
        <p:spPr>
          <a:xfrm flipH="1">
            <a:off x="5182682" y="3281363"/>
            <a:ext cx="3681" cy="337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749;p93">
            <a:extLst>
              <a:ext uri="{FF2B5EF4-FFF2-40B4-BE49-F238E27FC236}">
                <a16:creationId xmlns:a16="http://schemas.microsoft.com/office/drawing/2014/main" id="{1AFCF69D-6C8D-53B0-A6C2-9B11F18CFF34}"/>
              </a:ext>
            </a:extLst>
          </p:cNvPr>
          <p:cNvSpPr/>
          <p:nvPr/>
        </p:nvSpPr>
        <p:spPr>
          <a:xfrm>
            <a:off x="231304" y="4809400"/>
            <a:ext cx="8748464" cy="70548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Das Klassenobjekt enthält die Methoden zentral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de-DE" dirty="0">
                <a:solidFill>
                  <a:schemeClr val="tx1"/>
                </a:solidFill>
              </a:rPr>
              <a:t> ist die Referenz auf das Objekt, auf dem die Methode aufgerufen wird</a:t>
            </a:r>
          </a:p>
        </p:txBody>
      </p:sp>
      <p:sp>
        <p:nvSpPr>
          <p:cNvPr id="10" name="Google Shape;749;p93">
            <a:extLst>
              <a:ext uri="{FF2B5EF4-FFF2-40B4-BE49-F238E27FC236}">
                <a16:creationId xmlns:a16="http://schemas.microsoft.com/office/drawing/2014/main" id="{E158B038-1AB8-1F1D-94A7-EF422C5446B4}"/>
              </a:ext>
            </a:extLst>
          </p:cNvPr>
          <p:cNvSpPr/>
          <p:nvPr/>
        </p:nvSpPr>
        <p:spPr>
          <a:xfrm>
            <a:off x="216024" y="5603831"/>
            <a:ext cx="8748464" cy="70548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Aber wo ist die Vererbung?</a:t>
            </a:r>
          </a:p>
        </p:txBody>
      </p:sp>
    </p:spTree>
    <p:extLst>
      <p:ext uri="{BB962C8B-B14F-4D97-AF65-F5344CB8AC3E}">
        <p14:creationId xmlns:p14="http://schemas.microsoft.com/office/powerpoint/2010/main" val="71512183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9923909D-6A72-7673-7EE8-0FE889F5B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Title 1">
            <a:extLst>
              <a:ext uri="{FF2B5EF4-FFF2-40B4-BE49-F238E27FC236}">
                <a16:creationId xmlns:a16="http://schemas.microsoft.com/office/drawing/2014/main" id="{3B9FAC8A-16F3-ACD2-0FAF-6C84BC7978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Das Klassenobjekt</a:t>
            </a:r>
            <a:endParaRPr dirty="0"/>
          </a:p>
        </p:txBody>
      </p:sp>
      <p:sp>
        <p:nvSpPr>
          <p:cNvPr id="892" name="Google Shape;892;p104">
            <a:extLst>
              <a:ext uri="{FF2B5EF4-FFF2-40B4-BE49-F238E27FC236}">
                <a16:creationId xmlns:a16="http://schemas.microsoft.com/office/drawing/2014/main" id="{0E2E7B3A-6A58-FEFF-F756-CFB8F93C39F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</a:pPr>
              <a:t>138</a:t>
            </a:fld>
            <a:endParaRPr/>
          </a:p>
        </p:txBody>
      </p:sp>
      <p:sp>
        <p:nvSpPr>
          <p:cNvPr id="893" name="Google Shape;893;p104">
            <a:extLst>
              <a:ext uri="{FF2B5EF4-FFF2-40B4-BE49-F238E27FC236}">
                <a16:creationId xmlns:a16="http://schemas.microsoft.com/office/drawing/2014/main" id="{9492FEFD-C5F3-2E71-0AB0-4CBF579D9969}"/>
              </a:ext>
            </a:extLst>
          </p:cNvPr>
          <p:cNvSpPr/>
          <p:nvPr/>
        </p:nvSpPr>
        <p:spPr>
          <a:xfrm>
            <a:off x="115050" y="1770900"/>
            <a:ext cx="6057300" cy="273822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Python Laufzeit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Stack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de-D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Heap</a:t>
            </a:r>
            <a:r>
              <a:rPr lang="de-DE" dirty="0"/>
              <a:t>tack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Heap</a:t>
            </a:r>
            <a:endParaRPr dirty="0"/>
          </a:p>
        </p:txBody>
      </p:sp>
      <p:cxnSp>
        <p:nvCxnSpPr>
          <p:cNvPr id="894" name="Google Shape;894;p104">
            <a:extLst>
              <a:ext uri="{FF2B5EF4-FFF2-40B4-BE49-F238E27FC236}">
                <a16:creationId xmlns:a16="http://schemas.microsoft.com/office/drawing/2014/main" id="{32ED7AE5-0D6F-8DEA-6572-DE9D6AB5598E}"/>
              </a:ext>
            </a:extLst>
          </p:cNvPr>
          <p:cNvCxnSpPr/>
          <p:nvPr/>
        </p:nvCxnSpPr>
        <p:spPr>
          <a:xfrm>
            <a:off x="121825" y="2413825"/>
            <a:ext cx="605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8" name="Google Shape;898;p104">
            <a:extLst>
              <a:ext uri="{FF2B5EF4-FFF2-40B4-BE49-F238E27FC236}">
                <a16:creationId xmlns:a16="http://schemas.microsoft.com/office/drawing/2014/main" id="{E74BD288-EFA1-AE54-E891-4EAA813DCB7D}"/>
              </a:ext>
            </a:extLst>
          </p:cNvPr>
          <p:cNvSpPr/>
          <p:nvPr/>
        </p:nvSpPr>
        <p:spPr>
          <a:xfrm>
            <a:off x="434675" y="2845976"/>
            <a:ext cx="927900" cy="602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[  ]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899" name="Google Shape;899;p104">
            <a:extLst>
              <a:ext uri="{FF2B5EF4-FFF2-40B4-BE49-F238E27FC236}">
                <a16:creationId xmlns:a16="http://schemas.microsoft.com/office/drawing/2014/main" id="{A05A151B-3BA1-A3AC-451B-E16C750A7870}"/>
              </a:ext>
            </a:extLst>
          </p:cNvPr>
          <p:cNvCxnSpPr>
            <a:cxnSpLocks/>
            <a:stCxn id="901" idx="4"/>
            <a:endCxn id="898" idx="0"/>
          </p:cNvCxnSpPr>
          <p:nvPr/>
        </p:nvCxnSpPr>
        <p:spPr>
          <a:xfrm>
            <a:off x="898625" y="2278550"/>
            <a:ext cx="0" cy="56742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1" name="Google Shape;901;p104">
            <a:extLst>
              <a:ext uri="{FF2B5EF4-FFF2-40B4-BE49-F238E27FC236}">
                <a16:creationId xmlns:a16="http://schemas.microsoft.com/office/drawing/2014/main" id="{1E5453A9-935D-90E1-3962-AE04F9E202D5}"/>
              </a:ext>
            </a:extLst>
          </p:cNvPr>
          <p:cNvSpPr/>
          <p:nvPr/>
        </p:nvSpPr>
        <p:spPr>
          <a:xfrm>
            <a:off x="791825" y="2075450"/>
            <a:ext cx="213600" cy="2031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2" name="Google Shape;902;p104">
            <a:extLst>
              <a:ext uri="{FF2B5EF4-FFF2-40B4-BE49-F238E27FC236}">
                <a16:creationId xmlns:a16="http://schemas.microsoft.com/office/drawing/2014/main" id="{2427E911-F887-BE2E-0CF7-5715ED1E28B7}"/>
              </a:ext>
            </a:extLst>
          </p:cNvPr>
          <p:cNvSpPr txBox="1"/>
          <p:nvPr/>
        </p:nvSpPr>
        <p:spPr>
          <a:xfrm>
            <a:off x="1031940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chemeClr val="dk1"/>
                </a:solidFill>
              </a:rPr>
              <a:t>l</a:t>
            </a:r>
            <a:endParaRPr sz="800" dirty="0">
              <a:solidFill>
                <a:schemeClr val="dk1"/>
              </a:solidFill>
            </a:endParaRPr>
          </a:p>
        </p:txBody>
      </p:sp>
      <p:sp>
        <p:nvSpPr>
          <p:cNvPr id="903" name="Google Shape;903;p104">
            <a:extLst>
              <a:ext uri="{FF2B5EF4-FFF2-40B4-BE49-F238E27FC236}">
                <a16:creationId xmlns:a16="http://schemas.microsoft.com/office/drawing/2014/main" id="{080DE2B8-D48B-4C78-0AFC-85878532E6ED}"/>
              </a:ext>
            </a:extLst>
          </p:cNvPr>
          <p:cNvSpPr/>
          <p:nvPr/>
        </p:nvSpPr>
        <p:spPr>
          <a:xfrm>
            <a:off x="1640334" y="2916400"/>
            <a:ext cx="1627155" cy="377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name=Hugo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904" name="Google Shape;904;p104">
            <a:extLst>
              <a:ext uri="{FF2B5EF4-FFF2-40B4-BE49-F238E27FC236}">
                <a16:creationId xmlns:a16="http://schemas.microsoft.com/office/drawing/2014/main" id="{4EB3E5CE-02C2-7DB5-22CF-49EEA07BD52D}"/>
              </a:ext>
            </a:extLst>
          </p:cNvPr>
          <p:cNvCxnSpPr>
            <a:cxnSpLocks/>
            <a:stCxn id="905" idx="4"/>
            <a:endCxn id="903" idx="0"/>
          </p:cNvCxnSpPr>
          <p:nvPr/>
        </p:nvCxnSpPr>
        <p:spPr>
          <a:xfrm>
            <a:off x="2446552" y="2308789"/>
            <a:ext cx="7360" cy="6076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5" name="Google Shape;905;p104">
            <a:extLst>
              <a:ext uri="{FF2B5EF4-FFF2-40B4-BE49-F238E27FC236}">
                <a16:creationId xmlns:a16="http://schemas.microsoft.com/office/drawing/2014/main" id="{B569D1C2-1EE9-F099-11D6-C4B895924F9E}"/>
              </a:ext>
            </a:extLst>
          </p:cNvPr>
          <p:cNvSpPr/>
          <p:nvPr/>
        </p:nvSpPr>
        <p:spPr>
          <a:xfrm>
            <a:off x="2339752" y="2105689"/>
            <a:ext cx="213600" cy="2031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6" name="Google Shape;906;p104">
            <a:extLst>
              <a:ext uri="{FF2B5EF4-FFF2-40B4-BE49-F238E27FC236}">
                <a16:creationId xmlns:a16="http://schemas.microsoft.com/office/drawing/2014/main" id="{340B39DD-FE6F-A123-7843-8820B847606C}"/>
              </a:ext>
            </a:extLst>
          </p:cNvPr>
          <p:cNvSpPr txBox="1"/>
          <p:nvPr/>
        </p:nvSpPr>
        <p:spPr>
          <a:xfrm>
            <a:off x="2550276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p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07" name="Google Shape;907;p104">
            <a:extLst>
              <a:ext uri="{FF2B5EF4-FFF2-40B4-BE49-F238E27FC236}">
                <a16:creationId xmlns:a16="http://schemas.microsoft.com/office/drawing/2014/main" id="{EFF20B4A-E88F-BFE1-1C7D-5F13FF1EC55F}"/>
              </a:ext>
            </a:extLst>
          </p:cNvPr>
          <p:cNvSpPr/>
          <p:nvPr/>
        </p:nvSpPr>
        <p:spPr>
          <a:xfrm>
            <a:off x="4413150" y="2579963"/>
            <a:ext cx="1546425" cy="701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Student</a:t>
            </a:r>
            <a:endParaRPr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name=Bert</a:t>
            </a:r>
            <a:endParaRPr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uni=TU</a:t>
            </a:r>
            <a:endParaRPr sz="1200">
              <a:solidFill>
                <a:schemeClr val="tx1"/>
              </a:solidFill>
            </a:endParaRPr>
          </a:p>
        </p:txBody>
      </p:sp>
      <p:cxnSp>
        <p:nvCxnSpPr>
          <p:cNvPr id="908" name="Google Shape;908;p104">
            <a:extLst>
              <a:ext uri="{FF2B5EF4-FFF2-40B4-BE49-F238E27FC236}">
                <a16:creationId xmlns:a16="http://schemas.microsoft.com/office/drawing/2014/main" id="{39C050F7-0FB0-AB40-D01C-4BC02ECF1D43}"/>
              </a:ext>
            </a:extLst>
          </p:cNvPr>
          <p:cNvCxnSpPr>
            <a:cxnSpLocks/>
            <a:stCxn id="909" idx="4"/>
            <a:endCxn id="907" idx="0"/>
          </p:cNvCxnSpPr>
          <p:nvPr/>
        </p:nvCxnSpPr>
        <p:spPr>
          <a:xfrm flipH="1">
            <a:off x="5186363" y="2192418"/>
            <a:ext cx="7800" cy="3875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9" name="Google Shape;909;p104">
            <a:extLst>
              <a:ext uri="{FF2B5EF4-FFF2-40B4-BE49-F238E27FC236}">
                <a16:creationId xmlns:a16="http://schemas.microsoft.com/office/drawing/2014/main" id="{B5E8517B-C4E1-35F4-BE33-9D5B32B588A6}"/>
              </a:ext>
            </a:extLst>
          </p:cNvPr>
          <p:cNvSpPr/>
          <p:nvPr/>
        </p:nvSpPr>
        <p:spPr>
          <a:xfrm>
            <a:off x="5087363" y="1989318"/>
            <a:ext cx="213600" cy="203100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10" name="Google Shape;910;p104">
            <a:extLst>
              <a:ext uri="{FF2B5EF4-FFF2-40B4-BE49-F238E27FC236}">
                <a16:creationId xmlns:a16="http://schemas.microsoft.com/office/drawing/2014/main" id="{9D508E93-D0E9-3BEB-AD48-74114CEDB6E0}"/>
              </a:ext>
            </a:extLst>
          </p:cNvPr>
          <p:cNvSpPr txBox="1"/>
          <p:nvPr/>
        </p:nvSpPr>
        <p:spPr>
          <a:xfrm>
            <a:off x="5352420" y="1930510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11" name="Google Shape;911;p104">
            <a:extLst>
              <a:ext uri="{FF2B5EF4-FFF2-40B4-BE49-F238E27FC236}">
                <a16:creationId xmlns:a16="http://schemas.microsoft.com/office/drawing/2014/main" id="{4655EC99-51F6-24A6-A810-5726379DAB6A}"/>
              </a:ext>
            </a:extLst>
          </p:cNvPr>
          <p:cNvSpPr/>
          <p:nvPr/>
        </p:nvSpPr>
        <p:spPr>
          <a:xfrm>
            <a:off x="1510188" y="3599900"/>
            <a:ext cx="1909683" cy="60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say_hello(self)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2" name="Google Shape;912;p104">
            <a:extLst>
              <a:ext uri="{FF2B5EF4-FFF2-40B4-BE49-F238E27FC236}">
                <a16:creationId xmlns:a16="http://schemas.microsoft.com/office/drawing/2014/main" id="{B50F18CB-72F8-FF0A-DA42-7DF534E45F69}"/>
              </a:ext>
            </a:extLst>
          </p:cNvPr>
          <p:cNvCxnSpPr>
            <a:cxnSpLocks/>
            <a:stCxn id="903" idx="2"/>
            <a:endCxn id="911" idx="0"/>
          </p:cNvCxnSpPr>
          <p:nvPr/>
        </p:nvCxnSpPr>
        <p:spPr>
          <a:xfrm>
            <a:off x="2453912" y="3293500"/>
            <a:ext cx="11118" cy="30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3" name="Google Shape;913;p104">
            <a:extLst>
              <a:ext uri="{FF2B5EF4-FFF2-40B4-BE49-F238E27FC236}">
                <a16:creationId xmlns:a16="http://schemas.microsoft.com/office/drawing/2014/main" id="{ED1627F1-2601-5A80-2A41-B54C0F7677EC}"/>
              </a:ext>
            </a:extLst>
          </p:cNvPr>
          <p:cNvSpPr/>
          <p:nvPr/>
        </p:nvSpPr>
        <p:spPr>
          <a:xfrm>
            <a:off x="4405789" y="3618688"/>
            <a:ext cx="1553786" cy="602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study(self)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5" name="Google Shape;915;p104">
            <a:extLst>
              <a:ext uri="{FF2B5EF4-FFF2-40B4-BE49-F238E27FC236}">
                <a16:creationId xmlns:a16="http://schemas.microsoft.com/office/drawing/2014/main" id="{6FC69C70-C70C-D05F-6F69-9A9B81877343}"/>
              </a:ext>
            </a:extLst>
          </p:cNvPr>
          <p:cNvCxnSpPr>
            <a:cxnSpLocks/>
            <a:stCxn id="907" idx="2"/>
            <a:endCxn id="913" idx="0"/>
          </p:cNvCxnSpPr>
          <p:nvPr/>
        </p:nvCxnSpPr>
        <p:spPr>
          <a:xfrm flipH="1">
            <a:off x="5182682" y="3281363"/>
            <a:ext cx="3681" cy="337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749;p93">
            <a:extLst>
              <a:ext uri="{FF2B5EF4-FFF2-40B4-BE49-F238E27FC236}">
                <a16:creationId xmlns:a16="http://schemas.microsoft.com/office/drawing/2014/main" id="{9BB160F5-19CE-BDEF-F805-F96D2214074B}"/>
              </a:ext>
            </a:extLst>
          </p:cNvPr>
          <p:cNvSpPr/>
          <p:nvPr/>
        </p:nvSpPr>
        <p:spPr>
          <a:xfrm>
            <a:off x="231304" y="4809400"/>
            <a:ext cx="8748464" cy="70548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Das Klassenobjekt enthält die Methoden zentral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de-DE" dirty="0">
                <a:solidFill>
                  <a:schemeClr val="tx1"/>
                </a:solidFill>
              </a:rPr>
              <a:t> ist die Referenz auf das Objekt, auf dem die Methode aufgerufen wird</a:t>
            </a:r>
          </a:p>
        </p:txBody>
      </p:sp>
      <p:sp>
        <p:nvSpPr>
          <p:cNvPr id="10" name="Google Shape;749;p93">
            <a:extLst>
              <a:ext uri="{FF2B5EF4-FFF2-40B4-BE49-F238E27FC236}">
                <a16:creationId xmlns:a16="http://schemas.microsoft.com/office/drawing/2014/main" id="{497CBD83-EC81-59F8-330B-CCD7BAE5595C}"/>
              </a:ext>
            </a:extLst>
          </p:cNvPr>
          <p:cNvSpPr/>
          <p:nvPr/>
        </p:nvSpPr>
        <p:spPr>
          <a:xfrm>
            <a:off x="216024" y="5603831"/>
            <a:ext cx="8748464" cy="70548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Aber wo ist die Vererbung?</a:t>
            </a:r>
          </a:p>
        </p:txBody>
      </p:sp>
    </p:spTree>
    <p:extLst>
      <p:ext uri="{BB962C8B-B14F-4D97-AF65-F5344CB8AC3E}">
        <p14:creationId xmlns:p14="http://schemas.microsoft.com/office/powerpoint/2010/main" val="23178133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D42836DC-F4EA-4C4C-95D7-1DAFEE7A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Title 1">
            <a:extLst>
              <a:ext uri="{FF2B5EF4-FFF2-40B4-BE49-F238E27FC236}">
                <a16:creationId xmlns:a16="http://schemas.microsoft.com/office/drawing/2014/main" id="{D464BA1D-3D69-199D-FDA8-441D1AB964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Vererbung</a:t>
            </a:r>
            <a:endParaRPr dirty="0"/>
          </a:p>
        </p:txBody>
      </p:sp>
      <p:sp>
        <p:nvSpPr>
          <p:cNvPr id="892" name="Google Shape;892;p104">
            <a:extLst>
              <a:ext uri="{FF2B5EF4-FFF2-40B4-BE49-F238E27FC236}">
                <a16:creationId xmlns:a16="http://schemas.microsoft.com/office/drawing/2014/main" id="{5C1898A6-7039-7DEC-8312-23BCAF89B26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</a:pPr>
              <a:t>139</a:t>
            </a:fld>
            <a:endParaRPr/>
          </a:p>
        </p:txBody>
      </p:sp>
      <p:sp>
        <p:nvSpPr>
          <p:cNvPr id="893" name="Google Shape;893;p104">
            <a:extLst>
              <a:ext uri="{FF2B5EF4-FFF2-40B4-BE49-F238E27FC236}">
                <a16:creationId xmlns:a16="http://schemas.microsoft.com/office/drawing/2014/main" id="{0215E528-0BEA-C9F5-3591-8AA6F1312722}"/>
              </a:ext>
            </a:extLst>
          </p:cNvPr>
          <p:cNvSpPr/>
          <p:nvPr/>
        </p:nvSpPr>
        <p:spPr>
          <a:xfrm>
            <a:off x="115050" y="1770900"/>
            <a:ext cx="6057300" cy="273822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Python Laufzeit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Stack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de-D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Heap</a:t>
            </a:r>
            <a:r>
              <a:rPr lang="de-DE" dirty="0"/>
              <a:t>tack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Heap</a:t>
            </a:r>
            <a:endParaRPr dirty="0"/>
          </a:p>
        </p:txBody>
      </p:sp>
      <p:cxnSp>
        <p:nvCxnSpPr>
          <p:cNvPr id="894" name="Google Shape;894;p104">
            <a:extLst>
              <a:ext uri="{FF2B5EF4-FFF2-40B4-BE49-F238E27FC236}">
                <a16:creationId xmlns:a16="http://schemas.microsoft.com/office/drawing/2014/main" id="{B9C50AC0-9825-50FB-34AF-C8C36559B6FC}"/>
              </a:ext>
            </a:extLst>
          </p:cNvPr>
          <p:cNvCxnSpPr/>
          <p:nvPr/>
        </p:nvCxnSpPr>
        <p:spPr>
          <a:xfrm>
            <a:off x="121825" y="2413825"/>
            <a:ext cx="605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8" name="Google Shape;898;p104">
            <a:extLst>
              <a:ext uri="{FF2B5EF4-FFF2-40B4-BE49-F238E27FC236}">
                <a16:creationId xmlns:a16="http://schemas.microsoft.com/office/drawing/2014/main" id="{325A83ED-558B-DBE8-FE30-23C5498B9202}"/>
              </a:ext>
            </a:extLst>
          </p:cNvPr>
          <p:cNvSpPr/>
          <p:nvPr/>
        </p:nvSpPr>
        <p:spPr>
          <a:xfrm>
            <a:off x="434675" y="2948488"/>
            <a:ext cx="927900" cy="602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[  ]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899" name="Google Shape;899;p104">
            <a:extLst>
              <a:ext uri="{FF2B5EF4-FFF2-40B4-BE49-F238E27FC236}">
                <a16:creationId xmlns:a16="http://schemas.microsoft.com/office/drawing/2014/main" id="{ECCD4F3F-AF38-052B-9902-0A425AC5105A}"/>
              </a:ext>
            </a:extLst>
          </p:cNvPr>
          <p:cNvCxnSpPr>
            <a:cxnSpLocks/>
            <a:stCxn id="901" idx="4"/>
            <a:endCxn id="898" idx="0"/>
          </p:cNvCxnSpPr>
          <p:nvPr/>
        </p:nvCxnSpPr>
        <p:spPr>
          <a:xfrm>
            <a:off x="898625" y="2278550"/>
            <a:ext cx="0" cy="6699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1" name="Google Shape;901;p104">
            <a:extLst>
              <a:ext uri="{FF2B5EF4-FFF2-40B4-BE49-F238E27FC236}">
                <a16:creationId xmlns:a16="http://schemas.microsoft.com/office/drawing/2014/main" id="{A5DC5F47-DEAA-C535-7974-BF3991A709D4}"/>
              </a:ext>
            </a:extLst>
          </p:cNvPr>
          <p:cNvSpPr/>
          <p:nvPr/>
        </p:nvSpPr>
        <p:spPr>
          <a:xfrm>
            <a:off x="791825" y="2075450"/>
            <a:ext cx="213600" cy="2031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2" name="Google Shape;902;p104">
            <a:extLst>
              <a:ext uri="{FF2B5EF4-FFF2-40B4-BE49-F238E27FC236}">
                <a16:creationId xmlns:a16="http://schemas.microsoft.com/office/drawing/2014/main" id="{0DC610E0-15AF-38DA-D39D-5CED550C3FF5}"/>
              </a:ext>
            </a:extLst>
          </p:cNvPr>
          <p:cNvSpPr txBox="1"/>
          <p:nvPr/>
        </p:nvSpPr>
        <p:spPr>
          <a:xfrm>
            <a:off x="1031940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chemeClr val="dk1"/>
                </a:solidFill>
              </a:rPr>
              <a:t>l</a:t>
            </a:r>
            <a:endParaRPr sz="800" dirty="0">
              <a:solidFill>
                <a:schemeClr val="dk1"/>
              </a:solidFill>
            </a:endParaRPr>
          </a:p>
        </p:txBody>
      </p:sp>
      <p:sp>
        <p:nvSpPr>
          <p:cNvPr id="903" name="Google Shape;903;p104">
            <a:extLst>
              <a:ext uri="{FF2B5EF4-FFF2-40B4-BE49-F238E27FC236}">
                <a16:creationId xmlns:a16="http://schemas.microsoft.com/office/drawing/2014/main" id="{42EFE00A-867A-C0FB-26D3-F37AD70DB8C6}"/>
              </a:ext>
            </a:extLst>
          </p:cNvPr>
          <p:cNvSpPr/>
          <p:nvPr/>
        </p:nvSpPr>
        <p:spPr>
          <a:xfrm>
            <a:off x="1640334" y="2916400"/>
            <a:ext cx="1627155" cy="377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name=Hugo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904" name="Google Shape;904;p104">
            <a:extLst>
              <a:ext uri="{FF2B5EF4-FFF2-40B4-BE49-F238E27FC236}">
                <a16:creationId xmlns:a16="http://schemas.microsoft.com/office/drawing/2014/main" id="{849C7BDD-FBC4-61FC-5A43-9752F8984830}"/>
              </a:ext>
            </a:extLst>
          </p:cNvPr>
          <p:cNvCxnSpPr>
            <a:cxnSpLocks/>
            <a:stCxn id="905" idx="4"/>
            <a:endCxn id="903" idx="0"/>
          </p:cNvCxnSpPr>
          <p:nvPr/>
        </p:nvCxnSpPr>
        <p:spPr>
          <a:xfrm>
            <a:off x="2446552" y="2308789"/>
            <a:ext cx="7360" cy="6076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5" name="Google Shape;905;p104">
            <a:extLst>
              <a:ext uri="{FF2B5EF4-FFF2-40B4-BE49-F238E27FC236}">
                <a16:creationId xmlns:a16="http://schemas.microsoft.com/office/drawing/2014/main" id="{2B07AE03-EB31-3723-7BBC-14E6D7425C3B}"/>
              </a:ext>
            </a:extLst>
          </p:cNvPr>
          <p:cNvSpPr/>
          <p:nvPr/>
        </p:nvSpPr>
        <p:spPr>
          <a:xfrm>
            <a:off x="2339752" y="2105689"/>
            <a:ext cx="213600" cy="2031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6" name="Google Shape;906;p104">
            <a:extLst>
              <a:ext uri="{FF2B5EF4-FFF2-40B4-BE49-F238E27FC236}">
                <a16:creationId xmlns:a16="http://schemas.microsoft.com/office/drawing/2014/main" id="{1A64782F-3F52-F834-34B1-BD1A1056A3BA}"/>
              </a:ext>
            </a:extLst>
          </p:cNvPr>
          <p:cNvSpPr txBox="1"/>
          <p:nvPr/>
        </p:nvSpPr>
        <p:spPr>
          <a:xfrm>
            <a:off x="2550276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p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07" name="Google Shape;907;p104">
            <a:extLst>
              <a:ext uri="{FF2B5EF4-FFF2-40B4-BE49-F238E27FC236}">
                <a16:creationId xmlns:a16="http://schemas.microsoft.com/office/drawing/2014/main" id="{E2F84AB3-B9E5-AF04-B92B-C99ADA40E894}"/>
              </a:ext>
            </a:extLst>
          </p:cNvPr>
          <p:cNvSpPr/>
          <p:nvPr/>
        </p:nvSpPr>
        <p:spPr>
          <a:xfrm>
            <a:off x="4413150" y="2579963"/>
            <a:ext cx="1546425" cy="701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Student</a:t>
            </a:r>
            <a:endParaRPr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name=Bert</a:t>
            </a:r>
            <a:endParaRPr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>
                <a:solidFill>
                  <a:schemeClr val="tx1"/>
                </a:solidFill>
              </a:rPr>
              <a:t>uni=TU</a:t>
            </a:r>
            <a:endParaRPr sz="1200">
              <a:solidFill>
                <a:schemeClr val="tx1"/>
              </a:solidFill>
            </a:endParaRPr>
          </a:p>
        </p:txBody>
      </p:sp>
      <p:cxnSp>
        <p:nvCxnSpPr>
          <p:cNvPr id="908" name="Google Shape;908;p104">
            <a:extLst>
              <a:ext uri="{FF2B5EF4-FFF2-40B4-BE49-F238E27FC236}">
                <a16:creationId xmlns:a16="http://schemas.microsoft.com/office/drawing/2014/main" id="{43787B2D-194A-5B40-988C-D2D166C23489}"/>
              </a:ext>
            </a:extLst>
          </p:cNvPr>
          <p:cNvCxnSpPr>
            <a:cxnSpLocks/>
            <a:stCxn id="909" idx="4"/>
            <a:endCxn id="907" idx="0"/>
          </p:cNvCxnSpPr>
          <p:nvPr/>
        </p:nvCxnSpPr>
        <p:spPr>
          <a:xfrm flipH="1">
            <a:off x="5186363" y="2192418"/>
            <a:ext cx="7800" cy="3875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9" name="Google Shape;909;p104">
            <a:extLst>
              <a:ext uri="{FF2B5EF4-FFF2-40B4-BE49-F238E27FC236}">
                <a16:creationId xmlns:a16="http://schemas.microsoft.com/office/drawing/2014/main" id="{E63035B9-A51F-9816-58EA-4F8217B466E8}"/>
              </a:ext>
            </a:extLst>
          </p:cNvPr>
          <p:cNvSpPr/>
          <p:nvPr/>
        </p:nvSpPr>
        <p:spPr>
          <a:xfrm>
            <a:off x="5087363" y="1989318"/>
            <a:ext cx="213600" cy="203100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10" name="Google Shape;910;p104">
            <a:extLst>
              <a:ext uri="{FF2B5EF4-FFF2-40B4-BE49-F238E27FC236}">
                <a16:creationId xmlns:a16="http://schemas.microsoft.com/office/drawing/2014/main" id="{58F8564C-5D87-546D-233F-F139AF753BD1}"/>
              </a:ext>
            </a:extLst>
          </p:cNvPr>
          <p:cNvSpPr txBox="1"/>
          <p:nvPr/>
        </p:nvSpPr>
        <p:spPr>
          <a:xfrm>
            <a:off x="5352420" y="1930510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11" name="Google Shape;911;p104">
            <a:extLst>
              <a:ext uri="{FF2B5EF4-FFF2-40B4-BE49-F238E27FC236}">
                <a16:creationId xmlns:a16="http://schemas.microsoft.com/office/drawing/2014/main" id="{01FCC8CC-9A82-371C-C2C7-D8FD78527BE5}"/>
              </a:ext>
            </a:extLst>
          </p:cNvPr>
          <p:cNvSpPr/>
          <p:nvPr/>
        </p:nvSpPr>
        <p:spPr>
          <a:xfrm>
            <a:off x="1510188" y="3599900"/>
            <a:ext cx="1909683" cy="60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say_hello(self)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2" name="Google Shape;912;p104">
            <a:extLst>
              <a:ext uri="{FF2B5EF4-FFF2-40B4-BE49-F238E27FC236}">
                <a16:creationId xmlns:a16="http://schemas.microsoft.com/office/drawing/2014/main" id="{0F8D79BB-D094-10F7-FA22-4DCAC4EAADA2}"/>
              </a:ext>
            </a:extLst>
          </p:cNvPr>
          <p:cNvCxnSpPr>
            <a:cxnSpLocks/>
            <a:stCxn id="903" idx="2"/>
            <a:endCxn id="911" idx="0"/>
          </p:cNvCxnSpPr>
          <p:nvPr/>
        </p:nvCxnSpPr>
        <p:spPr>
          <a:xfrm>
            <a:off x="2453912" y="3293500"/>
            <a:ext cx="11118" cy="30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3" name="Google Shape;913;p104">
            <a:extLst>
              <a:ext uri="{FF2B5EF4-FFF2-40B4-BE49-F238E27FC236}">
                <a16:creationId xmlns:a16="http://schemas.microsoft.com/office/drawing/2014/main" id="{BFFDC868-0819-B35C-1551-107686BC3655}"/>
              </a:ext>
            </a:extLst>
          </p:cNvPr>
          <p:cNvSpPr/>
          <p:nvPr/>
        </p:nvSpPr>
        <p:spPr>
          <a:xfrm>
            <a:off x="4405789" y="3618688"/>
            <a:ext cx="1553786" cy="602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study(self)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5" name="Google Shape;915;p104">
            <a:extLst>
              <a:ext uri="{FF2B5EF4-FFF2-40B4-BE49-F238E27FC236}">
                <a16:creationId xmlns:a16="http://schemas.microsoft.com/office/drawing/2014/main" id="{88F11957-6458-FA2A-A5B9-720685617D14}"/>
              </a:ext>
            </a:extLst>
          </p:cNvPr>
          <p:cNvCxnSpPr>
            <a:cxnSpLocks/>
            <a:stCxn id="907" idx="2"/>
            <a:endCxn id="913" idx="0"/>
          </p:cNvCxnSpPr>
          <p:nvPr/>
        </p:nvCxnSpPr>
        <p:spPr>
          <a:xfrm flipH="1">
            <a:off x="5182682" y="3281363"/>
            <a:ext cx="3681" cy="337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749;p93">
            <a:extLst>
              <a:ext uri="{FF2B5EF4-FFF2-40B4-BE49-F238E27FC236}">
                <a16:creationId xmlns:a16="http://schemas.microsoft.com/office/drawing/2014/main" id="{FC132787-4790-8610-53F0-7D23F0D56D13}"/>
              </a:ext>
            </a:extLst>
          </p:cNvPr>
          <p:cNvSpPr/>
          <p:nvPr/>
        </p:nvSpPr>
        <p:spPr>
          <a:xfrm>
            <a:off x="231304" y="4809400"/>
            <a:ext cx="8748464" cy="70548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 Subklasse referenziert das Klassenobjekt der Superklasse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 Python-Laufzeitumgebung sucht Methoden also nicht nur im direkten Klassenobjekt, sondern durchsucht die Liste der Superklassen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353D3D-3EC3-7BF4-3D0A-A92DB0618389}"/>
              </a:ext>
            </a:extLst>
          </p:cNvPr>
          <p:cNvCxnSpPr>
            <a:cxnSpLocks/>
            <a:stCxn id="913" idx="1"/>
            <a:endCxn id="911" idx="3"/>
          </p:cNvCxnSpPr>
          <p:nvPr/>
        </p:nvCxnSpPr>
        <p:spPr>
          <a:xfrm flipH="1" flipV="1">
            <a:off x="3419871" y="3901100"/>
            <a:ext cx="985918" cy="18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421D1C-0F86-384E-DA37-FC7B4CE9D9E7}"/>
              </a:ext>
            </a:extLst>
          </p:cNvPr>
          <p:cNvSpPr txBox="1"/>
          <p:nvPr/>
        </p:nvSpPr>
        <p:spPr>
          <a:xfrm>
            <a:off x="3491880" y="3550888"/>
            <a:ext cx="7415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</a:p>
        </p:txBody>
      </p:sp>
    </p:spTree>
    <p:extLst>
      <p:ext uri="{BB962C8B-B14F-4D97-AF65-F5344CB8AC3E}">
        <p14:creationId xmlns:p14="http://schemas.microsoft.com/office/powerpoint/2010/main" val="108164014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F87036F3-0639-C6A2-9FB5-0D73AD7C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Title 1">
            <a:extLst>
              <a:ext uri="{FF2B5EF4-FFF2-40B4-BE49-F238E27FC236}">
                <a16:creationId xmlns:a16="http://schemas.microsoft.com/office/drawing/2014/main" id="{B28CB985-F97E-CB38-E5E3-D8E1858286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Direkte Referenzierung des Klassenobjekts</a:t>
            </a:r>
            <a:endParaRPr dirty="0"/>
          </a:p>
        </p:txBody>
      </p:sp>
      <p:sp>
        <p:nvSpPr>
          <p:cNvPr id="892" name="Google Shape;892;p104">
            <a:extLst>
              <a:ext uri="{FF2B5EF4-FFF2-40B4-BE49-F238E27FC236}">
                <a16:creationId xmlns:a16="http://schemas.microsoft.com/office/drawing/2014/main" id="{121B70DA-681E-5AF6-9AB0-8014DB30D99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</a:pPr>
              <a:t>140</a:t>
            </a:fld>
            <a:endParaRPr/>
          </a:p>
        </p:txBody>
      </p:sp>
      <p:sp>
        <p:nvSpPr>
          <p:cNvPr id="893" name="Google Shape;893;p104">
            <a:extLst>
              <a:ext uri="{FF2B5EF4-FFF2-40B4-BE49-F238E27FC236}">
                <a16:creationId xmlns:a16="http://schemas.microsoft.com/office/drawing/2014/main" id="{C07923EB-C1E1-0D61-64A7-B6BFDD6F6653}"/>
              </a:ext>
            </a:extLst>
          </p:cNvPr>
          <p:cNvSpPr/>
          <p:nvPr/>
        </p:nvSpPr>
        <p:spPr>
          <a:xfrm>
            <a:off x="115050" y="1770900"/>
            <a:ext cx="6057300" cy="273822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Python Laufzeit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Stack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de-D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Heap</a:t>
            </a:r>
            <a:r>
              <a:rPr lang="de-DE" dirty="0"/>
              <a:t>tack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Heap</a:t>
            </a:r>
            <a:endParaRPr dirty="0"/>
          </a:p>
        </p:txBody>
      </p:sp>
      <p:cxnSp>
        <p:nvCxnSpPr>
          <p:cNvPr id="894" name="Google Shape;894;p104">
            <a:extLst>
              <a:ext uri="{FF2B5EF4-FFF2-40B4-BE49-F238E27FC236}">
                <a16:creationId xmlns:a16="http://schemas.microsoft.com/office/drawing/2014/main" id="{7BEA894B-0A4C-1715-F187-BA1C66839268}"/>
              </a:ext>
            </a:extLst>
          </p:cNvPr>
          <p:cNvCxnSpPr/>
          <p:nvPr/>
        </p:nvCxnSpPr>
        <p:spPr>
          <a:xfrm>
            <a:off x="121825" y="2413825"/>
            <a:ext cx="605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8" name="Google Shape;898;p104">
            <a:extLst>
              <a:ext uri="{FF2B5EF4-FFF2-40B4-BE49-F238E27FC236}">
                <a16:creationId xmlns:a16="http://schemas.microsoft.com/office/drawing/2014/main" id="{E4786255-A75F-D46C-DA93-A28907250EBA}"/>
              </a:ext>
            </a:extLst>
          </p:cNvPr>
          <p:cNvSpPr/>
          <p:nvPr/>
        </p:nvSpPr>
        <p:spPr>
          <a:xfrm>
            <a:off x="434675" y="2948488"/>
            <a:ext cx="927900" cy="6024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[  ]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899" name="Google Shape;899;p104">
            <a:extLst>
              <a:ext uri="{FF2B5EF4-FFF2-40B4-BE49-F238E27FC236}">
                <a16:creationId xmlns:a16="http://schemas.microsoft.com/office/drawing/2014/main" id="{F3FFA0B2-54B3-6FD9-AFDF-F6A820834F85}"/>
              </a:ext>
            </a:extLst>
          </p:cNvPr>
          <p:cNvCxnSpPr>
            <a:cxnSpLocks/>
            <a:stCxn id="901" idx="4"/>
            <a:endCxn id="898" idx="0"/>
          </p:cNvCxnSpPr>
          <p:nvPr/>
        </p:nvCxnSpPr>
        <p:spPr>
          <a:xfrm>
            <a:off x="898625" y="2278550"/>
            <a:ext cx="0" cy="6699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1" name="Google Shape;901;p104">
            <a:extLst>
              <a:ext uri="{FF2B5EF4-FFF2-40B4-BE49-F238E27FC236}">
                <a16:creationId xmlns:a16="http://schemas.microsoft.com/office/drawing/2014/main" id="{2F5086D7-680E-C7FA-FC1F-18D0F57386D9}"/>
              </a:ext>
            </a:extLst>
          </p:cNvPr>
          <p:cNvSpPr/>
          <p:nvPr/>
        </p:nvSpPr>
        <p:spPr>
          <a:xfrm>
            <a:off x="791825" y="2075450"/>
            <a:ext cx="213600" cy="2031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2" name="Google Shape;902;p104">
            <a:extLst>
              <a:ext uri="{FF2B5EF4-FFF2-40B4-BE49-F238E27FC236}">
                <a16:creationId xmlns:a16="http://schemas.microsoft.com/office/drawing/2014/main" id="{2CF361D3-5450-556B-4B26-00F5E2912B9F}"/>
              </a:ext>
            </a:extLst>
          </p:cNvPr>
          <p:cNvSpPr txBox="1"/>
          <p:nvPr/>
        </p:nvSpPr>
        <p:spPr>
          <a:xfrm>
            <a:off x="1031940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chemeClr val="dk1"/>
                </a:solidFill>
              </a:rPr>
              <a:t>l</a:t>
            </a:r>
            <a:endParaRPr sz="800" dirty="0">
              <a:solidFill>
                <a:schemeClr val="dk1"/>
              </a:solidFill>
            </a:endParaRPr>
          </a:p>
        </p:txBody>
      </p:sp>
      <p:sp>
        <p:nvSpPr>
          <p:cNvPr id="903" name="Google Shape;903;p104">
            <a:extLst>
              <a:ext uri="{FF2B5EF4-FFF2-40B4-BE49-F238E27FC236}">
                <a16:creationId xmlns:a16="http://schemas.microsoft.com/office/drawing/2014/main" id="{F24E9006-8DE9-33C1-13F2-C111BF7832B6}"/>
              </a:ext>
            </a:extLst>
          </p:cNvPr>
          <p:cNvSpPr/>
          <p:nvPr/>
        </p:nvSpPr>
        <p:spPr>
          <a:xfrm>
            <a:off x="1847858" y="2916400"/>
            <a:ext cx="1211973" cy="377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name=Hugo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904" name="Google Shape;904;p104">
            <a:extLst>
              <a:ext uri="{FF2B5EF4-FFF2-40B4-BE49-F238E27FC236}">
                <a16:creationId xmlns:a16="http://schemas.microsoft.com/office/drawing/2014/main" id="{32948A4D-23AB-8502-7CB5-43A5E20CB5F4}"/>
              </a:ext>
            </a:extLst>
          </p:cNvPr>
          <p:cNvCxnSpPr>
            <a:cxnSpLocks/>
            <a:stCxn id="905" idx="4"/>
            <a:endCxn id="903" idx="0"/>
          </p:cNvCxnSpPr>
          <p:nvPr/>
        </p:nvCxnSpPr>
        <p:spPr>
          <a:xfrm>
            <a:off x="2446552" y="2308789"/>
            <a:ext cx="7293" cy="6076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5" name="Google Shape;905;p104">
            <a:extLst>
              <a:ext uri="{FF2B5EF4-FFF2-40B4-BE49-F238E27FC236}">
                <a16:creationId xmlns:a16="http://schemas.microsoft.com/office/drawing/2014/main" id="{44ED4917-0562-9CAC-B8AD-3EA90FF8180E}"/>
              </a:ext>
            </a:extLst>
          </p:cNvPr>
          <p:cNvSpPr/>
          <p:nvPr/>
        </p:nvSpPr>
        <p:spPr>
          <a:xfrm>
            <a:off x="2339752" y="2105689"/>
            <a:ext cx="213600" cy="2031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6" name="Google Shape;906;p104">
            <a:extLst>
              <a:ext uri="{FF2B5EF4-FFF2-40B4-BE49-F238E27FC236}">
                <a16:creationId xmlns:a16="http://schemas.microsoft.com/office/drawing/2014/main" id="{8939CC85-FF06-4870-1327-FCBE4E8CCAAA}"/>
              </a:ext>
            </a:extLst>
          </p:cNvPr>
          <p:cNvSpPr txBox="1"/>
          <p:nvPr/>
        </p:nvSpPr>
        <p:spPr>
          <a:xfrm>
            <a:off x="2550276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p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07" name="Google Shape;907;p104">
            <a:extLst>
              <a:ext uri="{FF2B5EF4-FFF2-40B4-BE49-F238E27FC236}">
                <a16:creationId xmlns:a16="http://schemas.microsoft.com/office/drawing/2014/main" id="{55BF6F37-1E2F-B46F-081A-063BAA13AF30}"/>
              </a:ext>
            </a:extLst>
          </p:cNvPr>
          <p:cNvSpPr/>
          <p:nvPr/>
        </p:nvSpPr>
        <p:spPr>
          <a:xfrm>
            <a:off x="4607757" y="2579963"/>
            <a:ext cx="1116371" cy="701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Student</a:t>
            </a:r>
            <a:endParaRPr sz="1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name=Bert</a:t>
            </a:r>
            <a:endParaRPr sz="1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uni=TU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908" name="Google Shape;908;p104">
            <a:extLst>
              <a:ext uri="{FF2B5EF4-FFF2-40B4-BE49-F238E27FC236}">
                <a16:creationId xmlns:a16="http://schemas.microsoft.com/office/drawing/2014/main" id="{7FFA294A-7C26-CBA4-C14B-522BD37BCA6E}"/>
              </a:ext>
            </a:extLst>
          </p:cNvPr>
          <p:cNvCxnSpPr>
            <a:cxnSpLocks/>
            <a:stCxn id="909" idx="4"/>
            <a:endCxn id="907" idx="0"/>
          </p:cNvCxnSpPr>
          <p:nvPr/>
        </p:nvCxnSpPr>
        <p:spPr>
          <a:xfrm flipH="1">
            <a:off x="5165943" y="2192418"/>
            <a:ext cx="28220" cy="3875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9" name="Google Shape;909;p104">
            <a:extLst>
              <a:ext uri="{FF2B5EF4-FFF2-40B4-BE49-F238E27FC236}">
                <a16:creationId xmlns:a16="http://schemas.microsoft.com/office/drawing/2014/main" id="{C5E4C4EB-6A77-DAB8-A8A9-479E7F5E5DB0}"/>
              </a:ext>
            </a:extLst>
          </p:cNvPr>
          <p:cNvSpPr/>
          <p:nvPr/>
        </p:nvSpPr>
        <p:spPr>
          <a:xfrm>
            <a:off x="5087363" y="1989318"/>
            <a:ext cx="213600" cy="203100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10" name="Google Shape;910;p104">
            <a:extLst>
              <a:ext uri="{FF2B5EF4-FFF2-40B4-BE49-F238E27FC236}">
                <a16:creationId xmlns:a16="http://schemas.microsoft.com/office/drawing/2014/main" id="{3C3195A1-6D25-DDCB-AFA4-9521547EE798}"/>
              </a:ext>
            </a:extLst>
          </p:cNvPr>
          <p:cNvSpPr txBox="1"/>
          <p:nvPr/>
        </p:nvSpPr>
        <p:spPr>
          <a:xfrm>
            <a:off x="5352420" y="1930510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11" name="Google Shape;911;p104">
            <a:extLst>
              <a:ext uri="{FF2B5EF4-FFF2-40B4-BE49-F238E27FC236}">
                <a16:creationId xmlns:a16="http://schemas.microsoft.com/office/drawing/2014/main" id="{DBBFBE0F-AA83-9263-708A-76666D628067}"/>
              </a:ext>
            </a:extLst>
          </p:cNvPr>
          <p:cNvSpPr/>
          <p:nvPr/>
        </p:nvSpPr>
        <p:spPr>
          <a:xfrm>
            <a:off x="1510188" y="3599900"/>
            <a:ext cx="1909683" cy="60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say_hello(self)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2" name="Google Shape;912;p104">
            <a:extLst>
              <a:ext uri="{FF2B5EF4-FFF2-40B4-BE49-F238E27FC236}">
                <a16:creationId xmlns:a16="http://schemas.microsoft.com/office/drawing/2014/main" id="{58A045D4-ABC9-89BA-A209-189A7BBBB8BB}"/>
              </a:ext>
            </a:extLst>
          </p:cNvPr>
          <p:cNvCxnSpPr>
            <a:cxnSpLocks/>
            <a:stCxn id="903" idx="2"/>
            <a:endCxn id="911" idx="0"/>
          </p:cNvCxnSpPr>
          <p:nvPr/>
        </p:nvCxnSpPr>
        <p:spPr>
          <a:xfrm>
            <a:off x="2453845" y="3293500"/>
            <a:ext cx="11185" cy="30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3" name="Google Shape;913;p104">
            <a:extLst>
              <a:ext uri="{FF2B5EF4-FFF2-40B4-BE49-F238E27FC236}">
                <a16:creationId xmlns:a16="http://schemas.microsoft.com/office/drawing/2014/main" id="{23E26C24-979D-3A0E-5722-1B18F8041ED1}"/>
              </a:ext>
            </a:extLst>
          </p:cNvPr>
          <p:cNvSpPr/>
          <p:nvPr/>
        </p:nvSpPr>
        <p:spPr>
          <a:xfrm>
            <a:off x="4405789" y="3618688"/>
            <a:ext cx="1553786" cy="602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study(self)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5" name="Google Shape;915;p104">
            <a:extLst>
              <a:ext uri="{FF2B5EF4-FFF2-40B4-BE49-F238E27FC236}">
                <a16:creationId xmlns:a16="http://schemas.microsoft.com/office/drawing/2014/main" id="{5BE6CE6C-0FE5-2E22-B5FD-58F8A461B951}"/>
              </a:ext>
            </a:extLst>
          </p:cNvPr>
          <p:cNvCxnSpPr>
            <a:cxnSpLocks/>
            <a:stCxn id="907" idx="2"/>
            <a:endCxn id="913" idx="0"/>
          </p:cNvCxnSpPr>
          <p:nvPr/>
        </p:nvCxnSpPr>
        <p:spPr>
          <a:xfrm>
            <a:off x="5165943" y="3281363"/>
            <a:ext cx="16739" cy="337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749;p93">
            <a:extLst>
              <a:ext uri="{FF2B5EF4-FFF2-40B4-BE49-F238E27FC236}">
                <a16:creationId xmlns:a16="http://schemas.microsoft.com/office/drawing/2014/main" id="{47EE59C4-4FA8-8F8B-DB99-786F758E4CAD}"/>
              </a:ext>
            </a:extLst>
          </p:cNvPr>
          <p:cNvSpPr/>
          <p:nvPr/>
        </p:nvSpPr>
        <p:spPr>
          <a:xfrm>
            <a:off x="231304" y="4809400"/>
            <a:ext cx="8748464" cy="70548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Das Klassenobjekt wird einfach über den Namen der Klasse referenziert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AEDAF8-F1A0-1FC9-B853-0F58654FE826}"/>
              </a:ext>
            </a:extLst>
          </p:cNvPr>
          <p:cNvCxnSpPr>
            <a:cxnSpLocks/>
            <a:stCxn id="913" idx="1"/>
            <a:endCxn id="911" idx="3"/>
          </p:cNvCxnSpPr>
          <p:nvPr/>
        </p:nvCxnSpPr>
        <p:spPr>
          <a:xfrm flipH="1" flipV="1">
            <a:off x="3419871" y="3901100"/>
            <a:ext cx="985918" cy="18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BCA3B7-7757-9AF1-6E7D-522D05375D46}"/>
              </a:ext>
            </a:extLst>
          </p:cNvPr>
          <p:cNvSpPr txBox="1"/>
          <p:nvPr/>
        </p:nvSpPr>
        <p:spPr>
          <a:xfrm>
            <a:off x="3491880" y="3550888"/>
            <a:ext cx="7415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</a:p>
        </p:txBody>
      </p:sp>
      <p:cxnSp>
        <p:nvCxnSpPr>
          <p:cNvPr id="15" name="Google Shape;904;p104">
            <a:extLst>
              <a:ext uri="{FF2B5EF4-FFF2-40B4-BE49-F238E27FC236}">
                <a16:creationId xmlns:a16="http://schemas.microsoft.com/office/drawing/2014/main" id="{993F845F-6738-8D41-4E3E-0D03C8B55C1D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3289721" y="2308789"/>
            <a:ext cx="20927" cy="1242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905;p104">
            <a:extLst>
              <a:ext uri="{FF2B5EF4-FFF2-40B4-BE49-F238E27FC236}">
                <a16:creationId xmlns:a16="http://schemas.microsoft.com/office/drawing/2014/main" id="{6EC99C44-2286-2CFC-9E68-0B064F8E890D}"/>
              </a:ext>
            </a:extLst>
          </p:cNvPr>
          <p:cNvSpPr/>
          <p:nvPr/>
        </p:nvSpPr>
        <p:spPr>
          <a:xfrm>
            <a:off x="3203848" y="2105689"/>
            <a:ext cx="213600" cy="2031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" name="Google Shape;906;p104">
            <a:extLst>
              <a:ext uri="{FF2B5EF4-FFF2-40B4-BE49-F238E27FC236}">
                <a16:creationId xmlns:a16="http://schemas.microsoft.com/office/drawing/2014/main" id="{5A7AEF2A-11A6-6FCD-0558-2F736CFBF2B8}"/>
              </a:ext>
            </a:extLst>
          </p:cNvPr>
          <p:cNvSpPr txBox="1"/>
          <p:nvPr/>
        </p:nvSpPr>
        <p:spPr>
          <a:xfrm>
            <a:off x="3414372" y="1916832"/>
            <a:ext cx="801604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chemeClr val="dk1"/>
                </a:solidFill>
              </a:rPr>
              <a:t>Person</a:t>
            </a:r>
            <a:endParaRPr sz="800" dirty="0">
              <a:solidFill>
                <a:schemeClr val="dk1"/>
              </a:solidFill>
            </a:endParaRPr>
          </a:p>
        </p:txBody>
      </p:sp>
      <p:cxnSp>
        <p:nvCxnSpPr>
          <p:cNvPr id="19" name="Google Shape;904;p104">
            <a:extLst>
              <a:ext uri="{FF2B5EF4-FFF2-40B4-BE49-F238E27FC236}">
                <a16:creationId xmlns:a16="http://schemas.microsoft.com/office/drawing/2014/main" id="{68A32971-9DF8-577B-13DF-D868B3EF660B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4581849" y="2308789"/>
            <a:ext cx="20927" cy="1242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oogle Shape;905;p104">
            <a:extLst>
              <a:ext uri="{FF2B5EF4-FFF2-40B4-BE49-F238E27FC236}">
                <a16:creationId xmlns:a16="http://schemas.microsoft.com/office/drawing/2014/main" id="{FD71FCD9-FDB1-09CA-32CD-4572785FA1E7}"/>
              </a:ext>
            </a:extLst>
          </p:cNvPr>
          <p:cNvSpPr/>
          <p:nvPr/>
        </p:nvSpPr>
        <p:spPr>
          <a:xfrm>
            <a:off x="4495976" y="2105689"/>
            <a:ext cx="213600" cy="2031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" name="Google Shape;906;p104">
            <a:extLst>
              <a:ext uri="{FF2B5EF4-FFF2-40B4-BE49-F238E27FC236}">
                <a16:creationId xmlns:a16="http://schemas.microsoft.com/office/drawing/2014/main" id="{74D89A2D-F583-E310-F3FF-A6010B8E6D33}"/>
              </a:ext>
            </a:extLst>
          </p:cNvPr>
          <p:cNvSpPr txBox="1"/>
          <p:nvPr/>
        </p:nvSpPr>
        <p:spPr>
          <a:xfrm>
            <a:off x="3995936" y="2060848"/>
            <a:ext cx="801604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chemeClr val="dk1"/>
                </a:solidFill>
              </a:rPr>
              <a:t>Student</a:t>
            </a:r>
            <a:endParaRPr sz="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50813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CDD7-7D0F-3931-1BED-0C7E7F70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komplexe Anwendung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25D40-44CD-DAC6-78A2-E55EFC152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E400F-776D-1D20-2425-E1017A4F7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EAD18-CF5B-EE10-05D7-250D8C8F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92EB5-27FE-99C9-B2C8-2A4DF12F7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141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67752398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F667B-7FB3-B0E5-694C-1DF828E6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3191-0C04-EA5B-B213-B9C609BB1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35599-0973-D1F1-3FF6-10B6C511B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11.1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10261-9087-546D-93B0-43077023E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309F9-D4F6-D3E6-57E3-890AAF60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A3EF6-3D83-7168-EA86-351C23BC6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142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1412215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CC9E-E046-5662-4290-350366381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Publishing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6BC139-4D35-BCA6-70F9-AF19E9CBD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883C3-FF5C-1990-7DCA-CEFC19AE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86756-2F45-5A2B-BA0F-66E5ECC1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5711-C661-4B9F-A580-A7D95705C47D}" type="slidenum">
              <a:rPr lang="de-DE" altLang="de-DE" smtClean="0"/>
              <a:pPr/>
              <a:t>143</a:t>
            </a:fld>
            <a:endParaRPr lang="de-DE" alt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202527-E398-B40B-221F-62297DBEE3F5}"/>
              </a:ext>
            </a:extLst>
          </p:cNvPr>
          <p:cNvSpPr/>
          <p:nvPr/>
        </p:nvSpPr>
        <p:spPr>
          <a:xfrm>
            <a:off x="395536" y="1412776"/>
            <a:ext cx="2664296" cy="12241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Publisher</a:t>
            </a:r>
          </a:p>
          <a:p>
            <a:r>
              <a:rPr lang="de-DE" dirty="0">
                <a:solidFill>
                  <a:schemeClr val="tx1"/>
                </a:solidFill>
              </a:rPr>
              <a:t>id</a:t>
            </a:r>
          </a:p>
          <a:p>
            <a:r>
              <a:rPr lang="de-DE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CDF60-2CD3-A4E2-A70F-E63C4F7A5F81}"/>
              </a:ext>
            </a:extLst>
          </p:cNvPr>
          <p:cNvSpPr/>
          <p:nvPr/>
        </p:nvSpPr>
        <p:spPr>
          <a:xfrm>
            <a:off x="395536" y="3501008"/>
            <a:ext cx="2664296" cy="17281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Book</a:t>
            </a:r>
          </a:p>
          <a:p>
            <a:r>
              <a:rPr lang="de-DE" dirty="0">
                <a:solidFill>
                  <a:schemeClr val="tx1"/>
                </a:solidFill>
              </a:rPr>
              <a:t>isbn</a:t>
            </a:r>
          </a:p>
          <a:p>
            <a:r>
              <a:rPr lang="de-DE" dirty="0">
                <a:solidFill>
                  <a:schemeClr val="tx1"/>
                </a:solidFill>
              </a:rPr>
              <a:t>title</a:t>
            </a:r>
          </a:p>
          <a:p>
            <a:r>
              <a:rPr lang="de-DE" dirty="0">
                <a:solidFill>
                  <a:schemeClr val="tx1"/>
                </a:solidFill>
              </a:rPr>
              <a:t>price</a:t>
            </a:r>
          </a:p>
          <a:p>
            <a:r>
              <a:rPr lang="de-DE" dirty="0">
                <a:solidFill>
                  <a:schemeClr val="tx1"/>
                </a:solidFill>
              </a:rPr>
              <a:t>pages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88BD9B-7C2B-F9FE-0D54-4CA2389F430E}"/>
              </a:ext>
            </a:extLst>
          </p:cNvPr>
          <p:cNvCxnSpPr>
            <a:stCxn id="7" idx="0"/>
            <a:endCxn id="6" idx="2"/>
          </p:cNvCxnSpPr>
          <p:nvPr/>
        </p:nvCxnSpPr>
        <p:spPr>
          <a:xfrm flipV="1">
            <a:off x="1727684" y="2636912"/>
            <a:ext cx="0" cy="864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DDC273-2240-D128-7C43-E35D70B496C1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727684" y="2636912"/>
            <a:ext cx="0" cy="864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05E6AA-EBC9-40D2-D3F0-0274AFAC1E1B}"/>
              </a:ext>
            </a:extLst>
          </p:cNvPr>
          <p:cNvSpPr txBox="1"/>
          <p:nvPr/>
        </p:nvSpPr>
        <p:spPr>
          <a:xfrm>
            <a:off x="1331912" y="2636912"/>
            <a:ext cx="287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A8FF0B-63C1-E3B6-AD7F-6D026C98E5C0}"/>
              </a:ext>
            </a:extLst>
          </p:cNvPr>
          <p:cNvSpPr txBox="1"/>
          <p:nvPr/>
        </p:nvSpPr>
        <p:spPr>
          <a:xfrm>
            <a:off x="1331640" y="3152001"/>
            <a:ext cx="287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4445C4-BA42-50D4-B249-B07A0ACDA785}"/>
              </a:ext>
            </a:extLst>
          </p:cNvPr>
          <p:cNvSpPr/>
          <p:nvPr/>
        </p:nvSpPr>
        <p:spPr>
          <a:xfrm>
            <a:off x="5364088" y="3489975"/>
            <a:ext cx="2664296" cy="17281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Author</a:t>
            </a:r>
          </a:p>
          <a:p>
            <a:r>
              <a:rPr lang="de-DE" dirty="0">
                <a:solidFill>
                  <a:schemeClr val="tx1"/>
                </a:solidFill>
              </a:rPr>
              <a:t>id</a:t>
            </a:r>
          </a:p>
          <a:p>
            <a:r>
              <a:rPr lang="de-DE" dirty="0">
                <a:solidFill>
                  <a:schemeClr val="tx1"/>
                </a:solidFill>
              </a:rPr>
              <a:t>lastname</a:t>
            </a:r>
          </a:p>
          <a:p>
            <a:r>
              <a:rPr lang="de-DE" dirty="0">
                <a:solidFill>
                  <a:schemeClr val="tx1"/>
                </a:solidFill>
              </a:rPr>
              <a:t>firstname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6B9813-347A-A876-6C7F-F496B8B5DC73}"/>
              </a:ext>
            </a:extLst>
          </p:cNvPr>
          <p:cNvCxnSpPr>
            <a:stCxn id="7" idx="3"/>
            <a:endCxn id="14" idx="1"/>
          </p:cNvCxnSpPr>
          <p:nvPr/>
        </p:nvCxnSpPr>
        <p:spPr>
          <a:xfrm flipV="1">
            <a:off x="3059832" y="4354071"/>
            <a:ext cx="2304256" cy="11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CB164F-9B17-5D91-BE42-DA2B1BAB50E7}"/>
              </a:ext>
            </a:extLst>
          </p:cNvPr>
          <p:cNvCxnSpPr>
            <a:stCxn id="14" idx="1"/>
            <a:endCxn id="7" idx="3"/>
          </p:cNvCxnSpPr>
          <p:nvPr/>
        </p:nvCxnSpPr>
        <p:spPr>
          <a:xfrm flipH="1">
            <a:off x="3059832" y="4354071"/>
            <a:ext cx="2304256" cy="11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1EB5A83-1D00-5FA6-F66E-367928BDAE28}"/>
              </a:ext>
            </a:extLst>
          </p:cNvPr>
          <p:cNvSpPr txBox="1"/>
          <p:nvPr/>
        </p:nvSpPr>
        <p:spPr>
          <a:xfrm>
            <a:off x="5076056" y="4088105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0:n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04DDB4-404C-670F-488D-4334C34E1B23}"/>
              </a:ext>
            </a:extLst>
          </p:cNvPr>
          <p:cNvSpPr txBox="1"/>
          <p:nvPr/>
        </p:nvSpPr>
        <p:spPr>
          <a:xfrm>
            <a:off x="3059832" y="4077072"/>
            <a:ext cx="648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0:m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D1DE1A-021C-2DBA-36BA-5F5C2D0DCB8C}"/>
              </a:ext>
            </a:extLst>
          </p:cNvPr>
          <p:cNvSpPr/>
          <p:nvPr/>
        </p:nvSpPr>
        <p:spPr>
          <a:xfrm>
            <a:off x="4391980" y="1052735"/>
            <a:ext cx="4572508" cy="19215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PublishingService</a:t>
            </a:r>
          </a:p>
          <a:p>
            <a:r>
              <a:rPr lang="de-DE" dirty="0">
                <a:solidFill>
                  <a:schemeClr val="tx1"/>
                </a:solidFill>
              </a:rPr>
              <a:t>new_publisher(name):new_pubisher</a:t>
            </a:r>
          </a:p>
          <a:p>
            <a:r>
              <a:rPr lang="de-DE" dirty="0">
                <a:solidFill>
                  <a:schemeClr val="tx1"/>
                </a:solidFill>
              </a:rPr>
              <a:t>new_book(title, price, pages, publisher):new_book</a:t>
            </a:r>
          </a:p>
          <a:p>
            <a:r>
              <a:rPr lang="de-DE" dirty="0">
                <a:solidFill>
                  <a:schemeClr val="tx1"/>
                </a:solidFill>
              </a:rPr>
              <a:t>new_author(lastname, firstname): new_author</a:t>
            </a:r>
          </a:p>
          <a:p>
            <a:r>
              <a:rPr lang="de-DE" dirty="0">
                <a:solidFill>
                  <a:schemeClr val="tx1"/>
                </a:solidFill>
              </a:rPr>
              <a:t>written_by(book, author)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B4BA14-D944-998B-7F0F-BA3468EAE0B7}"/>
              </a:ext>
            </a:extLst>
          </p:cNvPr>
          <p:cNvCxnSpPr>
            <a:cxnSpLocks/>
            <a:stCxn id="21" idx="1"/>
            <a:endCxn id="6" idx="3"/>
          </p:cNvCxnSpPr>
          <p:nvPr/>
        </p:nvCxnSpPr>
        <p:spPr>
          <a:xfrm flipH="1">
            <a:off x="3059832" y="2013519"/>
            <a:ext cx="1332148" cy="11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4566C2-74D4-023B-A566-E67D90321C30}"/>
              </a:ext>
            </a:extLst>
          </p:cNvPr>
          <p:cNvCxnSpPr>
            <a:cxnSpLocks/>
            <a:stCxn id="21" idx="1"/>
            <a:endCxn id="7" idx="0"/>
          </p:cNvCxnSpPr>
          <p:nvPr/>
        </p:nvCxnSpPr>
        <p:spPr>
          <a:xfrm flipH="1">
            <a:off x="1727684" y="2013519"/>
            <a:ext cx="2664296" cy="1487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1E0C79-9E75-F312-8491-287D854D1AAB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>
            <a:off x="6678234" y="2974302"/>
            <a:ext cx="18002" cy="5156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4160D07-24C9-FD3E-ECD8-1AC92CF19372}"/>
              </a:ext>
            </a:extLst>
          </p:cNvPr>
          <p:cNvSpPr txBox="1"/>
          <p:nvPr/>
        </p:nvSpPr>
        <p:spPr>
          <a:xfrm>
            <a:off x="3131840" y="1844824"/>
            <a:ext cx="287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6CB0B7-7A01-2ECE-68C3-5089C4F9CB98}"/>
              </a:ext>
            </a:extLst>
          </p:cNvPr>
          <p:cNvSpPr txBox="1"/>
          <p:nvPr/>
        </p:nvSpPr>
        <p:spPr>
          <a:xfrm>
            <a:off x="2123728" y="3152001"/>
            <a:ext cx="287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6EC396-A8D6-8B8C-A987-ED1623DAE5DC}"/>
              </a:ext>
            </a:extLst>
          </p:cNvPr>
          <p:cNvSpPr txBox="1"/>
          <p:nvPr/>
        </p:nvSpPr>
        <p:spPr>
          <a:xfrm>
            <a:off x="6444208" y="3212976"/>
            <a:ext cx="287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27230949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A7EA1-5BF1-47F1-48DD-01A17C56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8F39-26DC-3CDB-3B04-FBA3D43F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8F46B-838F-D267-BB9D-1EA0D58F3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11.2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DFAB9-CA2A-06B9-AC23-4E4F3FA31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B2811-A365-7B87-2BE1-47598475E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58146-8E10-7A8A-5AAF-743B7B6E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144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7406924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379C-8551-BCE1-5062-C50EE64E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Komplette Lösung auf GitHub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1BF14C-EF07-437D-3559-E650EAC95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B9078-EFCA-27FC-57B0-0AA971DE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B9727-8A3F-131F-B553-3DBB733A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5711-C661-4B9F-A580-A7D95705C47D}" type="slidenum">
              <a:rPr lang="de-DE" altLang="de-DE" smtClean="0"/>
              <a:pPr/>
              <a:t>145</a:t>
            </a:fld>
            <a:endParaRPr lang="de-DE" altLang="de-DE"/>
          </a:p>
        </p:txBody>
      </p:sp>
      <p:pic>
        <p:nvPicPr>
          <p:cNvPr id="7" name="Picture 6" descr="A screen shot of a computer screen">
            <a:extLst>
              <a:ext uri="{FF2B5EF4-FFF2-40B4-BE49-F238E27FC236}">
                <a16:creationId xmlns:a16="http://schemas.microsoft.com/office/drawing/2014/main" id="{43C39F12-CFC1-E7A0-56A3-4FD87E49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1223962"/>
            <a:ext cx="525780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8824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Dunder-Methoden 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A2465B-6753-BD65-5266-BF5A557F0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12</a:t>
            </a:r>
          </a:p>
        </p:txBody>
      </p:sp>
      <p:sp>
        <p:nvSpPr>
          <p:cNvPr id="1024" name="Google Shape;1024;p10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146</a:t>
            </a:fld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9CF4-8281-F1B1-2433-7D54BE01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BA8A2-6A03-5E0D-59D0-B552940AE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12.1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1F5E5-FC5C-CE9D-A334-D2DDF0348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9667A-A020-55E0-C0F7-2B3035AA9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AFD45-3739-F7F9-DCC2-BC4F1B4AA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147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57793068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Allgemeines</a:t>
            </a:r>
            <a:endParaRPr dirty="0"/>
          </a:p>
        </p:txBody>
      </p:sp>
      <p:sp>
        <p:nvSpPr>
          <p:cNvPr id="1031" name="Google Shape;1031;p10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"Dunder" steht für "double underscore"-methods</a:t>
            </a:r>
          </a:p>
          <a:p>
            <a:pPr lvl="1"/>
            <a:r>
              <a:rPr lang="de-DE" dirty="0"/>
              <a:t>manchmal auch als "magische Methoden" bezeichnet</a:t>
            </a:r>
          </a:p>
          <a:p>
            <a:r>
              <a:rPr lang="de-DE" dirty="0"/>
              <a:t>Dunders sind Methoden, die von BuiltIn-Funktionen, Operatoren oder "irgendwo" in Python-Bibliotheken benutzt werden</a:t>
            </a:r>
            <a:endParaRPr dirty="0"/>
          </a:p>
          <a:p>
            <a:pPr lvl="1">
              <a:spcBef>
                <a:spcPts val="0"/>
              </a:spcBef>
            </a:pPr>
            <a:r>
              <a:rPr lang="de-DE" dirty="0"/>
              <a:t>Beispiel</a:t>
            </a:r>
            <a:endParaRPr dirty="0"/>
          </a:p>
          <a:p>
            <a:pPr lvl="2"/>
            <a:r>
              <a:rPr lang="de-DE" dirty="0"/>
              <a:t>Die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dirty="0"/>
              <a:t>-Funktion in Python ruft intern für das auszugebende Objekt die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__repr__</a:t>
            </a:r>
            <a:r>
              <a:rPr lang="de-DE" dirty="0"/>
              <a:t>-Funktion auf</a:t>
            </a:r>
          </a:p>
          <a:p>
            <a:r>
              <a:rPr dirty="0"/>
              <a:t>Damit definieren Dunder-Methoden eine Art Vertrag zwischen einem allgemeinem Framework und einem Objekt</a:t>
            </a:r>
          </a:p>
          <a:p>
            <a:pPr lvl="1"/>
            <a:r>
              <a:rPr lang="de-DE" dirty="0"/>
              <a:t>"Wenn Du mit print ausgegeben werden willst musst du mir die auszugebende Zeichenkette als Rückgabewert von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__repr__</a:t>
            </a:r>
            <a:r>
              <a:rPr lang="de-DE" dirty="0"/>
              <a:t> geben"</a:t>
            </a:r>
          </a:p>
          <a:p>
            <a:pPr lvl="1"/>
            <a:r>
              <a:rPr lang="de-DE" dirty="0"/>
              <a:t>"Wenn ich zwei Objekte auf Gleichheit prüfen möchte, übergebe ich das zu vergleichende Objekt deiner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__eq__</a:t>
            </a:r>
            <a:r>
              <a:rPr lang="de-DE" dirty="0"/>
              <a:t>-Methode"</a:t>
            </a:r>
            <a:endParaRPr dirty="0"/>
          </a:p>
        </p:txBody>
      </p:sp>
      <p:sp>
        <p:nvSpPr>
          <p:cNvPr id="1030" name="Google Shape;1030;p10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148</a:t>
            </a:fld>
            <a:endParaRPr/>
          </a:p>
        </p:txBody>
      </p:sp>
      <p:sp>
        <p:nvSpPr>
          <p:cNvPr id="2" name="Google Shape;749;p93">
            <a:extLst>
              <a:ext uri="{FF2B5EF4-FFF2-40B4-BE49-F238E27FC236}">
                <a16:creationId xmlns:a16="http://schemas.microsoft.com/office/drawing/2014/main" id="{B57FC87E-8633-399D-794A-93E6CD21050D}"/>
              </a:ext>
            </a:extLst>
          </p:cNvPr>
          <p:cNvSpPr/>
          <p:nvPr/>
        </p:nvSpPr>
        <p:spPr>
          <a:xfrm>
            <a:off x="250825" y="5517232"/>
            <a:ext cx="8748464" cy="70548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Welche Dunder-Methode wann und wie benutzt werden muss den jeweiligen Dokumentation entnommen werden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7EB8-FCD7-B4CE-A2E8-32E535B1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__repr__ und __str__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91F73-CE73-B79E-4439-5E5C742DE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Diese beiden Methoden sollen beide Zeichenketten liefern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__repr__</a:t>
            </a:r>
            <a:endParaRPr lang="de-DE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de-DE" dirty="0"/>
              <a:t>Soll eine eindeutige und unmissverständliche Darstellung des Objekts liefern</a:t>
            </a:r>
          </a:p>
          <a:p>
            <a:pPr lvl="2"/>
            <a:r>
              <a:rPr lang="de-DE" dirty="0"/>
              <a:t>Wird hauptsächlich für Debugging und Logging verwendet.</a:t>
            </a:r>
          </a:p>
          <a:p>
            <a:pPr lvl="2"/>
            <a:r>
              <a:rPr lang="de-DE" dirty="0"/>
              <a:t>Wird direkt mit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repr(obj)</a:t>
            </a:r>
            <a:r>
              <a:rPr lang="de-DE" dirty="0"/>
              <a:t> aufgerufen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__str__</a:t>
            </a:r>
          </a:p>
          <a:p>
            <a:pPr lvl="2"/>
            <a:r>
              <a:rPr lang="de-DE" dirty="0">
                <a:cs typeface="Courier New" panose="02070309020205020404" pitchFamily="49" charset="0"/>
              </a:rPr>
              <a:t>Soll eine benutzerfreundliche und lesbare Darstellung liefern</a:t>
            </a:r>
          </a:p>
          <a:p>
            <a:pPr lvl="2"/>
            <a:r>
              <a:rPr lang="de-DE" dirty="0">
                <a:cs typeface="Courier New" panose="02070309020205020404" pitchFamily="49" charset="0"/>
              </a:rPr>
              <a:t>Die Ausgabe sollte informativ und für den Endnutzer verständlich sein</a:t>
            </a:r>
          </a:p>
          <a:p>
            <a:pPr lvl="2"/>
            <a:r>
              <a:rPr lang="de-DE" dirty="0">
                <a:cs typeface="Courier New" panose="02070309020205020404" pitchFamily="49" charset="0"/>
              </a:rPr>
              <a:t>Wird aufgerufen, wenn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str(obj)</a:t>
            </a:r>
            <a:r>
              <a:rPr lang="de-DE" dirty="0">
                <a:cs typeface="Courier New" panose="02070309020205020404" pitchFamily="49" charset="0"/>
              </a:rPr>
              <a:t> oder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print(obj)</a:t>
            </a:r>
            <a:r>
              <a:rPr lang="de-DE" dirty="0">
                <a:cs typeface="Courier New" panose="02070309020205020404" pitchFamily="49" charset="0"/>
              </a:rPr>
              <a:t> verwendet wird</a:t>
            </a:r>
          </a:p>
          <a:p>
            <a:pPr lvl="2"/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0C8F0-F3C2-B675-1F8E-C581EFA9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C1557-275C-E29C-D47D-DA021AD3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493D2-B9E5-71E3-8ECB-1EBE6293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149</a:t>
            </a:fld>
            <a:endParaRPr lang="de-DE" altLang="de-DE"/>
          </a:p>
        </p:txBody>
      </p:sp>
      <p:sp>
        <p:nvSpPr>
          <p:cNvPr id="8" name="Google Shape;749;p93">
            <a:extLst>
              <a:ext uri="{FF2B5EF4-FFF2-40B4-BE49-F238E27FC236}">
                <a16:creationId xmlns:a16="http://schemas.microsoft.com/office/drawing/2014/main" id="{2FBCEA52-1B44-F30B-BF57-9569AC7A95E1}"/>
              </a:ext>
            </a:extLst>
          </p:cNvPr>
          <p:cNvSpPr/>
          <p:nvPr/>
        </p:nvSpPr>
        <p:spPr>
          <a:xfrm>
            <a:off x="197768" y="4509120"/>
            <a:ext cx="8748464" cy="70548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Der Unterschied ist etwas akademisch, häufig genügt es, </a:t>
            </a:r>
            <a:r>
              <a:rPr lang="de-D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__repr__</a:t>
            </a:r>
            <a:r>
              <a:rPr lang="de-DE" dirty="0">
                <a:solidFill>
                  <a:schemeClr val="tx1"/>
                </a:solidFill>
              </a:rPr>
              <a:t> zu imlementieren</a:t>
            </a:r>
          </a:p>
        </p:txBody>
      </p:sp>
    </p:spTree>
    <p:extLst>
      <p:ext uri="{BB962C8B-B14F-4D97-AF65-F5344CB8AC3E}">
        <p14:creationId xmlns:p14="http://schemas.microsoft.com/office/powerpoint/2010/main" val="80305527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C13AE-4777-BCF1-D560-4A54601B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AF50-4104-E587-3441-512733528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__eq__ und __hash__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F1F3F-761B-E9DA-B4E5-1088F1C0B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__eq__</a:t>
            </a:r>
            <a:endParaRPr lang="de-DE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de-DE" dirty="0"/>
              <a:t>hat als Parameter das auf Gleichheit zu prüfende Objekt</a:t>
            </a:r>
          </a:p>
          <a:p>
            <a:pPr lvl="2"/>
            <a:r>
              <a:rPr lang="de-DE" dirty="0"/>
              <a:t>Die Implementierung kann einfach</a:t>
            </a:r>
          </a:p>
          <a:p>
            <a:pPr lvl="3"/>
            <a:r>
              <a:rPr lang="de-DE" dirty="0"/>
              <a:t>Beide Objekte mit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de-DE" dirty="0"/>
              <a:t> vergleichen und diesen Wert zurückgeben</a:t>
            </a:r>
          </a:p>
          <a:p>
            <a:pPr lvl="4"/>
            <a:r>
              <a:rPr lang="de-DE" dirty="0"/>
              <a:t>Dann wird auf die Gleichheit der Referenzen geprüft</a:t>
            </a:r>
          </a:p>
          <a:p>
            <a:pPr lvl="4"/>
            <a:r>
              <a:rPr lang="de-DE" dirty="0"/>
              <a:t>"Zwei Variablen sind gleich, wenn sie das identische Objekt referenzieren"+</a:t>
            </a:r>
          </a:p>
          <a:p>
            <a:pPr lvl="3"/>
            <a:r>
              <a:rPr lang="de-DE" dirty="0"/>
              <a:t>Oder aber es wird auf Gleichheit eines oder mehrere Attribute geprüft</a:t>
            </a:r>
          </a:p>
          <a:p>
            <a:pPr lvl="4"/>
            <a:r>
              <a:rPr lang="de-DE" dirty="0"/>
              <a:t>Dann wird die Gleichheit auf Inhalte bezogen</a:t>
            </a:r>
          </a:p>
          <a:p>
            <a:pPr lvl="2"/>
            <a:r>
              <a:rPr lang="de-DE" dirty="0"/>
              <a:t>Werden Objekte mit == verglichen, ruft der Operator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__eq__ </a:t>
            </a:r>
            <a:r>
              <a:rPr lang="de-DE" dirty="0"/>
              <a:t>auf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__hash__</a:t>
            </a:r>
          </a:p>
          <a:p>
            <a:pPr lvl="2"/>
            <a:r>
              <a:rPr lang="de-DE" dirty="0"/>
              <a:t>Erzeugt intern einen Hash-Wert, der z.B. bei der Duplikatserkennung in einem Set oder bei Schlüsseln eines Dictionaries benutzt wird</a:t>
            </a:r>
          </a:p>
          <a:p>
            <a:pPr lvl="2"/>
            <a:r>
              <a:rPr lang="de-DE" dirty="0"/>
              <a:t>Eine gute Hashfunktion berechnet den Hashwert möglichst disjunkt, wobei natürlich potenziell unterschiedliche Objekte den gleichen Hash produzieren können</a:t>
            </a:r>
          </a:p>
          <a:p>
            <a:pPr lvl="3"/>
            <a:r>
              <a:rPr lang="de-DE" dirty="0"/>
              <a:t>Eine äußerst schlechte Hashfunktion wäre einfach ein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return 42</a:t>
            </a:r>
          </a:p>
          <a:p>
            <a:pPr lvl="4"/>
            <a:r>
              <a:rPr lang="de-DE" dirty="0"/>
              <a:t>Set und Dictionaries kommen damit schon zu recht, werden aber immer zunehmender Größe schnell ineffizient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E90BD-A10D-BF95-5E5D-6B4151F3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0964A-2809-7406-1329-973E44653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06085-73FE-E8AB-38F5-882EC6BB7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150</a:t>
            </a:fld>
            <a:endParaRPr lang="de-DE" altLang="de-DE"/>
          </a:p>
        </p:txBody>
      </p:sp>
      <p:sp>
        <p:nvSpPr>
          <p:cNvPr id="8" name="Google Shape;749;p93">
            <a:extLst>
              <a:ext uri="{FF2B5EF4-FFF2-40B4-BE49-F238E27FC236}">
                <a16:creationId xmlns:a16="http://schemas.microsoft.com/office/drawing/2014/main" id="{070FA308-55BC-1AAC-802C-4A7E8CE467B1}"/>
              </a:ext>
            </a:extLst>
          </p:cNvPr>
          <p:cNvSpPr/>
          <p:nvPr/>
        </p:nvSpPr>
        <p:spPr>
          <a:xfrm>
            <a:off x="197768" y="5374283"/>
            <a:ext cx="8748464" cy="935037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Eine Klasse, die __eq__ implementiert muss auch __hash__ implementieren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Sonst kann dieser Typ nicht beispielsweise in einem Set genutzt werden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Zusätzlich muss sichergestellt sein, dass bei einem wahren __eq__-Vergleich beide Objekte auch denselben Hashwert produzieren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795927-025E-A8AF-75E7-9A2E22EEAC67}"/>
              </a:ext>
            </a:extLst>
          </p:cNvPr>
          <p:cNvSpPr/>
          <p:nvPr/>
        </p:nvSpPr>
        <p:spPr>
          <a:xfrm>
            <a:off x="6948264" y="1700808"/>
            <a:ext cx="2088232" cy="1224136"/>
          </a:xfrm>
          <a:prstGeom prst="rect">
            <a:avLst/>
          </a:prstGeom>
          <a:solidFill>
            <a:srgbClr val="FFC00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Welche Strategie in einer eigenen Klasse gewählt wird muss der Aufgabenstellung entnommen werden</a:t>
            </a:r>
          </a:p>
        </p:txBody>
      </p:sp>
    </p:spTree>
    <p:extLst>
      <p:ext uri="{BB962C8B-B14F-4D97-AF65-F5344CB8AC3E}">
        <p14:creationId xmlns:p14="http://schemas.microsoft.com/office/powerpoint/2010/main" val="350083252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3B30-6A16-1229-9788-AB894B1BC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7B20-E9FB-51D8-3FBF-31D7AFDF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object-Klasse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EA505-1812-2064-F721-C0F9D57D3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12.2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31CC-3BC1-7F47-6CAC-B688B37B6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942D9-499B-A95E-654B-378BD04C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40EA7-F2B5-C872-FB16-0B3A85149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151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3188191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AB84-0C11-35FD-0767-5F0A9DB8C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D811B-1FE8-B573-1AB1-4323D0010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"Wir können doch Bücher, Autoren und Verleger mit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dirty="0"/>
              <a:t> ausgeben, ohne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__repr__</a:t>
            </a:r>
            <a:r>
              <a:rPr lang="de-DE" dirty="0"/>
              <a:t> zu implementieren. Warum gibt es keinen Fehler, wo kommt diese Methode denn her?"</a:t>
            </a:r>
          </a:p>
          <a:p>
            <a:r>
              <a:rPr lang="de-DE" dirty="0"/>
              <a:t>Die Lösung liegt an einem Detail der Vererbung</a:t>
            </a:r>
          </a:p>
          <a:p>
            <a:pPr lvl="1"/>
            <a:r>
              <a:rPr lang="de-DE" dirty="0"/>
              <a:t>Jede selbstdefinierte Klasse hat, wenn nicht explizit eine Superklassen angegeben wird, die Klasse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de-DE" dirty="0"/>
              <a:t> als implizite Superklasse</a:t>
            </a:r>
          </a:p>
          <a:p>
            <a:pPr lvl="1"/>
            <a:r>
              <a:rPr lang="de-DE" dirty="0"/>
              <a:t>Und diese Klasse definiert bereits einen Satz von Dunder-Methoden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7D41D-70FF-E8AF-FA09-A75A7C4A5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92A95-DC56-895D-B3E4-9DB2DE29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FA157-2306-357C-8669-3C43AC16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152</a:t>
            </a:fld>
            <a:endParaRPr lang="de-DE" altLang="de-DE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4CEF0B6-55FF-972E-2155-1006DE3A0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402295"/>
            <a:ext cx="2127494" cy="288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3401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1EAD0634-D793-45A1-5C88-FB3F19FA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Title 1">
            <a:extLst>
              <a:ext uri="{FF2B5EF4-FFF2-40B4-BE49-F238E27FC236}">
                <a16:creationId xmlns:a16="http://schemas.microsoft.com/office/drawing/2014/main" id="{12C61EEF-F05A-6B27-5EF8-82AE5907F5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object im Speicher</a:t>
            </a:r>
            <a:endParaRPr dirty="0"/>
          </a:p>
        </p:txBody>
      </p:sp>
      <p:sp>
        <p:nvSpPr>
          <p:cNvPr id="892" name="Google Shape;892;p104">
            <a:extLst>
              <a:ext uri="{FF2B5EF4-FFF2-40B4-BE49-F238E27FC236}">
                <a16:creationId xmlns:a16="http://schemas.microsoft.com/office/drawing/2014/main" id="{533E2591-2473-B1B6-6C56-5224198A1BC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</a:pPr>
              <a:t>153</a:t>
            </a:fld>
            <a:endParaRPr/>
          </a:p>
        </p:txBody>
      </p:sp>
      <p:sp>
        <p:nvSpPr>
          <p:cNvPr id="893" name="Google Shape;893;p104">
            <a:extLst>
              <a:ext uri="{FF2B5EF4-FFF2-40B4-BE49-F238E27FC236}">
                <a16:creationId xmlns:a16="http://schemas.microsoft.com/office/drawing/2014/main" id="{645766E3-920E-8232-7409-156F8229593E}"/>
              </a:ext>
            </a:extLst>
          </p:cNvPr>
          <p:cNvSpPr/>
          <p:nvPr/>
        </p:nvSpPr>
        <p:spPr>
          <a:xfrm>
            <a:off x="115050" y="1770900"/>
            <a:ext cx="6057300" cy="273822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Python Laufzeit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Stack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de-D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Heap</a:t>
            </a:r>
            <a:r>
              <a:rPr lang="de-DE" dirty="0"/>
              <a:t>tack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Heap</a:t>
            </a:r>
            <a:endParaRPr dirty="0"/>
          </a:p>
        </p:txBody>
      </p:sp>
      <p:cxnSp>
        <p:nvCxnSpPr>
          <p:cNvPr id="894" name="Google Shape;894;p104">
            <a:extLst>
              <a:ext uri="{FF2B5EF4-FFF2-40B4-BE49-F238E27FC236}">
                <a16:creationId xmlns:a16="http://schemas.microsoft.com/office/drawing/2014/main" id="{A1B8AC52-5112-81DB-A0C8-4A58A685B9C7}"/>
              </a:ext>
            </a:extLst>
          </p:cNvPr>
          <p:cNvCxnSpPr/>
          <p:nvPr/>
        </p:nvCxnSpPr>
        <p:spPr>
          <a:xfrm>
            <a:off x="121825" y="2413825"/>
            <a:ext cx="605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3" name="Google Shape;903;p104">
            <a:extLst>
              <a:ext uri="{FF2B5EF4-FFF2-40B4-BE49-F238E27FC236}">
                <a16:creationId xmlns:a16="http://schemas.microsoft.com/office/drawing/2014/main" id="{116ADB7A-EF56-5D3E-9E2B-827D9865A2C7}"/>
              </a:ext>
            </a:extLst>
          </p:cNvPr>
          <p:cNvSpPr/>
          <p:nvPr/>
        </p:nvSpPr>
        <p:spPr>
          <a:xfrm>
            <a:off x="1847858" y="2916400"/>
            <a:ext cx="1211973" cy="377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name=Hugo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904" name="Google Shape;904;p104">
            <a:extLst>
              <a:ext uri="{FF2B5EF4-FFF2-40B4-BE49-F238E27FC236}">
                <a16:creationId xmlns:a16="http://schemas.microsoft.com/office/drawing/2014/main" id="{B19FD84E-F8B1-AD6E-8DD5-6461412F438F}"/>
              </a:ext>
            </a:extLst>
          </p:cNvPr>
          <p:cNvCxnSpPr>
            <a:cxnSpLocks/>
            <a:stCxn id="905" idx="4"/>
            <a:endCxn id="903" idx="0"/>
          </p:cNvCxnSpPr>
          <p:nvPr/>
        </p:nvCxnSpPr>
        <p:spPr>
          <a:xfrm>
            <a:off x="2446552" y="2308789"/>
            <a:ext cx="7293" cy="6076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5" name="Google Shape;905;p104">
            <a:extLst>
              <a:ext uri="{FF2B5EF4-FFF2-40B4-BE49-F238E27FC236}">
                <a16:creationId xmlns:a16="http://schemas.microsoft.com/office/drawing/2014/main" id="{580B4FC5-993F-3F43-ADFD-C267CE071A59}"/>
              </a:ext>
            </a:extLst>
          </p:cNvPr>
          <p:cNvSpPr/>
          <p:nvPr/>
        </p:nvSpPr>
        <p:spPr>
          <a:xfrm>
            <a:off x="2339752" y="2105689"/>
            <a:ext cx="213600" cy="2031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6" name="Google Shape;906;p104">
            <a:extLst>
              <a:ext uri="{FF2B5EF4-FFF2-40B4-BE49-F238E27FC236}">
                <a16:creationId xmlns:a16="http://schemas.microsoft.com/office/drawing/2014/main" id="{C6A78054-F837-7502-D34D-4F6524889D24}"/>
              </a:ext>
            </a:extLst>
          </p:cNvPr>
          <p:cNvSpPr txBox="1"/>
          <p:nvPr/>
        </p:nvSpPr>
        <p:spPr>
          <a:xfrm>
            <a:off x="2550276" y="1916832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p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07" name="Google Shape;907;p104">
            <a:extLst>
              <a:ext uri="{FF2B5EF4-FFF2-40B4-BE49-F238E27FC236}">
                <a16:creationId xmlns:a16="http://schemas.microsoft.com/office/drawing/2014/main" id="{9E69AC8F-67C9-A912-2D50-2C306D95080C}"/>
              </a:ext>
            </a:extLst>
          </p:cNvPr>
          <p:cNvSpPr/>
          <p:nvPr/>
        </p:nvSpPr>
        <p:spPr>
          <a:xfrm>
            <a:off x="4607757" y="2579963"/>
            <a:ext cx="1116371" cy="701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Student</a:t>
            </a:r>
            <a:endParaRPr sz="1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name=Bert</a:t>
            </a:r>
            <a:endParaRPr sz="1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</a:rPr>
              <a:t>uni=TU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908" name="Google Shape;908;p104">
            <a:extLst>
              <a:ext uri="{FF2B5EF4-FFF2-40B4-BE49-F238E27FC236}">
                <a16:creationId xmlns:a16="http://schemas.microsoft.com/office/drawing/2014/main" id="{0280367E-B1AC-ACDD-282E-4A458C08996C}"/>
              </a:ext>
            </a:extLst>
          </p:cNvPr>
          <p:cNvCxnSpPr>
            <a:cxnSpLocks/>
            <a:stCxn id="909" idx="4"/>
            <a:endCxn id="907" idx="0"/>
          </p:cNvCxnSpPr>
          <p:nvPr/>
        </p:nvCxnSpPr>
        <p:spPr>
          <a:xfrm flipH="1">
            <a:off x="5165943" y="2192418"/>
            <a:ext cx="28220" cy="3875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9" name="Google Shape;909;p104">
            <a:extLst>
              <a:ext uri="{FF2B5EF4-FFF2-40B4-BE49-F238E27FC236}">
                <a16:creationId xmlns:a16="http://schemas.microsoft.com/office/drawing/2014/main" id="{AD796E69-490C-E1B9-E9B3-097F913EB97A}"/>
              </a:ext>
            </a:extLst>
          </p:cNvPr>
          <p:cNvSpPr/>
          <p:nvPr/>
        </p:nvSpPr>
        <p:spPr>
          <a:xfrm>
            <a:off x="5087363" y="1989318"/>
            <a:ext cx="213600" cy="203100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10" name="Google Shape;910;p104">
            <a:extLst>
              <a:ext uri="{FF2B5EF4-FFF2-40B4-BE49-F238E27FC236}">
                <a16:creationId xmlns:a16="http://schemas.microsoft.com/office/drawing/2014/main" id="{1845DAB2-6BC3-18DC-330C-85070563F3A5}"/>
              </a:ext>
            </a:extLst>
          </p:cNvPr>
          <p:cNvSpPr txBox="1"/>
          <p:nvPr/>
        </p:nvSpPr>
        <p:spPr>
          <a:xfrm>
            <a:off x="5352420" y="1930510"/>
            <a:ext cx="299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>
                <a:solidFill>
                  <a:schemeClr val="dk1"/>
                </a:solidFill>
              </a:rPr>
              <a:t>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911" name="Google Shape;911;p104">
            <a:extLst>
              <a:ext uri="{FF2B5EF4-FFF2-40B4-BE49-F238E27FC236}">
                <a16:creationId xmlns:a16="http://schemas.microsoft.com/office/drawing/2014/main" id="{36E97784-9FB0-0FAF-62C6-B29CC42D5991}"/>
              </a:ext>
            </a:extLst>
          </p:cNvPr>
          <p:cNvSpPr/>
          <p:nvPr/>
        </p:nvSpPr>
        <p:spPr>
          <a:xfrm>
            <a:off x="1623572" y="3610304"/>
            <a:ext cx="1666149" cy="60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say_hello(self)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2" name="Google Shape;912;p104">
            <a:extLst>
              <a:ext uri="{FF2B5EF4-FFF2-40B4-BE49-F238E27FC236}">
                <a16:creationId xmlns:a16="http://schemas.microsoft.com/office/drawing/2014/main" id="{8B111B6B-8E45-A04F-BEB8-DA495D141D4B}"/>
              </a:ext>
            </a:extLst>
          </p:cNvPr>
          <p:cNvCxnSpPr>
            <a:cxnSpLocks/>
            <a:stCxn id="903" idx="2"/>
            <a:endCxn id="911" idx="0"/>
          </p:cNvCxnSpPr>
          <p:nvPr/>
        </p:nvCxnSpPr>
        <p:spPr>
          <a:xfrm>
            <a:off x="2453845" y="3293500"/>
            <a:ext cx="2802" cy="31680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3" name="Google Shape;913;p104">
            <a:extLst>
              <a:ext uri="{FF2B5EF4-FFF2-40B4-BE49-F238E27FC236}">
                <a16:creationId xmlns:a16="http://schemas.microsoft.com/office/drawing/2014/main" id="{74AEB2B1-4A49-955E-3B96-809BDC0052CB}"/>
              </a:ext>
            </a:extLst>
          </p:cNvPr>
          <p:cNvSpPr/>
          <p:nvPr/>
        </p:nvSpPr>
        <p:spPr>
          <a:xfrm>
            <a:off x="4405789" y="3618688"/>
            <a:ext cx="1553786" cy="602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study(self) 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15" name="Google Shape;915;p104">
            <a:extLst>
              <a:ext uri="{FF2B5EF4-FFF2-40B4-BE49-F238E27FC236}">
                <a16:creationId xmlns:a16="http://schemas.microsoft.com/office/drawing/2014/main" id="{74383697-BE57-9094-98DD-7C9C733038B7}"/>
              </a:ext>
            </a:extLst>
          </p:cNvPr>
          <p:cNvCxnSpPr>
            <a:cxnSpLocks/>
            <a:stCxn id="907" idx="2"/>
            <a:endCxn id="913" idx="0"/>
          </p:cNvCxnSpPr>
          <p:nvPr/>
        </p:nvCxnSpPr>
        <p:spPr>
          <a:xfrm>
            <a:off x="5165943" y="3281363"/>
            <a:ext cx="16739" cy="337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004D46-6167-5995-8DEF-770F94879C78}"/>
              </a:ext>
            </a:extLst>
          </p:cNvPr>
          <p:cNvCxnSpPr>
            <a:cxnSpLocks/>
            <a:stCxn id="913" idx="1"/>
            <a:endCxn id="911" idx="3"/>
          </p:cNvCxnSpPr>
          <p:nvPr/>
        </p:nvCxnSpPr>
        <p:spPr>
          <a:xfrm flipH="1" flipV="1">
            <a:off x="3289721" y="3911504"/>
            <a:ext cx="1116068" cy="8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0EFAF09-8365-214A-5F15-3C70ED122271}"/>
              </a:ext>
            </a:extLst>
          </p:cNvPr>
          <p:cNvSpPr txBox="1"/>
          <p:nvPr/>
        </p:nvSpPr>
        <p:spPr>
          <a:xfrm>
            <a:off x="3491880" y="3550888"/>
            <a:ext cx="7415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</a:p>
        </p:txBody>
      </p:sp>
      <p:cxnSp>
        <p:nvCxnSpPr>
          <p:cNvPr id="15" name="Google Shape;904;p104">
            <a:extLst>
              <a:ext uri="{FF2B5EF4-FFF2-40B4-BE49-F238E27FC236}">
                <a16:creationId xmlns:a16="http://schemas.microsoft.com/office/drawing/2014/main" id="{06A98759-18AD-7DD1-7D28-C7AC8F77EAD8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3289721" y="2308789"/>
            <a:ext cx="20927" cy="1242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905;p104">
            <a:extLst>
              <a:ext uri="{FF2B5EF4-FFF2-40B4-BE49-F238E27FC236}">
                <a16:creationId xmlns:a16="http://schemas.microsoft.com/office/drawing/2014/main" id="{C2C3B923-057F-CD53-6A82-A49BF2E01335}"/>
              </a:ext>
            </a:extLst>
          </p:cNvPr>
          <p:cNvSpPr/>
          <p:nvPr/>
        </p:nvSpPr>
        <p:spPr>
          <a:xfrm>
            <a:off x="3203848" y="2105689"/>
            <a:ext cx="213600" cy="2031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" name="Google Shape;906;p104">
            <a:extLst>
              <a:ext uri="{FF2B5EF4-FFF2-40B4-BE49-F238E27FC236}">
                <a16:creationId xmlns:a16="http://schemas.microsoft.com/office/drawing/2014/main" id="{56E2EBA6-F242-CE2C-F162-FA45F40F5568}"/>
              </a:ext>
            </a:extLst>
          </p:cNvPr>
          <p:cNvSpPr txBox="1"/>
          <p:nvPr/>
        </p:nvSpPr>
        <p:spPr>
          <a:xfrm>
            <a:off x="3414372" y="1916832"/>
            <a:ext cx="801604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chemeClr val="dk1"/>
                </a:solidFill>
              </a:rPr>
              <a:t>Person</a:t>
            </a:r>
            <a:endParaRPr sz="800" dirty="0">
              <a:solidFill>
                <a:schemeClr val="dk1"/>
              </a:solidFill>
            </a:endParaRPr>
          </a:p>
        </p:txBody>
      </p:sp>
      <p:cxnSp>
        <p:nvCxnSpPr>
          <p:cNvPr id="19" name="Google Shape;904;p104">
            <a:extLst>
              <a:ext uri="{FF2B5EF4-FFF2-40B4-BE49-F238E27FC236}">
                <a16:creationId xmlns:a16="http://schemas.microsoft.com/office/drawing/2014/main" id="{54EC4594-6B64-DA16-373A-EEA05C2C4DF3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4581849" y="2308789"/>
            <a:ext cx="20927" cy="1242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oogle Shape;905;p104">
            <a:extLst>
              <a:ext uri="{FF2B5EF4-FFF2-40B4-BE49-F238E27FC236}">
                <a16:creationId xmlns:a16="http://schemas.microsoft.com/office/drawing/2014/main" id="{67B22CEE-BE44-408C-9012-918943EA8700}"/>
              </a:ext>
            </a:extLst>
          </p:cNvPr>
          <p:cNvSpPr/>
          <p:nvPr/>
        </p:nvSpPr>
        <p:spPr>
          <a:xfrm>
            <a:off x="4495976" y="2105689"/>
            <a:ext cx="213600" cy="2031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" name="Google Shape;906;p104">
            <a:extLst>
              <a:ext uri="{FF2B5EF4-FFF2-40B4-BE49-F238E27FC236}">
                <a16:creationId xmlns:a16="http://schemas.microsoft.com/office/drawing/2014/main" id="{7118B720-C5C8-AB31-69C5-E947CEA2F9C4}"/>
              </a:ext>
            </a:extLst>
          </p:cNvPr>
          <p:cNvSpPr txBox="1"/>
          <p:nvPr/>
        </p:nvSpPr>
        <p:spPr>
          <a:xfrm>
            <a:off x="3995936" y="2060848"/>
            <a:ext cx="801604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chemeClr val="dk1"/>
                </a:solidFill>
              </a:rPr>
              <a:t>Student</a:t>
            </a:r>
            <a:endParaRPr sz="800" dirty="0">
              <a:solidFill>
                <a:schemeClr val="dk1"/>
              </a:solidFill>
            </a:endParaRPr>
          </a:p>
        </p:txBody>
      </p:sp>
      <p:sp>
        <p:nvSpPr>
          <p:cNvPr id="2" name="Google Shape;911;p104">
            <a:extLst>
              <a:ext uri="{FF2B5EF4-FFF2-40B4-BE49-F238E27FC236}">
                <a16:creationId xmlns:a16="http://schemas.microsoft.com/office/drawing/2014/main" id="{F41EEEA4-CED6-62F1-9B6E-23C107777439}"/>
              </a:ext>
            </a:extLst>
          </p:cNvPr>
          <p:cNvSpPr/>
          <p:nvPr/>
        </p:nvSpPr>
        <p:spPr>
          <a:xfrm>
            <a:off x="375539" y="3610304"/>
            <a:ext cx="987545" cy="59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de-DE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Dunders</a:t>
            </a:r>
            <a:endParaRPr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Google Shape;905;p104">
            <a:extLst>
              <a:ext uri="{FF2B5EF4-FFF2-40B4-BE49-F238E27FC236}">
                <a16:creationId xmlns:a16="http://schemas.microsoft.com/office/drawing/2014/main" id="{A2F5B9B4-AECF-62F5-C0DD-E307A0BCA3C7}"/>
              </a:ext>
            </a:extLst>
          </p:cNvPr>
          <p:cNvSpPr/>
          <p:nvPr/>
        </p:nvSpPr>
        <p:spPr>
          <a:xfrm>
            <a:off x="776082" y="1977902"/>
            <a:ext cx="213600" cy="2031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Google Shape;906;p104">
            <a:extLst>
              <a:ext uri="{FF2B5EF4-FFF2-40B4-BE49-F238E27FC236}">
                <a16:creationId xmlns:a16="http://schemas.microsoft.com/office/drawing/2014/main" id="{E13F728B-A147-83DE-28ED-DB3F1AA548CD}"/>
              </a:ext>
            </a:extLst>
          </p:cNvPr>
          <p:cNvSpPr txBox="1"/>
          <p:nvPr/>
        </p:nvSpPr>
        <p:spPr>
          <a:xfrm>
            <a:off x="971600" y="1844824"/>
            <a:ext cx="801604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chemeClr val="dk1"/>
                </a:solidFill>
              </a:rPr>
              <a:t>object</a:t>
            </a:r>
            <a:endParaRPr sz="800" dirty="0">
              <a:solidFill>
                <a:schemeClr val="dk1"/>
              </a:solidFill>
            </a:endParaRPr>
          </a:p>
        </p:txBody>
      </p:sp>
      <p:cxnSp>
        <p:nvCxnSpPr>
          <p:cNvPr id="18" name="Google Shape;904;p104">
            <a:extLst>
              <a:ext uri="{FF2B5EF4-FFF2-40B4-BE49-F238E27FC236}">
                <a16:creationId xmlns:a16="http://schemas.microsoft.com/office/drawing/2014/main" id="{C1119D63-B9A8-CB73-FE81-B1B46302DCE3}"/>
              </a:ext>
            </a:extLst>
          </p:cNvPr>
          <p:cNvCxnSpPr>
            <a:cxnSpLocks/>
            <a:stCxn id="12" idx="4"/>
            <a:endCxn id="2" idx="0"/>
          </p:cNvCxnSpPr>
          <p:nvPr/>
        </p:nvCxnSpPr>
        <p:spPr>
          <a:xfrm flipH="1">
            <a:off x="869312" y="2181002"/>
            <a:ext cx="13570" cy="142930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48977A-5A4A-CDD3-3D7E-B4F312AB2D31}"/>
              </a:ext>
            </a:extLst>
          </p:cNvPr>
          <p:cNvCxnSpPr>
            <a:endCxn id="2" idx="3"/>
          </p:cNvCxnSpPr>
          <p:nvPr/>
        </p:nvCxnSpPr>
        <p:spPr>
          <a:xfrm flipH="1" flipV="1">
            <a:off x="1363084" y="3907312"/>
            <a:ext cx="260488" cy="8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55726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3EEB3BE-D863-8A63-CEBA-3B05E6398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Datenverarbeitung mit Collections</a:t>
            </a:r>
            <a:endParaRPr lang="de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6EF38D-1B65-8FE7-F72E-ADA24FBC5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AB938-F4EF-0046-207A-08B3482B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A8551-2D2F-0E9C-3C99-CECE5F4E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7F11E-162E-4443-15BC-3EBD36A4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154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3288827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3B337-D5CE-51EC-C0B6-B7AEE7D4A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E047-9F5E-9F80-26DF-10A7D83C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 err="1"/>
              <a:t>Comprehensions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68B27C-60C6-8DB5-8ECF-5C34AD038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13.1</a:t>
            </a:r>
            <a:endParaRPr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87BE5B2-9DB3-DBE7-6EC8-7F56267B41B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9E84453-94D2-C028-410F-772F765F2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EA77D9-A3E8-6EDC-11F1-FABEDEBC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14F8D96-9175-4F59-9C17-02F1E440DDEF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155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64747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49387-909E-6635-B0BB-FD84C31A8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itle 1">
            <a:extLst>
              <a:ext uri="{FF2B5EF4-FFF2-40B4-BE49-F238E27FC236}">
                <a16:creationId xmlns:a16="http://schemas.microsoft.com/office/drawing/2014/main" id="{BDE2E9D8-E517-3B58-5EDA-E67B2131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Was sind Comprehension?</a:t>
            </a:r>
          </a:p>
        </p:txBody>
      </p:sp>
      <p:sp>
        <p:nvSpPr>
          <p:cNvPr id="159747" name="Inhaltsplatzhalter 7">
            <a:extLst>
              <a:ext uri="{FF2B5EF4-FFF2-40B4-BE49-F238E27FC236}">
                <a16:creationId xmlns:a16="http://schemas.microsoft.com/office/drawing/2014/main" id="{EFA17A8C-88E7-E316-457E-D9431D83D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 dirty="0"/>
              <a:t>Technische Antwort</a:t>
            </a:r>
          </a:p>
          <a:p>
            <a:pPr lvl="1"/>
            <a:r>
              <a:rPr lang="de-DE" altLang="de-DE" dirty="0"/>
              <a:t>"Eine Comprehension erzeugt aus einer potenziell verschachtelten Menge von iterierbaren Objekten eine Ergebnis-Collection"</a:t>
            </a:r>
          </a:p>
          <a:p>
            <a:r>
              <a:rPr lang="de-DE" altLang="de-DE" dirty="0"/>
              <a:t>Pragmatische Antwort</a:t>
            </a:r>
          </a:p>
          <a:p>
            <a:pPr lvl="1"/>
            <a:r>
              <a:rPr lang="de-DE" altLang="de-DE" dirty="0"/>
              <a:t>"Eine Comprehension ist eine verkürzte und im Idealfall lesbarere Form einer Schleife, die anhand von Kriterien eine Ergebnis-Collection erstellt"</a:t>
            </a:r>
            <a:endParaRPr altLang="de-DE" dirty="0"/>
          </a:p>
          <a:p>
            <a:r>
              <a:rPr lang="de-DE" altLang="de-DE" dirty="0"/>
              <a:t>Herleitung</a:t>
            </a:r>
          </a:p>
          <a:p>
            <a:pPr lvl="1"/>
            <a:endParaRPr lang="de-DE" alt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AF58566-1826-B1A9-870D-3B4697757F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01618BC-C36B-4BBD-9FBA-10BC6819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E9BBC4E-34FB-B143-4C77-5D59C28E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A5C7ED-177C-4F3D-810A-436D0361A7EB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156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DB566-6E32-79C0-5098-8013E6401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13" y="3501008"/>
            <a:ext cx="3134162" cy="1219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E0B607-3DBA-871A-3798-E7EC286C7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5266075"/>
            <a:ext cx="5553850" cy="23815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282FF5-BB9F-D46B-8382-282E3B4C39DE}"/>
              </a:ext>
            </a:extLst>
          </p:cNvPr>
          <p:cNvCxnSpPr>
            <a:cxnSpLocks/>
          </p:cNvCxnSpPr>
          <p:nvPr/>
        </p:nvCxnSpPr>
        <p:spPr>
          <a:xfrm flipH="1">
            <a:off x="2042486" y="3622849"/>
            <a:ext cx="585298" cy="16432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6473B9-3890-CCD0-22D5-F4AD276B905C}"/>
              </a:ext>
            </a:extLst>
          </p:cNvPr>
          <p:cNvCxnSpPr>
            <a:cxnSpLocks/>
          </p:cNvCxnSpPr>
          <p:nvPr/>
        </p:nvCxnSpPr>
        <p:spPr>
          <a:xfrm>
            <a:off x="3203848" y="3899108"/>
            <a:ext cx="576064" cy="13669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03BC26-DFA0-3966-48C7-9E00C9121A6B}"/>
              </a:ext>
            </a:extLst>
          </p:cNvPr>
          <p:cNvCxnSpPr>
            <a:cxnSpLocks/>
          </p:cNvCxnSpPr>
          <p:nvPr/>
        </p:nvCxnSpPr>
        <p:spPr>
          <a:xfrm>
            <a:off x="4211960" y="4110693"/>
            <a:ext cx="1080120" cy="11553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Google Shape;749;p93">
            <a:extLst>
              <a:ext uri="{FF2B5EF4-FFF2-40B4-BE49-F238E27FC236}">
                <a16:creationId xmlns:a16="http://schemas.microsoft.com/office/drawing/2014/main" id="{75F349B4-4354-E428-291D-387F17774ED3}"/>
              </a:ext>
            </a:extLst>
          </p:cNvPr>
          <p:cNvSpPr/>
          <p:nvPr/>
        </p:nvSpPr>
        <p:spPr>
          <a:xfrm>
            <a:off x="197768" y="5838850"/>
            <a:ext cx="8748464" cy="398462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Ist die Lösung mit der Schleife lesbarer? -&gt; Leave it up to you...</a:t>
            </a:r>
          </a:p>
        </p:txBody>
      </p:sp>
    </p:spTree>
    <p:extLst>
      <p:ext uri="{BB962C8B-B14F-4D97-AF65-F5344CB8AC3E}">
        <p14:creationId xmlns:p14="http://schemas.microsoft.com/office/powerpoint/2010/main" val="321125565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3DAD0-A5E8-66B8-6F1D-BEEDA9C3E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itle 1">
            <a:extLst>
              <a:ext uri="{FF2B5EF4-FFF2-40B4-BE49-F238E27FC236}">
                <a16:creationId xmlns:a16="http://schemas.microsoft.com/office/drawing/2014/main" id="{FB83B5B7-F925-803D-4E57-D6BDED71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Weitere Informationen</a:t>
            </a:r>
          </a:p>
        </p:txBody>
      </p:sp>
      <p:sp>
        <p:nvSpPr>
          <p:cNvPr id="159747" name="Inhaltsplatzhalter 7">
            <a:extLst>
              <a:ext uri="{FF2B5EF4-FFF2-40B4-BE49-F238E27FC236}">
                <a16:creationId xmlns:a16="http://schemas.microsoft.com/office/drawing/2014/main" id="{D61CC141-B5A7-3121-5609-B15998158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 dirty="0"/>
              <a:t>Comprehensions sind in der Python-Community sehr beliebt und werden in vielen Anwendungen benutzt</a:t>
            </a:r>
          </a:p>
          <a:p>
            <a:pPr lvl="1"/>
            <a:r>
              <a:rPr lang="de-DE" altLang="de-DE" dirty="0"/>
              <a:t>Beispiele</a:t>
            </a:r>
          </a:p>
          <a:p>
            <a:pPr lvl="2"/>
            <a:r>
              <a:rPr lang="de-DE" altLang="de-DE" dirty="0">
                <a:hlinkClick r:id="rId2"/>
              </a:rPr>
              <a:t>https://www.w3schools.com/python/python_lists_comprehension.asp</a:t>
            </a:r>
            <a:endParaRPr lang="de-DE" altLang="de-DE" dirty="0"/>
          </a:p>
          <a:p>
            <a:r>
              <a:rPr lang="de-DE" altLang="de-DE" dirty="0"/>
              <a:t>Es gibt Comprehensions für Ergebnis-Listen, -Sets und –Dictionaries</a:t>
            </a:r>
          </a:p>
          <a:p>
            <a:pPr lvl="1"/>
            <a:r>
              <a:rPr lang="de-DE" altLang="de-DE" dirty="0"/>
              <a:t>Also für alle Collection, die mit einem Literal erzeugt werden können</a:t>
            </a:r>
          </a:p>
          <a:p>
            <a:r>
              <a:rPr lang="de-DE" altLang="de-DE" dirty="0"/>
              <a:t>Fragen wie "sind Comprehensions performanter oder effizienter?" sind müßig, beide Lösungen sind äquivalent</a:t>
            </a:r>
          </a:p>
          <a:p>
            <a:r>
              <a:rPr lang="de-DE" altLang="de-DE" dirty="0"/>
              <a:t>Auch verschachtelte iterierbare Objekt-Aggregate können in einer Comprehension genutzt werden</a:t>
            </a:r>
          </a:p>
          <a:p>
            <a:pPr lvl="1"/>
            <a:r>
              <a:rPr lang="de-DE" altLang="de-DE" dirty="0"/>
              <a:t>Hierzu müssten verschachtelte Schleifen genutzt werden</a:t>
            </a:r>
          </a:p>
          <a:p>
            <a:r>
              <a:rPr lang="de-DE" altLang="de-DE" dirty="0"/>
              <a:t>Comprehensions können nicht debugged werden</a:t>
            </a:r>
            <a:endParaRPr alt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1D40EDF-5E3A-2F59-2068-D90BCB7D55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6E59DFA-2D0E-F8C9-E75F-CEC7C5E5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EA339C8-07AC-57EF-2A3C-04F157D7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A5C7ED-177C-4F3D-810A-436D0361A7EB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157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13095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8285-68AF-06AA-D914-4F8BD390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8715-2643-CEFA-118E-DB78A34B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Publishing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0C23EA-DE56-005A-716F-2321337D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1106B-58BC-5CA8-AFC4-CEE99AA3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74A329-9DB7-FCED-215A-DF88BF19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5711-C661-4B9F-A580-A7D95705C47D}" type="slidenum">
              <a:rPr lang="de-DE" altLang="de-DE" smtClean="0"/>
              <a:pPr/>
              <a:t>158</a:t>
            </a:fld>
            <a:endParaRPr lang="de-DE" alt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356A1-C24D-1980-38FB-A0E62543F5CC}"/>
              </a:ext>
            </a:extLst>
          </p:cNvPr>
          <p:cNvSpPr/>
          <p:nvPr/>
        </p:nvSpPr>
        <p:spPr>
          <a:xfrm>
            <a:off x="395536" y="1412776"/>
            <a:ext cx="2664296" cy="12241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0" dirty="0">
                <a:solidFill>
                  <a:schemeClr val="tx1"/>
                </a:solidFill>
              </a:rPr>
              <a:t>Publisher</a:t>
            </a:r>
          </a:p>
          <a:p>
            <a:r>
              <a:rPr lang="de-DE" b="0" dirty="0">
                <a:solidFill>
                  <a:schemeClr val="tx1"/>
                </a:solidFill>
              </a:rPr>
              <a:t>id</a:t>
            </a:r>
          </a:p>
          <a:p>
            <a:r>
              <a:rPr lang="de-DE" b="0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FDD971-CD91-3597-876B-4A3FE101764F}"/>
              </a:ext>
            </a:extLst>
          </p:cNvPr>
          <p:cNvSpPr/>
          <p:nvPr/>
        </p:nvSpPr>
        <p:spPr>
          <a:xfrm>
            <a:off x="395536" y="4005064"/>
            <a:ext cx="2664296" cy="17281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0" dirty="0">
                <a:solidFill>
                  <a:schemeClr val="tx1"/>
                </a:solidFill>
              </a:rPr>
              <a:t>Book</a:t>
            </a:r>
          </a:p>
          <a:p>
            <a:r>
              <a:rPr lang="de-DE" b="0" dirty="0">
                <a:solidFill>
                  <a:schemeClr val="tx1"/>
                </a:solidFill>
              </a:rPr>
              <a:t>isbn</a:t>
            </a:r>
          </a:p>
          <a:p>
            <a:r>
              <a:rPr lang="de-DE" b="0" dirty="0">
                <a:solidFill>
                  <a:schemeClr val="tx1"/>
                </a:solidFill>
              </a:rPr>
              <a:t>title</a:t>
            </a:r>
          </a:p>
          <a:p>
            <a:r>
              <a:rPr lang="de-DE" b="0" dirty="0">
                <a:solidFill>
                  <a:schemeClr val="tx1"/>
                </a:solidFill>
              </a:rPr>
              <a:t>price</a:t>
            </a:r>
          </a:p>
          <a:p>
            <a:r>
              <a:rPr lang="de-DE" b="0" dirty="0">
                <a:solidFill>
                  <a:schemeClr val="tx1"/>
                </a:solidFill>
              </a:rPr>
              <a:t>pages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59C270-0B37-84FD-920E-92B7FDAD9523}"/>
              </a:ext>
            </a:extLst>
          </p:cNvPr>
          <p:cNvCxnSpPr>
            <a:stCxn id="7" idx="0"/>
            <a:endCxn id="6" idx="2"/>
          </p:cNvCxnSpPr>
          <p:nvPr/>
        </p:nvCxnSpPr>
        <p:spPr>
          <a:xfrm flipV="1">
            <a:off x="1727684" y="2636912"/>
            <a:ext cx="0" cy="13681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A6A392-56DA-5B91-FB05-C2E47F63EDD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727684" y="2636912"/>
            <a:ext cx="0" cy="13681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D85D332-F878-AAF6-D478-C1801CD7DFE7}"/>
              </a:ext>
            </a:extLst>
          </p:cNvPr>
          <p:cNvSpPr txBox="1"/>
          <p:nvPr/>
        </p:nvSpPr>
        <p:spPr>
          <a:xfrm>
            <a:off x="1331912" y="2636912"/>
            <a:ext cx="287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F0E08F-06B1-2FC4-4774-A9795546D620}"/>
              </a:ext>
            </a:extLst>
          </p:cNvPr>
          <p:cNvSpPr txBox="1"/>
          <p:nvPr/>
        </p:nvSpPr>
        <p:spPr>
          <a:xfrm>
            <a:off x="1331913" y="3656057"/>
            <a:ext cx="287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A4A836-A5F6-DA24-6ABB-1C0E030EF3F3}"/>
              </a:ext>
            </a:extLst>
          </p:cNvPr>
          <p:cNvSpPr/>
          <p:nvPr/>
        </p:nvSpPr>
        <p:spPr>
          <a:xfrm>
            <a:off x="5004184" y="4014338"/>
            <a:ext cx="2664296" cy="17281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0" dirty="0">
                <a:solidFill>
                  <a:schemeClr val="tx1"/>
                </a:solidFill>
              </a:rPr>
              <a:t>Author</a:t>
            </a:r>
          </a:p>
          <a:p>
            <a:r>
              <a:rPr lang="de-DE" b="0" dirty="0">
                <a:solidFill>
                  <a:schemeClr val="tx1"/>
                </a:solidFill>
              </a:rPr>
              <a:t>id</a:t>
            </a:r>
          </a:p>
          <a:p>
            <a:r>
              <a:rPr lang="de-DE" b="0" dirty="0">
                <a:solidFill>
                  <a:schemeClr val="tx1"/>
                </a:solidFill>
              </a:rPr>
              <a:t>lastname</a:t>
            </a:r>
          </a:p>
          <a:p>
            <a:r>
              <a:rPr lang="de-DE" b="0" dirty="0">
                <a:solidFill>
                  <a:schemeClr val="tx1"/>
                </a:solidFill>
              </a:rPr>
              <a:t>firstname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19A702-7603-92DE-B4EF-E74CAAAF875A}"/>
              </a:ext>
            </a:extLst>
          </p:cNvPr>
          <p:cNvCxnSpPr>
            <a:stCxn id="7" idx="3"/>
            <a:endCxn id="14" idx="1"/>
          </p:cNvCxnSpPr>
          <p:nvPr/>
        </p:nvCxnSpPr>
        <p:spPr>
          <a:xfrm>
            <a:off x="3059832" y="4869160"/>
            <a:ext cx="1944352" cy="92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27DB24-0833-9D1E-C595-DB70444D368C}"/>
              </a:ext>
            </a:extLst>
          </p:cNvPr>
          <p:cNvCxnSpPr>
            <a:stCxn id="14" idx="1"/>
            <a:endCxn id="7" idx="3"/>
          </p:cNvCxnSpPr>
          <p:nvPr/>
        </p:nvCxnSpPr>
        <p:spPr>
          <a:xfrm flipH="1" flipV="1">
            <a:off x="3059832" y="4869160"/>
            <a:ext cx="1944352" cy="92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09E0FE8-E716-4811-F99D-1EC6D099669C}"/>
              </a:ext>
            </a:extLst>
          </p:cNvPr>
          <p:cNvSpPr txBox="1"/>
          <p:nvPr/>
        </p:nvSpPr>
        <p:spPr>
          <a:xfrm>
            <a:off x="4644008" y="4592161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0:n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34705-C3F1-0621-4440-D39014820CFD}"/>
              </a:ext>
            </a:extLst>
          </p:cNvPr>
          <p:cNvSpPr txBox="1"/>
          <p:nvPr/>
        </p:nvSpPr>
        <p:spPr>
          <a:xfrm>
            <a:off x="3060105" y="4581128"/>
            <a:ext cx="648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0:m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FD2F67-5D75-836B-2F04-A82465EB1350}"/>
              </a:ext>
            </a:extLst>
          </p:cNvPr>
          <p:cNvSpPr/>
          <p:nvPr/>
        </p:nvSpPr>
        <p:spPr>
          <a:xfrm>
            <a:off x="3708177" y="1052735"/>
            <a:ext cx="5256311" cy="27363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0" dirty="0">
                <a:solidFill>
                  <a:schemeClr val="tx1"/>
                </a:solidFill>
              </a:rPr>
              <a:t>PublishingService</a:t>
            </a:r>
          </a:p>
          <a:p>
            <a:r>
              <a:rPr lang="de-DE" b="0" dirty="0">
                <a:solidFill>
                  <a:schemeClr val="tx1"/>
                </a:solidFill>
              </a:rPr>
              <a:t>new_publisher(name):new_pubisher</a:t>
            </a:r>
          </a:p>
          <a:p>
            <a:r>
              <a:rPr lang="de-DE" b="0" dirty="0">
                <a:solidFill>
                  <a:schemeClr val="tx1"/>
                </a:solidFill>
              </a:rPr>
              <a:t>new_book(title, price, pages, publisher):new_book</a:t>
            </a:r>
          </a:p>
          <a:p>
            <a:r>
              <a:rPr lang="de-DE" b="0" dirty="0">
                <a:solidFill>
                  <a:schemeClr val="tx1"/>
                </a:solidFill>
              </a:rPr>
              <a:t>new_author(lastname, firstname): new_author</a:t>
            </a:r>
          </a:p>
          <a:p>
            <a:r>
              <a:rPr lang="de-DE" b="0" dirty="0">
                <a:solidFill>
                  <a:schemeClr val="tx1"/>
                </a:solidFill>
              </a:rPr>
              <a:t>written_by(book, author)</a:t>
            </a:r>
          </a:p>
          <a:p>
            <a:r>
              <a:rPr lang="de-DE" dirty="0">
                <a:solidFill>
                  <a:schemeClr val="tx1"/>
                </a:solidFill>
              </a:rPr>
              <a:t>books_more_expensive_than(min_price)</a:t>
            </a:r>
          </a:p>
          <a:p>
            <a:r>
              <a:rPr lang="de-DE" dirty="0">
                <a:solidFill>
                  <a:schemeClr val="tx1"/>
                </a:solidFill>
              </a:rPr>
              <a:t>authors_for_publisher(publisher)</a:t>
            </a:r>
          </a:p>
          <a:p>
            <a:r>
              <a:rPr lang="de-DE" dirty="0">
                <a:solidFill>
                  <a:schemeClr val="tx1"/>
                </a:solidFill>
              </a:rPr>
              <a:t>authors_for_publisher_with_lastname(publisher, lastname)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767D737-6C6C-3BAC-6EDB-79969704251A}"/>
              </a:ext>
            </a:extLst>
          </p:cNvPr>
          <p:cNvCxnSpPr>
            <a:cxnSpLocks/>
            <a:stCxn id="21" idx="1"/>
            <a:endCxn id="6" idx="3"/>
          </p:cNvCxnSpPr>
          <p:nvPr/>
        </p:nvCxnSpPr>
        <p:spPr>
          <a:xfrm flipH="1" flipV="1">
            <a:off x="3059832" y="2024844"/>
            <a:ext cx="648345" cy="396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59C2FF-F218-AF5D-B2CB-636DED874235}"/>
              </a:ext>
            </a:extLst>
          </p:cNvPr>
          <p:cNvCxnSpPr>
            <a:cxnSpLocks/>
            <a:stCxn id="21" idx="1"/>
            <a:endCxn id="7" idx="0"/>
          </p:cNvCxnSpPr>
          <p:nvPr/>
        </p:nvCxnSpPr>
        <p:spPr>
          <a:xfrm flipH="1">
            <a:off x="1727684" y="2420887"/>
            <a:ext cx="1980493" cy="1584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620E668-86C0-D8A3-A1FB-AE856218B93F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 flipH="1">
            <a:off x="6336332" y="3789039"/>
            <a:ext cx="1" cy="2252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9BF81A3-ABAF-452B-DFA5-0719A0F299BB}"/>
              </a:ext>
            </a:extLst>
          </p:cNvPr>
          <p:cNvSpPr txBox="1"/>
          <p:nvPr/>
        </p:nvSpPr>
        <p:spPr>
          <a:xfrm>
            <a:off x="3131840" y="1844824"/>
            <a:ext cx="287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24E755-F95D-098B-8990-DB399E86FA01}"/>
              </a:ext>
            </a:extLst>
          </p:cNvPr>
          <p:cNvSpPr txBox="1"/>
          <p:nvPr/>
        </p:nvSpPr>
        <p:spPr>
          <a:xfrm>
            <a:off x="2124001" y="3656057"/>
            <a:ext cx="287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666D63-F044-F44B-1E02-F1CB3E7FEECE}"/>
              </a:ext>
            </a:extLst>
          </p:cNvPr>
          <p:cNvSpPr txBox="1"/>
          <p:nvPr/>
        </p:nvSpPr>
        <p:spPr>
          <a:xfrm>
            <a:off x="6300192" y="3800073"/>
            <a:ext cx="287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solidFill>
                  <a:schemeClr val="tx1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58074209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BAAF8559-CCCD-E53A-1070-FCB455009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Lambdas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518766F-FC89-4015-A8D5-2F1521F0E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13.2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D7DA92-F99C-3AF6-9FFA-DAD2894BF3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612971-3AC1-9921-1F3B-A6088D97C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949200A-6F2F-841B-5534-5FEC5479A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2D3321-E826-493C-9E2D-D41DA6538F80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159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slow"/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>
            <a:extLst>
              <a:ext uri="{FF2B5EF4-FFF2-40B4-BE49-F238E27FC236}">
                <a16:creationId xmlns:a16="http://schemas.microsoft.com/office/drawing/2014/main" id="{94B18D33-62B3-D1BA-66E9-BB0D01791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Funktionen als Objekte</a:t>
            </a:r>
          </a:p>
        </p:txBody>
      </p:sp>
      <p:sp>
        <p:nvSpPr>
          <p:cNvPr id="70659" name="Rectangle 5">
            <a:extLst>
              <a:ext uri="{FF2B5EF4-FFF2-40B4-BE49-F238E27FC236}">
                <a16:creationId xmlns:a16="http://schemas.microsoft.com/office/drawing/2014/main" id="{76231564-CCB8-5E4B-DF54-D5AF31A822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lnSpc>
                <a:spcPct val="102000"/>
              </a:lnSpc>
              <a:defRPr/>
            </a:pPr>
            <a:r>
              <a:rPr dirty="0"/>
              <a:t>Funktionen können Variablen zugewiesen werden</a:t>
            </a:r>
          </a:p>
          <a:p>
            <a:pPr marL="463550" lvl="2" indent="0">
              <a:lnSpc>
                <a:spcPct val="102000"/>
              </a:lnSpc>
              <a:buNone/>
              <a:defRPr/>
            </a:pPr>
            <a:r>
              <a:rPr dirty="0">
                <a:latin typeface="Courier New" pitchFamily="49" charset="0"/>
              </a:rPr>
              <a:t>def f: .....</a:t>
            </a:r>
          </a:p>
          <a:p>
            <a:pPr marL="463550" lvl="2" indent="0">
              <a:lnSpc>
                <a:spcPct val="102000"/>
              </a:lnSpc>
              <a:buNone/>
              <a:defRPr/>
            </a:pPr>
            <a:r>
              <a:rPr dirty="0">
                <a:latin typeface="Courier New" pitchFamily="49" charset="0"/>
              </a:rPr>
              <a:t>a=f</a:t>
            </a:r>
          </a:p>
          <a:p>
            <a:pPr marL="463550" lvl="2" indent="0">
              <a:lnSpc>
                <a:spcPct val="102000"/>
              </a:lnSpc>
              <a:buNone/>
              <a:defRPr/>
            </a:pPr>
            <a:r>
              <a:rPr dirty="0">
                <a:latin typeface="Courier New" pitchFamily="49" charset="0"/>
              </a:rPr>
              <a:t>a("Hallo!")</a:t>
            </a:r>
          </a:p>
          <a:p>
            <a:pPr>
              <a:lnSpc>
                <a:spcPct val="102000"/>
              </a:lnSpc>
              <a:defRPr/>
            </a:pPr>
            <a:r>
              <a:rPr dirty="0"/>
              <a:t>Funktionen können somit auch benutzt werden</a:t>
            </a:r>
          </a:p>
          <a:p>
            <a:pPr lvl="1">
              <a:lnSpc>
                <a:spcPct val="102000"/>
              </a:lnSpc>
              <a:defRPr/>
            </a:pPr>
            <a:r>
              <a:rPr dirty="0"/>
              <a:t>als Parameter </a:t>
            </a:r>
          </a:p>
          <a:p>
            <a:pPr lvl="1">
              <a:lnSpc>
                <a:spcPct val="102000"/>
              </a:lnSpc>
              <a:defRPr/>
            </a:pPr>
            <a:r>
              <a:rPr dirty="0"/>
              <a:t>als Rückgabewerte</a:t>
            </a:r>
          </a:p>
          <a:p>
            <a:pPr lvl="1">
              <a:lnSpc>
                <a:spcPct val="102000"/>
              </a:lnSpc>
              <a:defRPr/>
            </a:pPr>
            <a:endParaRPr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EBDF13E-78F1-34A0-80A4-9A7AE9BF185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0235E36-9BC4-45F4-EF91-35775807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1A63CF-3E3C-35A8-1B25-3DCE4DD7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73FE637-7A95-4DF4-BFF1-8D7AE0537AA6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160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>
            <a:extLst>
              <a:ext uri="{FF2B5EF4-FFF2-40B4-BE49-F238E27FC236}">
                <a16:creationId xmlns:a16="http://schemas.microsoft.com/office/drawing/2014/main" id="{CE5A5A5E-2A0E-64E4-B00A-5A6890613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Lambda-Funktionsdefinition</a:t>
            </a:r>
          </a:p>
        </p:txBody>
      </p:sp>
      <p:sp>
        <p:nvSpPr>
          <p:cNvPr id="91139" name="Rectangle 5">
            <a:extLst>
              <a:ext uri="{FF2B5EF4-FFF2-40B4-BE49-F238E27FC236}">
                <a16:creationId xmlns:a16="http://schemas.microsoft.com/office/drawing/2014/main" id="{FD58CAF4-334F-9ADD-2DDE-7BCC6885FD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 dirty="0"/>
              <a:t>Warum eine weitere Syntax für Funktionen</a:t>
            </a:r>
          </a:p>
          <a:p>
            <a:pPr lvl="1"/>
            <a:r>
              <a:rPr altLang="de-DE" dirty="0"/>
              <a:t>Das Schlüsselwort </a:t>
            </a:r>
            <a:r>
              <a:rPr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altLang="de-DE" dirty="0"/>
              <a:t>kann nicht an beliebigen Stellen stehen</a:t>
            </a:r>
          </a:p>
          <a:p>
            <a:pPr lvl="1"/>
            <a:r>
              <a:rPr lang="de-DE" altLang="de-DE" dirty="0"/>
              <a:t>Eine Funktionsdefinition ist verbose (ausführlich)</a:t>
            </a:r>
          </a:p>
          <a:p>
            <a:pPr lvl="2"/>
            <a:r>
              <a:rPr lang="de-DE" altLang="de-DE" dirty="0"/>
              <a:t>Name, Parameterliste in runden Klammern, return-Statement</a:t>
            </a:r>
            <a:endParaRPr altLang="de-DE" dirty="0"/>
          </a:p>
          <a:p>
            <a:r>
              <a:rPr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altLang="de-DE" dirty="0"/>
              <a:t> ist ein "Funktions-Literal"</a:t>
            </a:r>
          </a:p>
          <a:p>
            <a:r>
              <a:rPr lang="de-DE" dirty="0"/>
              <a:t>Lambda-Ausdrücke weisen einer Variable = Referent eine Funktion = Objekt zu</a:t>
            </a:r>
          </a:p>
          <a:p>
            <a:pPr lvl="2">
              <a:lnSpc>
                <a:spcPct val="77000"/>
              </a:lnSpc>
              <a:buNone/>
            </a:pPr>
            <a:endParaRPr altLang="de-DE" dirty="0">
              <a:latin typeface="Courier New" panose="02070309020205020404" pitchFamily="49" charset="0"/>
            </a:endParaRPr>
          </a:p>
          <a:p>
            <a:pPr lvl="2">
              <a:lnSpc>
                <a:spcPct val="77000"/>
              </a:lnSpc>
              <a:buNone/>
            </a:pPr>
            <a:r>
              <a:rPr altLang="de-DE" dirty="0">
                <a:latin typeface="Courier New" panose="02070309020205020404" pitchFamily="49" charset="0"/>
              </a:rPr>
              <a:t>fkt=lambda x:x**2</a:t>
            </a:r>
          </a:p>
          <a:p>
            <a:pPr lvl="2">
              <a:lnSpc>
                <a:spcPct val="77000"/>
              </a:lnSpc>
              <a:buNone/>
            </a:pPr>
            <a:r>
              <a:rPr altLang="de-DE" dirty="0">
                <a:latin typeface="Courier New" panose="02070309020205020404" pitchFamily="49" charset="0"/>
              </a:rPr>
              <a:t>fkt(2)</a:t>
            </a:r>
          </a:p>
          <a:p>
            <a:pPr lvl="2">
              <a:lnSpc>
                <a:spcPct val="77000"/>
              </a:lnSpc>
              <a:buNone/>
            </a:pPr>
            <a:r>
              <a:rPr altLang="de-DE" dirty="0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34E31C0-EAB3-B114-01DC-E461FC0CE2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71CC51-7DA8-B1D4-EB9E-02DA56E6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6FEAA2-22AF-A7C7-A78E-F34886E1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E33A12-667F-43BD-85A5-9ACAE7FDFE02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161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431A5-91DB-0BCD-630B-76D90155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 Informationen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064B3-71C7-B3C1-3F10-D9A6BE601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Einschränkungen</a:t>
            </a:r>
          </a:p>
          <a:p>
            <a:pPr lvl="1"/>
            <a:r>
              <a:rPr lang="de-DE" dirty="0"/>
              <a:t>Lambdas sind in Python keine vollständigen Funktionen!</a:t>
            </a:r>
          </a:p>
          <a:p>
            <a:pPr lvl="2"/>
            <a:r>
              <a:rPr lang="de-DE" dirty="0"/>
              <a:t>Sie dürfen nur eine einzige Anweisung enthalten</a:t>
            </a:r>
          </a:p>
          <a:p>
            <a:pPr lvl="1"/>
            <a:r>
              <a:rPr lang="de-DE" dirty="0"/>
              <a:t>Lambda-Ausdrücke können nicht debugged werden</a:t>
            </a:r>
          </a:p>
          <a:p>
            <a:r>
              <a:rPr lang="de-DE" altLang="de-DE" dirty="0"/>
              <a:t>Das Ergebnis der Anweisung ist  der implizite Rückgabewert</a:t>
            </a:r>
          </a:p>
          <a:p>
            <a:r>
              <a:rPr lang="de-DE" altLang="de-DE" dirty="0"/>
              <a:t>Lambda-Ausdrücke können auch innerhalb von Anweisungen stehen</a:t>
            </a:r>
          </a:p>
          <a:p>
            <a:pPr lvl="1"/>
            <a:r>
              <a:rPr lang="de-DE" altLang="de-DE" dirty="0"/>
              <a:t>Sehr praktisch für Parameter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endParaRPr lang="de-DE" altLang="de-DE" dirty="0">
              <a:latin typeface="Courier New" panose="02070309020205020404" pitchFamily="49" charset="0"/>
            </a:endParaRP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lang="de-DE" altLang="de-DE" dirty="0">
                <a:latin typeface="Courier New" panose="02070309020205020404" pitchFamily="49" charset="0"/>
              </a:rPr>
              <a:t>	my_func(lambda x:x**x)</a:t>
            </a:r>
          </a:p>
          <a:p>
            <a:endParaRPr lang="de-DE" dirty="0"/>
          </a:p>
          <a:p>
            <a:pPr marL="288925" lvl="1" indent="0">
              <a:buNone/>
            </a:pP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5B01B-0894-D2A0-3CF7-9710FD860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485FA-BEF9-1EFC-6AF9-610E3E59E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7F53A-E8B9-7801-4723-52392255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162</a:t>
            </a:fld>
            <a:endParaRPr lang="de-DE" altLang="de-DE"/>
          </a:p>
        </p:txBody>
      </p:sp>
      <p:sp>
        <p:nvSpPr>
          <p:cNvPr id="7" name="Google Shape;749;p93">
            <a:extLst>
              <a:ext uri="{FF2B5EF4-FFF2-40B4-BE49-F238E27FC236}">
                <a16:creationId xmlns:a16="http://schemas.microsoft.com/office/drawing/2014/main" id="{F6913610-34B1-E1E1-7119-A0276E127A9E}"/>
              </a:ext>
            </a:extLst>
          </p:cNvPr>
          <p:cNvSpPr/>
          <p:nvPr/>
        </p:nvSpPr>
        <p:spPr>
          <a:xfrm>
            <a:off x="0" y="4437112"/>
            <a:ext cx="8748464" cy="180020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Zur Klarstellung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Jede Funktion ist ein Objekt, das über eine Referenz angesprochen wird</a:t>
            </a:r>
          </a:p>
          <a:p>
            <a:pPr marL="1200150" lvl="2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Ob diese Funktion mit lambda oder def erzeugt wurde ist irrelevant</a:t>
            </a:r>
          </a:p>
        </p:txBody>
      </p:sp>
    </p:spTree>
    <p:extLst>
      <p:ext uri="{BB962C8B-B14F-4D97-AF65-F5344CB8AC3E}">
        <p14:creationId xmlns:p14="http://schemas.microsoft.com/office/powerpoint/2010/main" val="398110255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570C11D7-C3D4-BA95-99D9-7D757DAFD4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Dateioperationen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A0D07E4-CC6E-0AE5-4B32-A2C112805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14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0E5F58-BAD2-FF04-35AE-264702C22A4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462122-4495-9DFB-C690-221F0FB8D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5795B5-6887-CE17-6549-DCD95BD6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1C4ADA-C93C-4E64-8820-73718A891E69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163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slow"/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9594F9C4-B278-6F3E-00C5-F2CDED2D6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Lesen und Schreiben von Dateien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70CD987-D003-91F4-03FA-E19CD907F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14.1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FB5BB7-D7B5-4D47-DE87-DFCD595DFAE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F939B0-8085-8775-BB85-8585E25BA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C05034-7266-0CAE-D44D-A1D89FEE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7DCC2A-2AB5-4E8B-AA48-4A881393D376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164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144315"/>
      </p:ext>
    </p:extLst>
  </p:cSld>
  <p:clrMapOvr>
    <a:masterClrMapping/>
  </p:clrMapOvr>
  <p:transition spd="slow"/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10DC1-17DC-527D-416C-3991D816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9AC8F-8AF3-14B4-821D-C580EC71F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14.2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15588-BBE1-8C06-7C2D-B7AFA43C2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482F8-E148-2782-50B7-BEB2A893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23992-C944-C885-8D58-ED0AEF5F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165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64055641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254B2-15D9-E64B-11EE-3A73314B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Dateien öffnen und lesen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3F913-B4CC-1019-5EB1-5EB1BAD71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Funktion open() öffnet eine Datei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file = open('datei.txt', 'r')</a:t>
            </a:r>
          </a:p>
          <a:p>
            <a:pPr lvl="2"/>
            <a:r>
              <a:rPr lang="de-DE" dirty="0"/>
              <a:t>Der Modus 'r' steht für lesen</a:t>
            </a:r>
          </a:p>
          <a:p>
            <a:r>
              <a:rPr lang="de-DE" dirty="0"/>
              <a:t>read(): Liest den gesamten Inhalt der Datei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content = file.read()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print(content)</a:t>
            </a:r>
          </a:p>
          <a:p>
            <a:r>
              <a:rPr lang="de-DE" dirty="0"/>
              <a:t>readline(): Liest eine Zeile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line = file.readline()</a:t>
            </a:r>
          </a:p>
          <a:p>
            <a:r>
              <a:rPr lang="de-DE" dirty="0"/>
              <a:t>readlines(): Liest alle Zeilen und gibt eine Liste zurück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lines = file.readlines()</a:t>
            </a:r>
          </a:p>
          <a:p>
            <a:r>
              <a:rPr lang="de-DE" dirty="0"/>
              <a:t>Schließen der Datei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file.close()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43F18-A230-07FA-BB58-89AA87E4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223F8-F192-2595-E2C8-72BB8DC4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0F5AF-EA65-D002-D82E-A1BFDFD5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166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9216923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39CE-4E13-2865-66E3-BE0367A3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Fehlerbehandlung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B16C0-F5C2-5489-46A0-EFBF62314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Potenzielle Fehler beim Dateioperationen, wie z.B. Datei nicht gefunden werden durch spezielle Fehlertypen signalisiert</a:t>
            </a:r>
          </a:p>
          <a:p>
            <a:pPr lvl="1"/>
            <a:r>
              <a:rPr lang="de-DE" dirty="0"/>
              <a:t>z.B.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FileNotFoundError</a:t>
            </a:r>
          </a:p>
          <a:p>
            <a:pPr marL="269875" lvl="1" indent="0">
              <a:buNone/>
            </a:pP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9875" lvl="1" indent="0">
              <a:buNone/>
            </a:pP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9875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try:</a:t>
            </a:r>
          </a:p>
          <a:p>
            <a:pPr marL="269875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with open('datei.txt', 'r') as file:</a:t>
            </a:r>
          </a:p>
          <a:p>
            <a:pPr marL="269875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content = file.read()</a:t>
            </a:r>
          </a:p>
          <a:p>
            <a:pPr marL="269875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except FileNotFoundError:</a:t>
            </a:r>
          </a:p>
          <a:p>
            <a:pPr marL="269875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print("Datei nicht gefunden.")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6E712-5822-CE44-B0ED-624AE3F7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8EF4D-7640-3943-A1E1-675216488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4C6F6-34B2-0C45-8E88-FF1E46DD6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167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63113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254B2-15D9-E64B-11EE-3A73314B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Dateien schreiben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3F913-B4CC-1019-5EB1-5EB1BAD71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46758"/>
            <a:ext cx="8535203" cy="5090554"/>
          </a:xfrm>
        </p:spPr>
        <p:txBody>
          <a:bodyPr/>
          <a:lstStyle/>
          <a:p>
            <a:r>
              <a:rPr lang="de-DE" dirty="0"/>
              <a:t>Die Funktion open() öffnet eine Datei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file = open('datei.txt', 'w')</a:t>
            </a:r>
          </a:p>
          <a:p>
            <a:pPr lvl="2"/>
            <a:r>
              <a:rPr lang="de-DE" dirty="0"/>
              <a:t>Der Modus 'w' steht für überschreiben</a:t>
            </a:r>
          </a:p>
          <a:p>
            <a:pPr lvl="2"/>
            <a:r>
              <a:rPr lang="de-DE" dirty="0"/>
              <a:t>Der Modus 'a' steht für ergänzen</a:t>
            </a:r>
          </a:p>
          <a:p>
            <a:r>
              <a:rPr lang="de-DE" dirty="0"/>
              <a:t>write()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file.write('Hello')</a:t>
            </a:r>
          </a:p>
          <a:p>
            <a:r>
              <a:rPr lang="de-DE" dirty="0"/>
              <a:t>writelines(): Liest alle Zeilen und gibt eine Liste zurück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lines = ['Hello', World']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file.writelines(lines)</a:t>
            </a:r>
          </a:p>
          <a:p>
            <a:r>
              <a:rPr lang="de-DE" dirty="0"/>
              <a:t>Schließen der Datei</a:t>
            </a:r>
          </a:p>
          <a:p>
            <a:pPr lvl="1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file.close()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43F18-A230-07FA-BB58-89AA87E4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223F8-F192-2595-E2C8-72BB8DC4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0F5AF-EA65-D002-D82E-A1BFDFD5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168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1154505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897AA-B9B8-ED35-53B9-AFD15C71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A0C3-1D2B-9E95-6065-9AE7EC86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Contextmanager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DE8E4-25BA-F068-2283-BED4B1AEF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14.3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54113-480E-A9F8-B72A-C936698E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61C88-6664-D547-6473-874D399A6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A3696-BEEA-FD0F-7024-84F7EA7A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169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194646251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6985-5E66-08A5-C713-845AD4228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74BFA-1E4F-992D-D9DD-E0215BE64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Was sind Contextmanager?</a:t>
            </a:r>
          </a:p>
          <a:p>
            <a:pPr lvl="1"/>
            <a:r>
              <a:rPr lang="de-DE" dirty="0"/>
              <a:t>Ein Werkzeug, um Ressourcen sicher zu verwalten</a:t>
            </a:r>
          </a:p>
          <a:p>
            <a:pPr lvl="1"/>
            <a:r>
              <a:rPr lang="de-DE" dirty="0"/>
              <a:t>Automatisieren das Einrichten und Aufräumen von Ressourcen</a:t>
            </a:r>
          </a:p>
          <a:p>
            <a:pPr lvl="2"/>
            <a:r>
              <a:rPr lang="de-DE" dirty="0"/>
              <a:t>Dateien</a:t>
            </a:r>
          </a:p>
          <a:p>
            <a:pPr lvl="2"/>
            <a:r>
              <a:rPr lang="de-DE" dirty="0"/>
              <a:t>Netzwerkverbindungen</a:t>
            </a:r>
          </a:p>
          <a:p>
            <a:r>
              <a:rPr lang="de-DE" dirty="0"/>
              <a:t>Typische Anwendung</a:t>
            </a:r>
          </a:p>
          <a:p>
            <a:pPr lvl="1"/>
            <a:r>
              <a:rPr lang="de-DE" dirty="0"/>
              <a:t>Öffnen und Schließen von Dateien</a:t>
            </a:r>
          </a:p>
          <a:p>
            <a:pPr lvl="1"/>
            <a:r>
              <a:rPr lang="de-DE" dirty="0"/>
              <a:t>Sperren von Ressourcen</a:t>
            </a:r>
          </a:p>
          <a:p>
            <a:pPr lvl="1"/>
            <a:r>
              <a:rPr lang="de-DE" dirty="0"/>
              <a:t>Transaktionen in Datenbanken</a:t>
            </a:r>
          </a:p>
          <a:p>
            <a:r>
              <a:rPr lang="de-DE" dirty="0"/>
              <a:t>Dazu wird die with-Anweisung genutzt</a:t>
            </a:r>
          </a:p>
          <a:p>
            <a:pPr lvl="1"/>
            <a:r>
              <a:rPr lang="en-US" dirty="0"/>
              <a:t>with open('datei.txt', 'r') as file:</a:t>
            </a:r>
          </a:p>
          <a:p>
            <a:pPr lvl="1"/>
            <a:r>
              <a:rPr lang="en-US" dirty="0"/>
              <a:t>    content = </a:t>
            </a:r>
            <a:r>
              <a:rPr lang="en-US" dirty="0" err="1"/>
              <a:t>file.read</a:t>
            </a:r>
            <a:r>
              <a:rPr lang="en-US" dirty="0"/>
              <a:t>()</a:t>
            </a:r>
          </a:p>
          <a:p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39B7B-840B-E8CF-2971-250E1907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27B2-4B0C-55D4-2AE6-98366960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BBE8C-B165-8F5A-5EEE-42154310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170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841432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0E945-7E69-A7A4-17C3-0DD55735E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Lesen mit with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BF96-F87D-3A18-ED1D-09209F030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open('datei.txt', 'r') as file: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content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file.read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DE" dirty="0"/>
              <a:t>Die Datei wird hier automatisch geschlossen</a:t>
            </a:r>
          </a:p>
          <a:p>
            <a:pPr lvl="1"/>
            <a:r>
              <a:rPr lang="de-DE" dirty="0"/>
              <a:t>Auch im Fehlerfall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7088-5DAF-23CC-E397-BE65665A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44F64-EC1D-A8DC-485B-60BF66FDB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7E321-E9D8-EAB9-CDB4-30D52C32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171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1595549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0E945-7E69-A7A4-17C3-0DD55735E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Schreiben mit with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BF96-F87D-3A18-ED1D-09209F030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open('datei.txt', 'w') as file: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file.write('Hello')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Die Datei wird hier automatisch geschlossen</a:t>
            </a:r>
          </a:p>
          <a:p>
            <a:pPr lvl="1"/>
            <a:r>
              <a:rPr lang="de-DE" dirty="0"/>
              <a:t>Auch im Fehlerfall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7088-5DAF-23CC-E397-BE65665A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44F64-EC1D-A8DC-485B-60BF66FDB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7E321-E9D8-EAB9-CDB4-30D52C32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172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9848313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32ADEECC-3A07-9A8E-E849-12320BD57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Module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DB91DEB-BECD-F64D-FCD7-A509E22DA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15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E17C82-CBE2-6453-77DC-E89F85465ED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DE9D44-FD2D-E240-A7CF-12309EA7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E74AB3-AB9B-9CE7-47D6-57B7ADA4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4781498-B88E-4523-8787-B67FF8DB6DCD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173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slow"/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DA7F-DCB8-8EFA-806E-3D6C2B566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Übersicht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B8933B-21A0-B216-35B3-E6A1442A5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15.1</a:t>
            </a:r>
            <a:endParaRPr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B783FE-626B-EDE9-6A2F-B969CF26A8D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51F041-CE90-DEFD-7240-608E5ADEE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CE762F-CB75-2046-2A73-1F449F14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992C8B-55C6-40ED-B8DF-E0067833FF3D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174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Entwicklung</a:t>
            </a:r>
            <a:endParaRPr/>
          </a:p>
        </p:txBody>
      </p:sp>
      <p:sp>
        <p:nvSpPr>
          <p:cNvPr id="600" name="Google Shape;600;p7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pPr indent="-336550">
              <a:buSzPts val="1700"/>
            </a:pPr>
            <a:r>
              <a:rPr lang="de-DE" sz="1700" dirty="0"/>
              <a:t>Bisher</a:t>
            </a:r>
            <a:endParaRPr sz="1700" dirty="0"/>
          </a:p>
          <a:p>
            <a:pPr lvl="1" indent="-323850">
              <a:buSzPts val="1500"/>
            </a:pPr>
            <a:r>
              <a:rPr lang="de-DE" sz="1500" dirty="0"/>
              <a:t>BuiltIn-Funktionen</a:t>
            </a:r>
            <a:endParaRPr sz="1500" dirty="0"/>
          </a:p>
          <a:p>
            <a:pPr lvl="2" indent="-311150">
              <a:buSzPts val="1300"/>
            </a:pPr>
            <a:r>
              <a:rPr lang="de-DE" sz="1300" dirty="0"/>
              <a:t>Stehen überall zur Verfügung</a:t>
            </a:r>
            <a:endParaRPr sz="1300" dirty="0"/>
          </a:p>
          <a:p>
            <a:pPr lvl="3" indent="-298450">
              <a:buSzPts val="1100"/>
            </a:pPr>
            <a:r>
              <a:rPr lang="de-DE" sz="1100" dirty="0"/>
              <a:t>print('Hello')</a:t>
            </a:r>
            <a:endParaRPr sz="1100" dirty="0"/>
          </a:p>
          <a:p>
            <a:pPr lvl="1" indent="-323850">
              <a:buSzPts val="1500"/>
            </a:pPr>
            <a:r>
              <a:rPr lang="de-DE" sz="1500" dirty="0"/>
              <a:t>Methoden sind Funktionen, die einem Objekt zugeordnet sind</a:t>
            </a:r>
            <a:endParaRPr sz="1500" dirty="0"/>
          </a:p>
          <a:p>
            <a:pPr indent="-336550">
              <a:spcBef>
                <a:spcPts val="0"/>
              </a:spcBef>
              <a:buSzPts val="1700"/>
            </a:pPr>
            <a:r>
              <a:rPr lang="de-DE" sz="1700" dirty="0"/>
              <a:t>Neu</a:t>
            </a:r>
            <a:endParaRPr sz="1700" dirty="0"/>
          </a:p>
          <a:p>
            <a:pPr lvl="1" indent="-323850">
              <a:buSzPts val="1500"/>
            </a:pPr>
            <a:r>
              <a:rPr lang="de-DE" sz="1500" dirty="0"/>
              <a:t>Wir können auch eigene Funktionen schreiben, die dann aufgerufen werden können</a:t>
            </a:r>
            <a:endParaRPr sz="1500" dirty="0"/>
          </a:p>
          <a:p>
            <a:pPr lvl="2" indent="-311150">
              <a:buSzPts val="1300"/>
            </a:pPr>
            <a:r>
              <a:rPr lang="de-DE" sz="1300" dirty="0"/>
              <a:t>Stehen direkt nur in dem Python-Script zur Verfügung, in dem sie geschrieben wurden</a:t>
            </a:r>
            <a:endParaRPr sz="1300" dirty="0"/>
          </a:p>
          <a:p>
            <a:pPr lvl="1" indent="-323850">
              <a:buSzPts val="1500"/>
            </a:pPr>
            <a:r>
              <a:rPr lang="de-DE" sz="1500" dirty="0"/>
              <a:t>Jedes Python-Script definiert ein eigenes Modul</a:t>
            </a:r>
            <a:endParaRPr sz="1500" dirty="0"/>
          </a:p>
          <a:p>
            <a:pPr lvl="2" indent="-323850">
              <a:buSzPts val="1500"/>
            </a:pPr>
            <a:r>
              <a:rPr lang="de-DE" sz="1500" dirty="0"/>
              <a:t>Ein Modul ist ein Objekt, die darin enthaltenen Definitionen sind Eigenschaften dieses Objekts</a:t>
            </a:r>
            <a:endParaRPr sz="1500" dirty="0"/>
          </a:p>
          <a:p>
            <a:pPr lvl="1" indent="-336550">
              <a:buSzPts val="1700"/>
            </a:pPr>
            <a:r>
              <a:rPr lang="de-DE" sz="1700" dirty="0"/>
              <a:t>Mit import wird ein Modul über eine Pfadangabe bereitgestellt</a:t>
            </a:r>
            <a:endParaRPr sz="1700" dirty="0"/>
          </a:p>
        </p:txBody>
      </p:sp>
      <p:sp>
        <p:nvSpPr>
          <p:cNvPr id="601" name="Google Shape;601;p7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175</a:t>
            </a:fld>
            <a:endParaRPr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Best Practice</a:t>
            </a:r>
            <a:endParaRPr/>
          </a:p>
        </p:txBody>
      </p:sp>
      <p:sp>
        <p:nvSpPr>
          <p:cNvPr id="609" name="Google Shape;609;p7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Ein Modul stellt Funktionen und Variablen zur Verfügung</a:t>
            </a:r>
            <a:endParaRPr dirty="0"/>
          </a:p>
          <a:p>
            <a:pPr lvl="1"/>
            <a:r>
              <a:rPr lang="de-DE" dirty="0"/>
              <a:t>Keine lauffähige Anwendung!</a:t>
            </a:r>
            <a:endParaRPr dirty="0"/>
          </a:p>
          <a:p>
            <a:pPr lvl="2"/>
            <a:r>
              <a:rPr lang="de-DE" dirty="0"/>
              <a:t>Falls ein Modul gestartet wird, passiert nichts</a:t>
            </a:r>
            <a:endParaRPr dirty="0"/>
          </a:p>
          <a:p>
            <a:pPr lvl="1"/>
            <a:r>
              <a:rPr lang="de-DE" dirty="0"/>
              <a:t>In der Softwarearchitektur werden Module auch gerne als "Services" bezeichnet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Eine Applikation ist die lauffähige Anwendung</a:t>
            </a:r>
            <a:endParaRPr dirty="0"/>
          </a:p>
          <a:p>
            <a:pPr lvl="1"/>
            <a:r>
              <a:rPr lang="de-DE" dirty="0"/>
              <a:t>diese importiert alle notwendigen Services</a:t>
            </a:r>
            <a:endParaRPr dirty="0"/>
          </a:p>
          <a:p>
            <a:pPr lvl="1"/>
            <a:r>
              <a:rPr lang="de-DE" dirty="0"/>
              <a:t>Die Applikation enthält eine main-Funktion</a:t>
            </a:r>
            <a:endParaRPr dirty="0"/>
          </a:p>
          <a:p>
            <a:pPr lvl="1"/>
            <a:r>
              <a:rPr lang="de-DE" dirty="0"/>
              <a:t>Der Aufruf der main-Funktion innerhalb der Applikation wird abgefragt</a:t>
            </a:r>
            <a:endParaRPr dirty="0"/>
          </a:p>
          <a:p>
            <a:pPr lvl="2"/>
            <a:r>
              <a:rPr lang="de-DE" dirty="0"/>
              <a:t>if __name__ == '__main__':</a:t>
            </a:r>
            <a:endParaRPr dirty="0"/>
          </a:p>
          <a:p>
            <a:pPr lvl="3"/>
            <a:r>
              <a:rPr lang="de-DE" dirty="0"/>
              <a:t>Damit kann auch ein Modul z.B. eine Testsequenz enthalten</a:t>
            </a:r>
            <a:endParaRPr dirty="0"/>
          </a:p>
        </p:txBody>
      </p:sp>
      <p:sp>
        <p:nvSpPr>
          <p:cNvPr id="608" name="Google Shape;608;p7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176</a:t>
            </a:fld>
            <a:endParaRPr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Details zum import-Statements</a:t>
            </a:r>
            <a:endParaRPr/>
          </a:p>
        </p:txBody>
      </p:sp>
      <p:sp>
        <p:nvSpPr>
          <p:cNvPr id="616" name="Google Shape;616;p7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import &lt;path_to_module&gt;</a:t>
            </a:r>
            <a:endParaRPr dirty="0"/>
          </a:p>
          <a:p>
            <a:pPr lvl="1"/>
            <a:r>
              <a:rPr lang="de-DE" dirty="0"/>
              <a:t>Ein Pfad beginnt in dem Verzeichnis, in dem die Python-Applikation gestartet wird </a:t>
            </a:r>
          </a:p>
          <a:p>
            <a:pPr lvl="2"/>
            <a:r>
              <a:rPr lang="de-DE" dirty="0"/>
              <a:t>Genauer: Im Systempfad der Python-Installation</a:t>
            </a:r>
          </a:p>
          <a:p>
            <a:pPr lvl="1"/>
            <a:r>
              <a:rPr lang="de-DE" dirty="0"/>
              <a:t>Module, die in der Python-Installation vorhanden sind, werden ebenfalls gefunden</a:t>
            </a:r>
          </a:p>
          <a:p>
            <a:pPr lvl="2"/>
            <a:r>
              <a:rPr lang="de-DE" dirty="0"/>
              <a:t>Hier erfolgt keine Pfadangabe, es genügt der Name des Moduls</a:t>
            </a:r>
          </a:p>
          <a:p>
            <a:pPr lvl="2"/>
            <a:endParaRPr dirty="0"/>
          </a:p>
        </p:txBody>
      </p:sp>
      <p:sp>
        <p:nvSpPr>
          <p:cNvPr id="615" name="Google Shape;615;p7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177</a:t>
            </a:fld>
            <a:endParaRPr/>
          </a:p>
        </p:txBody>
      </p:sp>
      <p:pic>
        <p:nvPicPr>
          <p:cNvPr id="617" name="Google Shape;61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049" y="3855501"/>
            <a:ext cx="3741525" cy="18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buSzPts val="1100"/>
            </a:pPr>
            <a:r>
              <a:rPr lang="de-DE"/>
              <a:t>Details zum import-Statements</a:t>
            </a:r>
            <a:endParaRPr/>
          </a:p>
        </p:txBody>
      </p:sp>
      <p:sp>
        <p:nvSpPr>
          <p:cNvPr id="624" name="Google Shape;624;p7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Der Objektname des Moduls ist im Standardfall der Name des Moduls</a:t>
            </a:r>
            <a:endParaRPr dirty="0"/>
          </a:p>
          <a:p>
            <a:pPr lvl="1"/>
            <a:r>
              <a:rPr lang="de-DE" dirty="0"/>
              <a:t>eventuell auch mit Pfad und damit lang</a:t>
            </a:r>
            <a:endParaRPr dirty="0"/>
          </a:p>
          <a:p>
            <a:pPr lvl="1"/>
            <a:r>
              <a:rPr lang="de-DE" dirty="0"/>
              <a:t>Änderung des Objektnamens mit as</a:t>
            </a:r>
            <a:endParaRPr dirty="0"/>
          </a:p>
          <a:p>
            <a:pPr lvl="2"/>
            <a:r>
              <a:rPr lang="de-DE" dirty="0"/>
              <a:t>import greeter_service as gs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Direktes importieren der Modul-Eigenschaften</a:t>
            </a:r>
            <a:endParaRPr dirty="0"/>
          </a:p>
          <a:p>
            <a:pPr lvl="1"/>
            <a:r>
              <a:rPr lang="de-DE" dirty="0"/>
              <a:t>from greeter_service import greet</a:t>
            </a:r>
            <a:endParaRPr dirty="0"/>
          </a:p>
        </p:txBody>
      </p:sp>
      <p:sp>
        <p:nvSpPr>
          <p:cNvPr id="623" name="Google Shape;623;p7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178</a:t>
            </a:fld>
            <a:endParaRPr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Modulkonzept in Python</a:t>
            </a:r>
            <a:endParaRPr dirty="0"/>
          </a:p>
        </p:txBody>
      </p:sp>
      <p:sp>
        <p:nvSpPr>
          <p:cNvPr id="631" name="Google Shape;631;p7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BuiltIn-Funktionen entstammen einem Python-Modul, das automatisch importiert wird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Die Funktionalitäten einer modernen Programmiersprache sind enorm umfangreich</a:t>
            </a:r>
            <a:endParaRPr dirty="0"/>
          </a:p>
          <a:p>
            <a:pPr lvl="1"/>
            <a:r>
              <a:rPr lang="de-DE" dirty="0"/>
              <a:t>Zur Übersichtlichkeit werden diese Funktionen allesamt in Modulen gruppiert</a:t>
            </a:r>
            <a:endParaRPr dirty="0"/>
          </a:p>
          <a:p>
            <a:pPr lvl="1"/>
            <a:r>
              <a:rPr lang="de-DE" dirty="0"/>
              <a:t>Die Entscheidung, was alles im Standard-Modul vorhanden ist, ist subjektiv</a:t>
            </a:r>
            <a:endParaRPr dirty="0"/>
          </a:p>
          <a:p>
            <a:pPr lvl="2"/>
            <a:r>
              <a:rPr lang="de-DE" dirty="0"/>
              <a:t>str -&gt;Ja, list -&gt; Ja, Datumswert -&gt; Nein</a:t>
            </a:r>
            <a:endParaRPr dirty="0"/>
          </a:p>
          <a:p>
            <a:pPr lvl="2"/>
            <a:r>
              <a:rPr lang="de-DE" dirty="0"/>
              <a:t>Dateien lesen, schreiben -&gt; Ja, Auflisten eines Verzeichnisses -&gt; Nein</a:t>
            </a:r>
            <a:endParaRPr dirty="0"/>
          </a:p>
          <a:p>
            <a:pPr lvl="2"/>
            <a:r>
              <a:rPr lang="de-DE" dirty="0"/>
              <a:t>Elementare mathematische Berechnungen -&gt; Ja, Zufallszahl -&gt; Nein</a:t>
            </a:r>
            <a:endParaRPr dirty="0"/>
          </a:p>
        </p:txBody>
      </p:sp>
      <p:sp>
        <p:nvSpPr>
          <p:cNvPr id="630" name="Google Shape;630;p7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179</a:t>
            </a:fld>
            <a:endParaRPr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>
            <a:extLst>
              <a:ext uri="{FF2B5EF4-FFF2-40B4-BE49-F238E27FC236}">
                <a16:creationId xmlns:a16="http://schemas.microsoft.com/office/drawing/2014/main" id="{1A6803C8-659A-94CC-CEB3-8FBD4AC51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Eigenene Module</a:t>
            </a:r>
          </a:p>
        </p:txBody>
      </p:sp>
      <p:sp>
        <p:nvSpPr>
          <p:cNvPr id="119811" name="Inhaltsplatzhalter 2">
            <a:extLst>
              <a:ext uri="{FF2B5EF4-FFF2-40B4-BE49-F238E27FC236}">
                <a16:creationId xmlns:a16="http://schemas.microsoft.com/office/drawing/2014/main" id="{4940CAC7-60F0-81CC-13E1-FC3A78DE2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lnSpc>
                <a:spcPct val="102000"/>
              </a:lnSpc>
            </a:pPr>
            <a:r>
              <a:rPr altLang="de-DE" dirty="0"/>
              <a:t>Jedes Python-Programm ist bereits ein Modul</a:t>
            </a:r>
          </a:p>
          <a:p>
            <a:pPr lvl="1">
              <a:lnSpc>
                <a:spcPct val="102000"/>
              </a:lnSpc>
            </a:pPr>
            <a:r>
              <a:rPr lang="de-DE" altLang="de-DE" dirty="0"/>
              <a:t>Name = Name der Datei ohne Dateiendung .py</a:t>
            </a:r>
          </a:p>
          <a:p>
            <a:pPr lvl="2">
              <a:lnSpc>
                <a:spcPct val="102000"/>
              </a:lnSpc>
            </a:pPr>
            <a:r>
              <a:rPr lang="de-DE" altLang="de-DE" dirty="0"/>
              <a:t>Vorsicht: Dies gilt nur, wenn der Dateinamen auch syntaktisch als Modulname gültig ist!</a:t>
            </a:r>
            <a:endParaRPr altLang="de-DE" dirty="0"/>
          </a:p>
          <a:p>
            <a:pPr>
              <a:lnSpc>
                <a:spcPct val="102000"/>
              </a:lnSpc>
            </a:pPr>
            <a:r>
              <a:rPr altLang="de-DE" dirty="0"/>
              <a:t>Sinn</a:t>
            </a:r>
          </a:p>
          <a:p>
            <a:pPr lvl="1">
              <a:lnSpc>
                <a:spcPct val="102000"/>
              </a:lnSpc>
            </a:pPr>
            <a:r>
              <a:rPr altLang="de-DE" dirty="0"/>
              <a:t>Gekapselte Einheiten</a:t>
            </a:r>
          </a:p>
          <a:p>
            <a:pPr lvl="1">
              <a:lnSpc>
                <a:spcPct val="102000"/>
              </a:lnSpc>
            </a:pPr>
            <a:r>
              <a:rPr altLang="de-DE" dirty="0"/>
              <a:t>Wiederverwendung von Code</a:t>
            </a:r>
          </a:p>
          <a:p>
            <a:pPr lvl="1">
              <a:lnSpc>
                <a:spcPct val="102000"/>
              </a:lnSpc>
            </a:pPr>
            <a:r>
              <a:rPr altLang="de-DE" dirty="0"/>
              <a:t>Libraries</a:t>
            </a:r>
          </a:p>
          <a:p>
            <a:pPr>
              <a:lnSpc>
                <a:spcPct val="102000"/>
              </a:lnSpc>
            </a:pPr>
            <a:endParaRPr alt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16820C-495F-DF21-FFF4-16FB2AFF45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D1A6C2-0081-C466-B5B0-6CB1A122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AB01C6-2BF6-3D79-184E-A4A79D19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56E0DD-A6F6-4533-BB94-957C98C2C91E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180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  <p:sp>
        <p:nvSpPr>
          <p:cNvPr id="2" name="Google Shape;749;p93">
            <a:extLst>
              <a:ext uri="{FF2B5EF4-FFF2-40B4-BE49-F238E27FC236}">
                <a16:creationId xmlns:a16="http://schemas.microsoft.com/office/drawing/2014/main" id="{A1BFE2AD-F061-C03A-91DC-DC1D365801BD}"/>
              </a:ext>
            </a:extLst>
          </p:cNvPr>
          <p:cNvSpPr/>
          <p:nvPr/>
        </p:nvSpPr>
        <p:spPr>
          <a:xfrm>
            <a:off x="0" y="4437112"/>
            <a:ext cx="8748464" cy="180020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Hinweise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Python unterstützt für eigene Module auch sogenannte "packages"</a:t>
            </a:r>
          </a:p>
          <a:p>
            <a:pPr marL="1200150" lvl="2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Diese können eine Initialisierungsroutine enthalten </a:t>
            </a:r>
          </a:p>
          <a:p>
            <a:pPr marL="1200150" lvl="2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und durch Metainformationen nur definierte Elemente exportieren</a:t>
            </a:r>
          </a:p>
          <a:p>
            <a:pPr marL="1657350" lvl="3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nicht exportierte Elemente stehen nur innerhalb eines Packages zur Verfügung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Ein Beispiel hierfür ist weiter unten gegeben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>
            <a:extLst>
              <a:ext uri="{FF2B5EF4-FFF2-40B4-BE49-F238E27FC236}">
                <a16:creationId xmlns:a16="http://schemas.microsoft.com/office/drawing/2014/main" id="{B0BB8F73-385B-3A92-7B15-919FF091A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Anzeigen von Modul-Informationen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92D007-AF87-51FF-CDB9-A33CF361E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defRPr/>
            </a:pPr>
            <a:r>
              <a:t>Anzeigen mit </a:t>
            </a:r>
            <a:r>
              <a:rPr>
                <a:latin typeface="Courier New" pitchFamily="49" charset="0"/>
                <a:cs typeface="Courier New" pitchFamily="49" charset="0"/>
              </a:rPr>
              <a:t>dir()</a:t>
            </a:r>
          </a:p>
          <a:p>
            <a:pPr lvl="1">
              <a:defRPr/>
            </a:pPr>
            <a:r>
              <a:t>Ausgabe eines String-Arrays</a:t>
            </a:r>
          </a:p>
          <a:p>
            <a:pPr>
              <a:defRPr/>
            </a:pPr>
            <a:r>
              <a:rPr>
                <a:latin typeface="Courier New" pitchFamily="49" charset="0"/>
                <a:cs typeface="Courier New" pitchFamily="49" charset="0"/>
              </a:rPr>
              <a:t>__</a:t>
            </a:r>
            <a:r>
              <a:rPr err="1">
                <a:latin typeface="Courier New" pitchFamily="49" charset="0"/>
                <a:cs typeface="Courier New" pitchFamily="49" charset="0"/>
              </a:rPr>
              <a:t>dict</a:t>
            </a:r>
            <a:r>
              <a:rPr>
                <a:latin typeface="Courier New" pitchFamily="49" charset="0"/>
                <a:cs typeface="Courier New" pitchFamily="49" charset="0"/>
              </a:rPr>
              <a:t>__ </a:t>
            </a:r>
            <a:r>
              <a:t>ist ein </a:t>
            </a:r>
            <a:r>
              <a:rPr err="1"/>
              <a:t>Dictionary</a:t>
            </a:r>
            <a:r>
              <a:t>, das alle Variablennamen des Moduls mit ihren Inhalten verknüpft</a:t>
            </a:r>
          </a:p>
          <a:p>
            <a:pPr marL="288925" lvl="1" indent="0">
              <a:buFont typeface="Wingdings" panose="05000000000000000000" pitchFamily="2" charset="2"/>
              <a:buNone/>
              <a:defRPr/>
            </a:pPr>
            <a:endParaRPr>
              <a:latin typeface="Courier New" pitchFamily="49" charset="0"/>
              <a:cs typeface="Courier New" pitchFamily="49" charset="0"/>
            </a:endParaRPr>
          </a:p>
          <a:p>
            <a:pPr marL="288925" lvl="1" indent="0">
              <a:buFont typeface="Wingdings" panose="05000000000000000000" pitchFamily="2" charset="2"/>
              <a:buNone/>
              <a:defRPr/>
            </a:pPr>
            <a:r>
              <a:rPr err="1">
                <a:latin typeface="Courier New" pitchFamily="49" charset="0"/>
                <a:cs typeface="Courier New" pitchFamily="49" charset="0"/>
              </a:rPr>
              <a:t>def</a:t>
            </a:r>
            <a:r>
              <a:rPr>
                <a:latin typeface="Courier New" pitchFamily="49" charset="0"/>
                <a:cs typeface="Courier New" pitchFamily="49" charset="0"/>
              </a:rPr>
              <a:t> </a:t>
            </a:r>
            <a:r>
              <a:rPr err="1">
                <a:latin typeface="Courier New" pitchFamily="49" charset="0"/>
                <a:cs typeface="Courier New" pitchFamily="49" charset="0"/>
              </a:rPr>
              <a:t>info</a:t>
            </a:r>
            <a:r>
              <a:rPr>
                <a:latin typeface="Courier New" pitchFamily="49" charset="0"/>
                <a:cs typeface="Courier New" pitchFamily="49" charset="0"/>
              </a:rPr>
              <a:t>(</a:t>
            </a:r>
            <a:r>
              <a:rPr err="1">
                <a:latin typeface="Courier New" pitchFamily="49" charset="0"/>
                <a:cs typeface="Courier New" pitchFamily="49" charset="0"/>
              </a:rPr>
              <a:t>module</a:t>
            </a:r>
            <a:r>
              <a:rPr>
                <a:latin typeface="Courier New" pitchFamily="49" charset="0"/>
                <a:cs typeface="Courier New" pitchFamily="49" charset="0"/>
              </a:rPr>
              <a:t>): </a:t>
            </a:r>
          </a:p>
          <a:p>
            <a:pPr marL="288925" lvl="1" indent="0">
              <a:buFont typeface="Wingdings" panose="05000000000000000000" pitchFamily="2" charset="2"/>
              <a:buNone/>
              <a:defRPr/>
            </a:pPr>
            <a:r>
              <a:rPr>
                <a:latin typeface="Courier New" pitchFamily="49" charset="0"/>
                <a:cs typeface="Courier New" pitchFamily="49" charset="0"/>
              </a:rPr>
              <a:t>   </a:t>
            </a:r>
            <a:r>
              <a:rPr err="1">
                <a:latin typeface="Courier New" pitchFamily="49" charset="0"/>
                <a:cs typeface="Courier New" pitchFamily="49" charset="0"/>
              </a:rPr>
              <a:t>for</a:t>
            </a:r>
            <a:r>
              <a:rPr>
                <a:latin typeface="Courier New" pitchFamily="49" charset="0"/>
                <a:cs typeface="Courier New" pitchFamily="49" charset="0"/>
              </a:rPr>
              <a:t> i in </a:t>
            </a:r>
            <a:r>
              <a:rPr err="1">
                <a:latin typeface="Courier New" pitchFamily="49" charset="0"/>
                <a:cs typeface="Courier New" pitchFamily="49" charset="0"/>
              </a:rPr>
              <a:t>module</a:t>
            </a:r>
            <a:r>
              <a:rPr>
                <a:latin typeface="Courier New" pitchFamily="49" charset="0"/>
                <a:cs typeface="Courier New" pitchFamily="49" charset="0"/>
              </a:rPr>
              <a:t>.__</a:t>
            </a:r>
            <a:r>
              <a:rPr err="1">
                <a:latin typeface="Courier New" pitchFamily="49" charset="0"/>
                <a:cs typeface="Courier New" pitchFamily="49" charset="0"/>
              </a:rPr>
              <a:t>dict</a:t>
            </a:r>
            <a:r>
              <a:rPr>
                <a:latin typeface="Courier New" pitchFamily="49" charset="0"/>
                <a:cs typeface="Courier New" pitchFamily="49" charset="0"/>
              </a:rPr>
              <a:t>__.</a:t>
            </a:r>
            <a:r>
              <a:rPr err="1">
                <a:latin typeface="Courier New" pitchFamily="49" charset="0"/>
                <a:cs typeface="Courier New" pitchFamily="49" charset="0"/>
              </a:rPr>
              <a:t>keys</a:t>
            </a:r>
            <a:r>
              <a:rPr>
                <a:latin typeface="Courier New" pitchFamily="49" charset="0"/>
                <a:cs typeface="Courier New" pitchFamily="49" charset="0"/>
              </a:rPr>
              <a:t>():</a:t>
            </a:r>
          </a:p>
          <a:p>
            <a:pPr marL="288925" lvl="1" indent="0">
              <a:buFont typeface="Wingdings" panose="05000000000000000000" pitchFamily="2" charset="2"/>
              <a:buNone/>
              <a:defRPr/>
            </a:pPr>
            <a:r>
              <a:rPr>
                <a:latin typeface="Courier New" pitchFamily="49" charset="0"/>
                <a:cs typeface="Courier New" pitchFamily="49" charset="0"/>
              </a:rPr>
              <a:t>	  </a:t>
            </a:r>
            <a:r>
              <a:rPr err="1">
                <a:latin typeface="Courier New" pitchFamily="49" charset="0"/>
                <a:cs typeface="Courier New" pitchFamily="49" charset="0"/>
              </a:rPr>
              <a:t>print</a:t>
            </a:r>
            <a:r>
              <a:rPr>
                <a:latin typeface="Courier New" pitchFamily="49" charset="0"/>
                <a:cs typeface="Courier New" pitchFamily="49" charset="0"/>
              </a:rPr>
              <a:t> (i, </a:t>
            </a:r>
            <a:r>
              <a:rPr err="1">
                <a:latin typeface="Courier New" pitchFamily="49" charset="0"/>
                <a:cs typeface="Courier New" pitchFamily="49" charset="0"/>
              </a:rPr>
              <a:t>module</a:t>
            </a:r>
            <a:r>
              <a:rPr>
                <a:latin typeface="Courier New" pitchFamily="49" charset="0"/>
                <a:cs typeface="Courier New" pitchFamily="49" charset="0"/>
              </a:rPr>
              <a:t>.__</a:t>
            </a:r>
            <a:r>
              <a:rPr err="1">
                <a:latin typeface="Courier New" pitchFamily="49" charset="0"/>
                <a:cs typeface="Courier New" pitchFamily="49" charset="0"/>
              </a:rPr>
              <a:t>dict</a:t>
            </a:r>
            <a:r>
              <a:rPr>
                <a:latin typeface="Courier New" pitchFamily="49" charset="0"/>
                <a:cs typeface="Courier New" pitchFamily="49" charset="0"/>
              </a:rPr>
              <a:t>__[i])  </a:t>
            </a:r>
          </a:p>
          <a:p>
            <a:pPr>
              <a:defRPr/>
            </a:pPr>
            <a:endParaRPr/>
          </a:p>
          <a:p>
            <a:pPr lvl="1">
              <a:defRPr/>
            </a:pPr>
            <a:endParaRPr/>
          </a:p>
          <a:p>
            <a:pPr>
              <a:defRPr/>
            </a:pPr>
            <a:endParaRPr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75ABD-05F0-FFD2-BF14-7E004262A2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CC56FD-79E2-731F-1964-C7169035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EAFAE5-93A0-8065-C683-6B8997281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767AC3-9375-4D60-B109-E557AE536456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181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8766A-C19C-D362-25A7-E0B036940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CA1CA-3FF7-93CF-0DC2-B350B3882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15.2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094E3-5B3A-672F-3051-60E75378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DE902-9873-DC46-74E4-3DE61C09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F300E-0492-0928-1942-BFFC3ACF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182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64597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5BB73670-7C7C-7537-162E-AD25D49CC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Das Modul __main__</a:t>
            </a:r>
          </a:p>
        </p:txBody>
      </p:sp>
      <p:sp>
        <p:nvSpPr>
          <p:cNvPr id="125955" name="Rectangle 6">
            <a:extLst>
              <a:ext uri="{FF2B5EF4-FFF2-40B4-BE49-F238E27FC236}">
                <a16:creationId xmlns:a16="http://schemas.microsoft.com/office/drawing/2014/main" id="{0ED2D8E9-E2EE-86A1-3069-A8B79CC0FB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__name__</a:t>
            </a:r>
          </a:p>
          <a:p>
            <a:pPr lvl="1"/>
            <a:r>
              <a:rPr altLang="de-DE" dirty="0"/>
              <a:t>Enthält den Namen des Moduls</a:t>
            </a:r>
          </a:p>
          <a:p>
            <a:pPr lvl="1"/>
            <a:r>
              <a:rPr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__&lt;name&gt;__ </a:t>
            </a:r>
            <a:r>
              <a:rPr altLang="de-DE" dirty="0"/>
              <a:t>benennt in Python eine interne Variable</a:t>
            </a:r>
          </a:p>
          <a:p>
            <a:r>
              <a:rPr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__main__</a:t>
            </a:r>
            <a:r>
              <a:rPr altLang="de-DE" dirty="0"/>
              <a:t> bezeichnet das als erstes geladene Modul</a:t>
            </a:r>
          </a:p>
          <a:p>
            <a:pPr lvl="1"/>
            <a:r>
              <a:rPr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__main__</a:t>
            </a:r>
            <a:r>
              <a:rPr altLang="de-DE" dirty="0"/>
              <a:t> ist eine globale Variable</a:t>
            </a:r>
          </a:p>
          <a:p>
            <a:r>
              <a:rPr altLang="de-DE" dirty="0"/>
              <a:t>Beispiel: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endParaRPr altLang="de-DE" dirty="0">
              <a:latin typeface="Courier New" panose="02070309020205020404" pitchFamily="49" charset="0"/>
            </a:endParaRP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 if__name__="__main__":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        print ("first modul, starting application…")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 else:   </a:t>
            </a:r>
          </a:p>
          <a:p>
            <a:pPr lvl="1">
              <a:lnSpc>
                <a:spcPct val="770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        print ("imported…")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E18C51-DA89-CC2E-BAFF-DCFCDCF8E24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03FD5F3-A295-2341-86AF-28621240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B7A6D5-E97A-157F-DC65-97FDEFEF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333CD5-29A7-4E1D-ACB9-6E4ED0860B54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183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  <p:transition spd="med"/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itle 1">
            <a:extLst>
              <a:ext uri="{FF2B5EF4-FFF2-40B4-BE49-F238E27FC236}">
                <a16:creationId xmlns:a16="http://schemas.microsoft.com/office/drawing/2014/main" id="{72263DD7-B6F9-1E15-620C-0F4303A5D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Das Modul math</a:t>
            </a:r>
          </a:p>
        </p:txBody>
      </p:sp>
      <p:sp>
        <p:nvSpPr>
          <p:cNvPr id="173059" name="Rectangle 5">
            <a:extLst>
              <a:ext uri="{FF2B5EF4-FFF2-40B4-BE49-F238E27FC236}">
                <a16:creationId xmlns:a16="http://schemas.microsoft.com/office/drawing/2014/main" id="{39022BF8-08FA-278F-52F5-87115E92ED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lnSpc>
                <a:spcPts val="2200"/>
              </a:lnSpc>
              <a:spcBef>
                <a:spcPct val="50000"/>
              </a:spcBef>
            </a:pPr>
            <a:r>
              <a:rPr altLang="de-DE"/>
              <a:t>Konstanten</a:t>
            </a:r>
          </a:p>
          <a:p>
            <a:pPr lvl="1">
              <a:lnSpc>
                <a:spcPts val="2200"/>
              </a:lnSpc>
              <a:spcBef>
                <a:spcPct val="50000"/>
              </a:spcBef>
            </a:pPr>
            <a:r>
              <a:rPr altLang="de-DE"/>
              <a:t>Pi, e, …</a:t>
            </a:r>
          </a:p>
          <a:p>
            <a:pPr>
              <a:lnSpc>
                <a:spcPts val="2200"/>
              </a:lnSpc>
              <a:spcBef>
                <a:spcPct val="50000"/>
              </a:spcBef>
            </a:pPr>
            <a:r>
              <a:rPr altLang="de-DE"/>
              <a:t>Mathematische Berechnungen</a:t>
            </a:r>
          </a:p>
          <a:p>
            <a:pPr lvl="1">
              <a:lnSpc>
                <a:spcPts val="2200"/>
              </a:lnSpc>
              <a:spcBef>
                <a:spcPct val="50000"/>
              </a:spcBef>
            </a:pPr>
            <a:r>
              <a:rPr altLang="de-DE"/>
              <a:t>Runden, Maximal- und Minimalwerte</a:t>
            </a:r>
          </a:p>
          <a:p>
            <a:pPr lvl="1">
              <a:lnSpc>
                <a:spcPts val="2200"/>
              </a:lnSpc>
              <a:spcBef>
                <a:spcPct val="50000"/>
              </a:spcBef>
            </a:pPr>
            <a:r>
              <a:rPr altLang="de-DE"/>
              <a:t>Trigonometrische Berechnungen</a:t>
            </a:r>
          </a:p>
          <a:p>
            <a:pPr lvl="1">
              <a:lnSpc>
                <a:spcPts val="2200"/>
              </a:lnSpc>
              <a:spcBef>
                <a:spcPct val="50000"/>
              </a:spcBef>
            </a:pPr>
            <a:r>
              <a:rPr altLang="de-DE"/>
              <a:t>…</a:t>
            </a:r>
          </a:p>
          <a:p>
            <a:pPr>
              <a:lnSpc>
                <a:spcPts val="2200"/>
              </a:lnSpc>
              <a:spcBef>
                <a:spcPct val="50000"/>
              </a:spcBef>
            </a:pPr>
            <a:endParaRPr alt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0BCEDB9-FFC5-6E84-F7BB-CAAC7C85CB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6379105-28D5-1C55-91A1-8BAE86428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9F5B5E-8058-D64F-88A8-8738BA42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9EC9F31-7DCA-4548-B0D4-5EACF2EEE6C3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184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557464"/>
      </p:ext>
    </p:extLst>
  </p:cSld>
  <p:clrMapOvr>
    <a:masterClrMapping/>
  </p:clrMapOvr>
  <p:transition spd="med"/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itle 1">
            <a:extLst>
              <a:ext uri="{FF2B5EF4-FFF2-40B4-BE49-F238E27FC236}">
                <a16:creationId xmlns:a16="http://schemas.microsoft.com/office/drawing/2014/main" id="{22B3F18F-99A9-6544-EDA2-283E440F4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Das Modul random</a:t>
            </a:r>
          </a:p>
        </p:txBody>
      </p:sp>
      <p:sp>
        <p:nvSpPr>
          <p:cNvPr id="174083" name="Rectangle 5">
            <a:extLst>
              <a:ext uri="{FF2B5EF4-FFF2-40B4-BE49-F238E27FC236}">
                <a16:creationId xmlns:a16="http://schemas.microsoft.com/office/drawing/2014/main" id="{C2D60854-7907-988E-E6EB-247564F852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random() </a:t>
            </a:r>
          </a:p>
          <a:p>
            <a:pPr lvl="1"/>
            <a:r>
              <a:rPr altLang="de-DE"/>
              <a:t>Zufallswert zwischen 0 und 1</a:t>
            </a:r>
          </a:p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randrange()</a:t>
            </a:r>
          </a:p>
          <a:p>
            <a:r>
              <a:rPr altLang="de-DE"/>
              <a:t>Zufallswert aus gegebenem Bereich</a:t>
            </a:r>
          </a:p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randint(min,max)</a:t>
            </a:r>
          </a:p>
          <a:p>
            <a:r>
              <a:rPr altLang="de-DE"/>
              <a:t>Ähnlich </a:t>
            </a:r>
            <a:r>
              <a:rPr altLang="de-DE" i="1"/>
              <a:t>randrange(),</a:t>
            </a:r>
            <a:r>
              <a:rPr altLang="de-DE"/>
              <a:t> jedoch ist hier die Obergrenze enthalten</a:t>
            </a:r>
          </a:p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sample(liste,anzahl)</a:t>
            </a:r>
          </a:p>
          <a:p>
            <a:pPr lvl="1"/>
            <a:r>
              <a:rPr altLang="de-DE"/>
              <a:t>sucht eine Anzahl von Elementen zufällig aus der gegebenen Liste aus</a:t>
            </a:r>
          </a:p>
          <a:p>
            <a:pPr lvl="1"/>
            <a:r>
              <a:rPr altLang="de-DE"/>
              <a:t>Ergebnis ist eine Liste</a:t>
            </a:r>
          </a:p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choice(liste)</a:t>
            </a:r>
          </a:p>
          <a:p>
            <a:pPr lvl="1"/>
            <a:r>
              <a:rPr altLang="de-DE"/>
              <a:t>sucht sich ein Element zufällig aus der Liste aus</a:t>
            </a:r>
          </a:p>
          <a:p>
            <a:endParaRPr alt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C3DD977-42A6-AF83-AB7E-30287203632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07AB6D-6479-D376-6B71-814E73EE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E0E3BB-597A-EBDC-B778-56AF33F7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0B8BC6A-B4F5-4C6E-80C0-004BC8A12C01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185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401333"/>
      </p:ext>
    </p:extLst>
  </p:cSld>
  <p:clrMapOvr>
    <a:masterClrMapping/>
  </p:clrMapOvr>
  <p:transition spd="med"/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itle 1">
            <a:extLst>
              <a:ext uri="{FF2B5EF4-FFF2-40B4-BE49-F238E27FC236}">
                <a16:creationId xmlns:a16="http://schemas.microsoft.com/office/drawing/2014/main" id="{70E2F54A-66B0-60FF-6443-27EB2EEEC8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Variablen von  os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62A272F8-D22A-6A6E-AAB0-FA81845A87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 lvl="1">
              <a:lnSpc>
                <a:spcPts val="1700"/>
              </a:lnSpc>
              <a:buFont typeface="Wingdings" panose="05000000000000000000" pitchFamily="2" charset="2"/>
              <a:buNone/>
            </a:pPr>
            <a:endParaRPr altLang="de-DE" dirty="0">
              <a:latin typeface="Courier New" panose="02070309020205020404" pitchFamily="49" charset="0"/>
            </a:endParaRPr>
          </a:p>
          <a:p>
            <a:pPr lvl="1">
              <a:lnSpc>
                <a:spcPts val="17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import os</a:t>
            </a:r>
          </a:p>
          <a:p>
            <a:pPr lvl="1">
              <a:lnSpc>
                <a:spcPts val="1700"/>
              </a:lnSpc>
              <a:buFont typeface="Wingdings" panose="05000000000000000000" pitchFamily="2" charset="2"/>
              <a:buNone/>
            </a:pPr>
            <a:endParaRPr altLang="de-DE" dirty="0">
              <a:latin typeface="Courier New" panose="02070309020205020404" pitchFamily="49" charset="0"/>
            </a:endParaRPr>
          </a:p>
          <a:p>
            <a:pPr lvl="1">
              <a:lnSpc>
                <a:spcPts val="17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os.name	# OS basistyp (NT,mac,posix, riscos)</a:t>
            </a:r>
          </a:p>
          <a:p>
            <a:pPr lvl="1">
              <a:lnSpc>
                <a:spcPts val="17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os.platform	# Platform (win32,linux,solaris,…)</a:t>
            </a:r>
          </a:p>
          <a:p>
            <a:pPr lvl="1">
              <a:lnSpc>
                <a:spcPts val="17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os.sep	# \ für win; / fuer unix</a:t>
            </a:r>
          </a:p>
          <a:p>
            <a:pPr lvl="1">
              <a:lnSpc>
                <a:spcPts val="1700"/>
              </a:lnSpc>
              <a:buFont typeface="Wingdings" panose="05000000000000000000" pitchFamily="2" charset="2"/>
              <a:buNone/>
            </a:pPr>
            <a:r>
              <a:rPr altLang="de-DE" dirty="0">
                <a:latin typeface="Courier New" panose="02070309020205020404" pitchFamily="49" charset="0"/>
              </a:rPr>
              <a:t>os.linesep	# \r\n für win; \n für unix; \r fuer mac</a:t>
            </a:r>
          </a:p>
          <a:p>
            <a:pPr>
              <a:lnSpc>
                <a:spcPts val="1700"/>
              </a:lnSpc>
              <a:buFont typeface="Wingdings" panose="05000000000000000000" pitchFamily="2" charset="2"/>
              <a:buNone/>
            </a:pPr>
            <a:endParaRPr altLang="de-DE" dirty="0">
              <a:latin typeface="Courier New" panose="02070309020205020404" pitchFamily="49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D0E2A15-9C2E-BE75-1159-2879A0F3CB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2F2F76F-0A55-DFC2-7422-BB693304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7E7519-03E4-6E0A-0F9E-E3787C5A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9567A6-CE7A-4544-ACDE-2375F8945F6C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186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730394"/>
      </p:ext>
    </p:extLst>
  </p:cSld>
  <p:clrMapOvr>
    <a:masterClrMapping/>
  </p:clrMapOvr>
  <p:transition spd="slow"/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itle 1">
            <a:extLst>
              <a:ext uri="{FF2B5EF4-FFF2-40B4-BE49-F238E27FC236}">
                <a16:creationId xmlns:a16="http://schemas.microsoft.com/office/drawing/2014/main" id="{C881FC2A-3D2D-3A1C-9F31-6DBFE7303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Methoden von os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F9CA8AEB-A4C2-85CC-0EB9-3AF4FC29E6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lnSpc>
                <a:spcPts val="1700"/>
              </a:lnSpc>
              <a:buFont typeface="Wingdings" panose="05000000000000000000" pitchFamily="2" charset="2"/>
              <a:buNone/>
              <a:tabLst>
                <a:tab pos="2336800" algn="l"/>
              </a:tabLst>
            </a:pPr>
            <a:r>
              <a:rPr altLang="de-DE">
                <a:latin typeface="Courier New" panose="02070309020205020404" pitchFamily="49" charset="0"/>
              </a:rPr>
              <a:t>import os</a:t>
            </a:r>
          </a:p>
          <a:p>
            <a:pPr>
              <a:lnSpc>
                <a:spcPts val="1700"/>
              </a:lnSpc>
              <a:buFont typeface="Wingdings" panose="05000000000000000000" pitchFamily="2" charset="2"/>
              <a:buNone/>
              <a:tabLst>
                <a:tab pos="2336800" algn="l"/>
              </a:tabLst>
            </a:pPr>
            <a:endParaRPr altLang="de-DE">
              <a:latin typeface="Courier New" panose="02070309020205020404" pitchFamily="49" charset="0"/>
            </a:endParaRPr>
          </a:p>
          <a:p>
            <a:pPr>
              <a:lnSpc>
                <a:spcPts val="1700"/>
              </a:lnSpc>
              <a:buFont typeface="Wingdings" panose="05000000000000000000" pitchFamily="2" charset="2"/>
              <a:buNone/>
              <a:tabLst>
                <a:tab pos="2336800" algn="l"/>
              </a:tabLst>
            </a:pPr>
            <a:r>
              <a:rPr altLang="de-DE">
                <a:latin typeface="Courier New" panose="02070309020205020404" pitchFamily="49" charset="0"/>
              </a:rPr>
              <a:t>os.path.isfile	# prüft, ob Parameter Datei ist</a:t>
            </a:r>
          </a:p>
          <a:p>
            <a:pPr>
              <a:lnSpc>
                <a:spcPts val="1700"/>
              </a:lnSpc>
              <a:buFont typeface="Wingdings" panose="05000000000000000000" pitchFamily="2" charset="2"/>
              <a:buNone/>
              <a:tabLst>
                <a:tab pos="2336800" algn="l"/>
              </a:tabLst>
            </a:pPr>
            <a:r>
              <a:rPr altLang="de-DE">
                <a:latin typeface="Courier New" panose="02070309020205020404" pitchFamily="49" charset="0"/>
              </a:rPr>
              <a:t>os.path.isdir	# prüft, ob Parameter Verzeichnis ist</a:t>
            </a:r>
          </a:p>
          <a:p>
            <a:pPr>
              <a:lnSpc>
                <a:spcPts val="1700"/>
              </a:lnSpc>
              <a:buFont typeface="Wingdings" panose="05000000000000000000" pitchFamily="2" charset="2"/>
              <a:buNone/>
              <a:tabLst>
                <a:tab pos="2336800" algn="l"/>
              </a:tabLst>
            </a:pPr>
            <a:r>
              <a:rPr altLang="de-DE">
                <a:latin typeface="Courier New" panose="02070309020205020404" pitchFamily="49" charset="0"/>
              </a:rPr>
              <a:t>os.path.getsize	# Dateigröße</a:t>
            </a:r>
          </a:p>
          <a:p>
            <a:pPr>
              <a:lnSpc>
                <a:spcPts val="1700"/>
              </a:lnSpc>
              <a:buFont typeface="Wingdings" panose="05000000000000000000" pitchFamily="2" charset="2"/>
              <a:buNone/>
              <a:tabLst>
                <a:tab pos="2336800" algn="l"/>
              </a:tabLst>
            </a:pPr>
            <a:r>
              <a:rPr altLang="de-DE">
                <a:latin typeface="Courier New" panose="02070309020205020404" pitchFamily="49" charset="0"/>
              </a:rPr>
              <a:t>os.listdir	# Einträge im Verzeichnis</a:t>
            </a:r>
          </a:p>
          <a:p>
            <a:pPr>
              <a:lnSpc>
                <a:spcPts val="1700"/>
              </a:lnSpc>
              <a:buFont typeface="Wingdings" panose="05000000000000000000" pitchFamily="2" charset="2"/>
              <a:buNone/>
              <a:tabLst>
                <a:tab pos="2336800" algn="l"/>
              </a:tabLst>
            </a:pPr>
            <a:r>
              <a:rPr altLang="de-DE">
                <a:latin typeface="Courier New" panose="02070309020205020404" pitchFamily="49" charset="0"/>
              </a:rPr>
              <a:t>os.chdir	# wechselt das aktuelle Verzeichnis</a:t>
            </a:r>
          </a:p>
          <a:p>
            <a:pPr>
              <a:lnSpc>
                <a:spcPts val="1700"/>
              </a:lnSpc>
              <a:buFont typeface="Wingdings" panose="05000000000000000000" pitchFamily="2" charset="2"/>
              <a:buNone/>
              <a:tabLst>
                <a:tab pos="2336800" algn="l"/>
              </a:tabLst>
            </a:pPr>
            <a:r>
              <a:rPr altLang="de-DE">
                <a:latin typeface="Courier New" panose="02070309020205020404" pitchFamily="49" charset="0"/>
              </a:rPr>
              <a:t>os.getcwd	# liefert das aktuelle Verzeichnis</a:t>
            </a:r>
          </a:p>
          <a:p>
            <a:pPr>
              <a:lnSpc>
                <a:spcPts val="1700"/>
              </a:lnSpc>
              <a:buFont typeface="Wingdings" panose="05000000000000000000" pitchFamily="2" charset="2"/>
              <a:buNone/>
              <a:tabLst>
                <a:tab pos="2336800" algn="l"/>
              </a:tabLst>
            </a:pPr>
            <a:r>
              <a:rPr altLang="de-DE">
                <a:latin typeface="Courier New" panose="02070309020205020404" pitchFamily="49" charset="0"/>
              </a:rPr>
              <a:t>os.realpath	# löst relative Verzeichnisnamen auf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5E773A4-54CF-6AD9-FB61-E3630B2FA39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EB56A43-4C9C-CB9E-C84E-5FC4A7B71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8CE20B-1D0F-8EAC-BA17-C7D7563B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FA00FD-C230-4F74-9F76-9BC6BC98C73B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187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43977"/>
      </p:ext>
    </p:extLst>
  </p:cSld>
  <p:clrMapOvr>
    <a:masterClrMapping/>
  </p:clrMapOvr>
  <p:transition spd="slow"/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itle 1">
            <a:extLst>
              <a:ext uri="{FF2B5EF4-FFF2-40B4-BE49-F238E27FC236}">
                <a16:creationId xmlns:a16="http://schemas.microsoft.com/office/drawing/2014/main" id="{C7D636E9-236F-F4CE-2241-05C657316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Das Modul sys</a:t>
            </a:r>
          </a:p>
        </p:txBody>
      </p:sp>
      <p:sp>
        <p:nvSpPr>
          <p:cNvPr id="178179" name="Rectangle 5">
            <a:extLst>
              <a:ext uri="{FF2B5EF4-FFF2-40B4-BE49-F238E27FC236}">
                <a16:creationId xmlns:a16="http://schemas.microsoft.com/office/drawing/2014/main" id="{CFC8D94C-8A2C-B75A-3017-89ADBB5F39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stdin/stdout/stderr</a:t>
            </a:r>
          </a:p>
          <a:p>
            <a:pPr lvl="1"/>
            <a:r>
              <a:rPr altLang="de-DE"/>
              <a:t> Die Standardein- und -ausgaben</a:t>
            </a:r>
          </a:p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altLang="de-DE"/>
              <a:t>:</a:t>
            </a:r>
          </a:p>
          <a:p>
            <a:pPr lvl="1"/>
            <a:r>
              <a:rPr altLang="de-DE"/>
              <a:t>Die Liste der Skript-Argumente</a:t>
            </a:r>
          </a:p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</a:p>
          <a:p>
            <a:pPr lvl="1"/>
            <a:r>
              <a:rPr altLang="de-DE"/>
              <a:t>Liste aller Verzeichnisse des PythonPath</a:t>
            </a:r>
          </a:p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endParaRPr altLang="de-DE" i="1"/>
          </a:p>
          <a:p>
            <a:pPr lvl="1"/>
            <a:r>
              <a:rPr altLang="de-DE"/>
              <a:t>Textrepräsentation über das Betriebssystem</a:t>
            </a:r>
          </a:p>
          <a:p>
            <a:r>
              <a:rPr altLang="de-DE">
                <a:latin typeface="Courier New" panose="02070309020205020404" pitchFamily="49" charset="0"/>
                <a:cs typeface="Courier New" panose="02070309020205020404" pitchFamily="49" charset="0"/>
              </a:rPr>
              <a:t>modules</a:t>
            </a:r>
            <a:endParaRPr altLang="de-DE" i="1"/>
          </a:p>
          <a:p>
            <a:pPr lvl="1"/>
            <a:r>
              <a:rPr altLang="de-DE"/>
              <a:t>Dictionary aller geladenen Module</a:t>
            </a:r>
          </a:p>
          <a:p>
            <a:endParaRPr alt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192DCA4-A823-B4A0-B0D9-0E77AFF136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A1664A5-FF93-FBAD-E49D-633A8926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7A290D-58D4-A95E-B93F-237C86456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B9B77FC-A9BB-41E7-A615-49D2B4CA8FB8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188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404488"/>
      </p:ext>
    </p:extLst>
  </p:cSld>
  <p:clrMapOvr>
    <a:masterClrMapping/>
  </p:clrMapOvr>
  <p:transition spd="med"/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itle 1">
            <a:extLst>
              <a:ext uri="{FF2B5EF4-FFF2-40B4-BE49-F238E27FC236}">
                <a16:creationId xmlns:a16="http://schemas.microsoft.com/office/drawing/2014/main" id="{97EC187A-97F5-A853-961F-1674A7DC1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Regular Expressions mit re</a:t>
            </a:r>
          </a:p>
        </p:txBody>
      </p:sp>
      <p:sp>
        <p:nvSpPr>
          <p:cNvPr id="179203" name="Rectangle 5">
            <a:extLst>
              <a:ext uri="{FF2B5EF4-FFF2-40B4-BE49-F238E27FC236}">
                <a16:creationId xmlns:a16="http://schemas.microsoft.com/office/drawing/2014/main" id="{D28A09DF-75CE-E53D-7B9D-376F0B9E07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Regular Expressions</a:t>
            </a:r>
          </a:p>
          <a:p>
            <a:r>
              <a:rPr altLang="de-DE"/>
              <a:t>Text mit Metazeichen</a:t>
            </a:r>
          </a:p>
          <a:p>
            <a:pPr lvl="1">
              <a:lnSpc>
                <a:spcPts val="2200"/>
              </a:lnSpc>
            </a:pPr>
            <a:r>
              <a:rPr altLang="de-DE"/>
              <a:t>. 	Beliebiges Zeichen</a:t>
            </a:r>
          </a:p>
          <a:p>
            <a:pPr lvl="1">
              <a:lnSpc>
                <a:spcPts val="2200"/>
              </a:lnSpc>
            </a:pPr>
            <a:r>
              <a:rPr altLang="de-DE"/>
              <a:t>* 	Beliebig oftes Wiederholen des Zeichens links (auch gar nicht)</a:t>
            </a:r>
          </a:p>
          <a:p>
            <a:pPr lvl="1">
              <a:lnSpc>
                <a:spcPts val="2200"/>
              </a:lnSpc>
            </a:pPr>
            <a:r>
              <a:rPr altLang="de-DE"/>
              <a:t>+ 	Beliebig oftes Wiederholen des Zeichens links (mind. 1-Mal)</a:t>
            </a:r>
          </a:p>
          <a:p>
            <a:pPr lvl="1">
              <a:lnSpc>
                <a:spcPts val="2200"/>
              </a:lnSpc>
            </a:pPr>
            <a:r>
              <a:rPr altLang="de-DE"/>
              <a:t>? 	Einmaliges oder gar kein Vorkommen des Zeichens links</a:t>
            </a:r>
          </a:p>
          <a:p>
            <a:pPr lvl="1">
              <a:lnSpc>
                <a:spcPts val="2200"/>
              </a:lnSpc>
            </a:pPr>
            <a:r>
              <a:rPr altLang="de-DE"/>
              <a:t>{n} 	n-Maliges Vorkommen des Zeichens links</a:t>
            </a:r>
          </a:p>
          <a:p>
            <a:pPr lvl="1">
              <a:lnSpc>
                <a:spcPts val="2200"/>
              </a:lnSpc>
            </a:pPr>
            <a:r>
              <a:rPr altLang="de-DE"/>
              <a:t>{n,m} Bereichsangabe</a:t>
            </a:r>
          </a:p>
          <a:p>
            <a:pPr lvl="1">
              <a:lnSpc>
                <a:spcPts val="2200"/>
              </a:lnSpc>
            </a:pPr>
            <a:r>
              <a:rPr altLang="de-DE"/>
              <a:t>[] 	Ein Zeichen aus der Liste: [a-z]</a:t>
            </a:r>
          </a:p>
          <a:p>
            <a:pPr lvl="1">
              <a:lnSpc>
                <a:spcPts val="2200"/>
              </a:lnSpc>
            </a:pPr>
            <a:r>
              <a:rPr altLang="de-DE"/>
              <a:t>() 	Gruppenbildung</a:t>
            </a:r>
          </a:p>
          <a:p>
            <a:pPr lvl="1">
              <a:lnSpc>
                <a:spcPts val="2200"/>
              </a:lnSpc>
            </a:pPr>
            <a:r>
              <a:rPr altLang="de-DE"/>
              <a:t>\w: 	Alphanumerisches Zeichen </a:t>
            </a:r>
          </a:p>
          <a:p>
            <a:pPr lvl="1">
              <a:lnSpc>
                <a:spcPts val="2200"/>
              </a:lnSpc>
            </a:pPr>
            <a:r>
              <a:rPr altLang="de-DE"/>
              <a:t>\W: 	Kein alphanumerisches Zeichen</a:t>
            </a:r>
          </a:p>
          <a:p>
            <a:pPr lvl="1">
              <a:lnSpc>
                <a:spcPts val="2200"/>
              </a:lnSpc>
            </a:pPr>
            <a:r>
              <a:rPr altLang="de-DE"/>
              <a:t>\d: 	Ziffer    \D: keine Ziffer</a:t>
            </a:r>
          </a:p>
          <a:p>
            <a:pPr lvl="1">
              <a:lnSpc>
                <a:spcPts val="2200"/>
              </a:lnSpc>
            </a:pPr>
            <a:r>
              <a:rPr altLang="de-DE"/>
              <a:t>\s: 	Whitespace /    \S: Kein Whitespace</a:t>
            </a:r>
          </a:p>
          <a:p>
            <a:pPr lvl="1">
              <a:lnSpc>
                <a:spcPts val="2200"/>
              </a:lnSpc>
            </a:pPr>
            <a:r>
              <a:rPr altLang="de-DE"/>
              <a:t>\\: 	Der Backslash</a:t>
            </a:r>
          </a:p>
          <a:p>
            <a:endParaRPr alt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68517B-8D55-C1B5-FE09-41FE680DE05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E0A9E6F-4873-D853-5F2C-80F061B5A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A46958-FD43-253D-CD2F-FD314606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C363A16-DD4C-4C44-AE46-7993BEE48289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189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928525"/>
      </p:ext>
    </p:extLst>
  </p:cSld>
  <p:clrMapOvr>
    <a:masterClrMapping/>
  </p:clrMapOvr>
  <p:transition spd="med"/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itle 1">
            <a:extLst>
              <a:ext uri="{FF2B5EF4-FFF2-40B4-BE49-F238E27FC236}">
                <a16:creationId xmlns:a16="http://schemas.microsoft.com/office/drawing/2014/main" id="{0CDABFFE-3843-C593-0191-E55C21D57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Regular Expressions</a:t>
            </a:r>
          </a:p>
        </p:txBody>
      </p:sp>
      <p:sp>
        <p:nvSpPr>
          <p:cNvPr id="183299" name="Rectangle 5">
            <a:extLst>
              <a:ext uri="{FF2B5EF4-FFF2-40B4-BE49-F238E27FC236}">
                <a16:creationId xmlns:a16="http://schemas.microsoft.com/office/drawing/2014/main" id="{D5B7D492-8464-239B-7BB6-4CCDA5EEC9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defRPr/>
            </a:pPr>
            <a:r>
              <a:t>Reguläre Ausdrücke werden benutzt, um komplexe Zeichenkettenverarbeitung zu realisieren</a:t>
            </a:r>
          </a:p>
          <a:p>
            <a:pPr lvl="1">
              <a:defRPr/>
            </a:pPr>
            <a:r>
              <a:t>Ein unabhängiges Sprachkonzept, das von allen modernen Sprachen unterstützt wird</a:t>
            </a:r>
          </a:p>
          <a:p>
            <a:pPr>
              <a:defRPr/>
            </a:pPr>
            <a:r>
              <a:t>Dazu werden eine Reihe von Pattern-Ausdrücken und Sonderzeichen definiert</a:t>
            </a:r>
          </a:p>
          <a:p>
            <a:pPr>
              <a:defRPr/>
            </a:pPr>
            <a:r>
              <a:t>String-Methoden arbeiten teilweise direkt mit regulären Ausdrücken</a:t>
            </a:r>
          </a:p>
          <a:p>
            <a:pPr lvl="1">
              <a:defRPr/>
            </a:pPr>
            <a:r>
              <a:rPr err="1">
                <a:latin typeface="Courier New" pitchFamily="49" charset="0"/>
                <a:cs typeface="Courier New" pitchFamily="49" charset="0"/>
              </a:rPr>
              <a:t>split</a:t>
            </a:r>
            <a:endParaRPr>
              <a:latin typeface="Courier New" pitchFamily="49" charset="0"/>
              <a:cs typeface="Courier New" pitchFamily="49" charset="0"/>
            </a:endParaRPr>
          </a:p>
          <a:p>
            <a:pPr lvl="1">
              <a:defRPr/>
            </a:pPr>
            <a:r>
              <a:rPr err="1">
                <a:latin typeface="Courier New" pitchFamily="49" charset="0"/>
                <a:cs typeface="Courier New" pitchFamily="49" charset="0"/>
              </a:rPr>
              <a:t>sub</a:t>
            </a:r>
            <a:endParaRPr>
              <a:latin typeface="Courier New" pitchFamily="49" charset="0"/>
              <a:cs typeface="Courier New" pitchFamily="49" charset="0"/>
            </a:endParaRPr>
          </a:p>
          <a:p>
            <a:pPr marL="288925" lvl="1" indent="0">
              <a:buFont typeface="Wingdings" panose="05000000000000000000" pitchFamily="2" charset="2"/>
              <a:buNone/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D12E4F9-0167-79EC-9CCB-EE8B1688B5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81DFB0-345F-55F9-E1AF-B397D661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4142D1-EE5D-CC1B-B8F3-22C02D16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86332A1-8361-4034-BCA0-DE738D627DCA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190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16475"/>
      </p:ext>
    </p:extLst>
  </p:cSld>
  <p:clrMapOvr>
    <a:masterClrMapping/>
  </p:clrMapOvr>
  <p:transition spd="med"/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itle 1">
            <a:extLst>
              <a:ext uri="{FF2B5EF4-FFF2-40B4-BE49-F238E27FC236}">
                <a16:creationId xmlns:a16="http://schemas.microsoft.com/office/drawing/2014/main" id="{44709A68-0F3E-199C-EFD8-B41EF79E7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Regular Expressions</a:t>
            </a:r>
          </a:p>
        </p:txBody>
      </p:sp>
      <p:sp>
        <p:nvSpPr>
          <p:cNvPr id="180227" name="Rectangle 5">
            <a:extLst>
              <a:ext uri="{FF2B5EF4-FFF2-40B4-BE49-F238E27FC236}">
                <a16:creationId xmlns:a16="http://schemas.microsoft.com/office/drawing/2014/main" id="{80C05747-A396-21C5-0E9A-05F35868EE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r>
              <a:rPr altLang="de-DE"/>
              <a:t>Verwendung von RE über gleichnamiges Modul</a:t>
            </a: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&gt;&gt;&gt; name="Meyr"</a:t>
            </a: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&gt;&gt;&gt; import re</a:t>
            </a: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&gt;&gt;&gt; pattern=re.compile("^M[ae][iy]e?r$")</a:t>
            </a: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&gt;&gt;&gt; match=pattern.match(name)</a:t>
            </a: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&gt;&gt;&gt; if match:</a:t>
            </a: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print "Es ist ein Maier"</a:t>
            </a:r>
          </a:p>
          <a:p>
            <a:pPr lvl="1">
              <a:lnSpc>
                <a:spcPct val="77000"/>
              </a:lnSpc>
            </a:pPr>
            <a:endParaRPr altLang="de-DE">
              <a:latin typeface="Courier New" panose="02070309020205020404" pitchFamily="49" charset="0"/>
            </a:endParaRP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Es ist ein Maier</a:t>
            </a: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&gt;&gt;&gt; name="Meier"</a:t>
            </a: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&gt;&gt;&gt; match=pattern.match(name)</a:t>
            </a: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&gt;&gt;&gt; if match:</a:t>
            </a: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print "Es ist ein Maier"</a:t>
            </a:r>
          </a:p>
          <a:p>
            <a:pPr lvl="1">
              <a:lnSpc>
                <a:spcPct val="77000"/>
              </a:lnSpc>
            </a:pPr>
            <a:endParaRPr altLang="de-DE">
              <a:latin typeface="Courier New" panose="02070309020205020404" pitchFamily="49" charset="0"/>
            </a:endParaRPr>
          </a:p>
          <a:p>
            <a:pPr lvl="1">
              <a:lnSpc>
                <a:spcPct val="77000"/>
              </a:lnSpc>
            </a:pPr>
            <a:r>
              <a:rPr altLang="de-DE">
                <a:latin typeface="Courier New" panose="02070309020205020404" pitchFamily="49" charset="0"/>
              </a:rPr>
              <a:t>Es ist ein Maier</a:t>
            </a:r>
          </a:p>
          <a:p>
            <a:endParaRPr alt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89971F-4FC3-29C0-5F66-4BDCCA533F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78973EA-13C5-C00A-5616-BEED401F1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9159B6-9675-797B-1223-B42FCA45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9A36B7C-2EC4-4203-B4DE-0A375AF090F3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191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446191"/>
      </p:ext>
    </p:extLst>
  </p:cSld>
  <p:clrMapOvr>
    <a:masterClrMapping/>
  </p:clrMapOvr>
  <p:transition spd="med"/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itle 1">
            <a:extLst>
              <a:ext uri="{FF2B5EF4-FFF2-40B4-BE49-F238E27FC236}">
                <a16:creationId xmlns:a16="http://schemas.microsoft.com/office/drawing/2014/main" id="{2612F7DE-6DA9-33EA-B293-B7C160F18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Das Modul datetime</a:t>
            </a:r>
          </a:p>
        </p:txBody>
      </p:sp>
      <p:sp>
        <p:nvSpPr>
          <p:cNvPr id="177155" name="Rectangle 5">
            <a:extLst>
              <a:ext uri="{FF2B5EF4-FFF2-40B4-BE49-F238E27FC236}">
                <a16:creationId xmlns:a16="http://schemas.microsoft.com/office/drawing/2014/main" id="{239117DE-EFC3-D939-4E14-25B2D7566F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>
                <a:latin typeface="Courier New" pitchFamily="49" charset="0"/>
                <a:cs typeface="Courier New" pitchFamily="49" charset="0"/>
              </a:rPr>
              <a:t>time()</a:t>
            </a:r>
          </a:p>
          <a:p>
            <a:pPr lvl="1">
              <a:defRPr/>
            </a:pPr>
            <a:r>
              <a:t>Zeit in Sekunden seit dem 1.1.1970 0:00</a:t>
            </a:r>
          </a:p>
          <a:p>
            <a:pPr>
              <a:defRPr/>
            </a:pPr>
            <a:r>
              <a:rPr err="1">
                <a:latin typeface="Courier New" pitchFamily="49" charset="0"/>
                <a:cs typeface="Courier New" pitchFamily="49" charset="0"/>
              </a:rPr>
              <a:t>clock</a:t>
            </a:r>
            <a:r>
              <a:rPr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>
              <a:defRPr/>
            </a:pPr>
            <a:r>
              <a:t>CPU-Zeit für diesen Prozess</a:t>
            </a:r>
          </a:p>
          <a:p>
            <a:pPr>
              <a:defRPr/>
            </a:pPr>
            <a:r>
              <a:rPr sz="2100" err="1">
                <a:latin typeface="Courier New" pitchFamily="49" charset="0"/>
                <a:cs typeface="Courier New" pitchFamily="49" charset="0"/>
              </a:rPr>
              <a:t>sleep</a:t>
            </a:r>
            <a:r>
              <a:rPr sz="2100">
                <a:latin typeface="Courier New" pitchFamily="49" charset="0"/>
                <a:cs typeface="Courier New" pitchFamily="49" charset="0"/>
              </a:rPr>
              <a:t>(n)</a:t>
            </a:r>
          </a:p>
          <a:p>
            <a:pPr lvl="1">
              <a:defRPr/>
            </a:pPr>
            <a:r>
              <a:t>Pause von </a:t>
            </a:r>
            <a:r>
              <a:rPr sz="2100">
                <a:latin typeface="Courier New" pitchFamily="49" charset="0"/>
                <a:cs typeface="Courier New" pitchFamily="49" charset="0"/>
              </a:rPr>
              <a:t>n</a:t>
            </a:r>
            <a:r>
              <a:t> Sekunden</a:t>
            </a:r>
          </a:p>
          <a:p>
            <a:pPr>
              <a:defRPr/>
            </a:pPr>
            <a:r>
              <a:rPr sz="2100" err="1">
                <a:latin typeface="Courier New" pitchFamily="49" charset="0"/>
                <a:cs typeface="Courier New" pitchFamily="49" charset="0"/>
              </a:rPr>
              <a:t>gmtime</a:t>
            </a:r>
            <a:r>
              <a:rPr sz="2100">
                <a:latin typeface="Courier New" pitchFamily="49" charset="0"/>
                <a:cs typeface="Courier New" pitchFamily="49" charset="0"/>
              </a:rPr>
              <a:t>(t)</a:t>
            </a:r>
          </a:p>
          <a:p>
            <a:pPr lvl="1">
              <a:defRPr/>
            </a:pPr>
            <a:r>
              <a:t>nimmt Sekunden seit 1.1.1970 als Parameter und generiert daraus ein 9er </a:t>
            </a:r>
            <a:r>
              <a:rPr err="1"/>
              <a:t>Tupel</a:t>
            </a:r>
            <a:r>
              <a:t> mit den Informationen</a:t>
            </a:r>
          </a:p>
          <a:p>
            <a:pPr lvl="2">
              <a:lnSpc>
                <a:spcPts val="2200"/>
              </a:lnSpc>
              <a:defRPr/>
            </a:pPr>
            <a:r>
              <a:t>Jahr (4stellig)</a:t>
            </a:r>
          </a:p>
          <a:p>
            <a:pPr lvl="2">
              <a:lnSpc>
                <a:spcPts val="2200"/>
              </a:lnSpc>
              <a:defRPr/>
            </a:pPr>
            <a:r>
              <a:t>Monat</a:t>
            </a:r>
          </a:p>
          <a:p>
            <a:pPr lvl="2">
              <a:lnSpc>
                <a:spcPts val="2200"/>
              </a:lnSpc>
              <a:defRPr/>
            </a:pPr>
            <a:r>
              <a:t>Tag im Monat</a:t>
            </a:r>
          </a:p>
          <a:p>
            <a:pPr lvl="2">
              <a:lnSpc>
                <a:spcPts val="2200"/>
              </a:lnSpc>
              <a:defRPr/>
            </a:pPr>
            <a:r>
              <a:t>Stunde</a:t>
            </a:r>
          </a:p>
          <a:p>
            <a:pPr lvl="2">
              <a:lnSpc>
                <a:spcPts val="2200"/>
              </a:lnSpc>
              <a:defRPr/>
            </a:pPr>
            <a:r>
              <a:t>Minute</a:t>
            </a:r>
          </a:p>
          <a:p>
            <a:pPr lvl="2">
              <a:lnSpc>
                <a:spcPts val="2200"/>
              </a:lnSpc>
              <a:defRPr/>
            </a:pPr>
            <a:r>
              <a:t>Sekunde</a:t>
            </a:r>
          </a:p>
          <a:p>
            <a:pPr lvl="2">
              <a:lnSpc>
                <a:spcPts val="2200"/>
              </a:lnSpc>
              <a:defRPr/>
            </a:pPr>
            <a:r>
              <a:t>Wochentag (Montag ist 0)</a:t>
            </a:r>
          </a:p>
          <a:p>
            <a:pPr lvl="2">
              <a:lnSpc>
                <a:spcPts val="2200"/>
              </a:lnSpc>
              <a:defRPr/>
            </a:pPr>
            <a:r>
              <a:t>Tag im Jahr</a:t>
            </a:r>
          </a:p>
          <a:p>
            <a:pPr lvl="2">
              <a:lnSpc>
                <a:spcPts val="2200"/>
              </a:lnSpc>
              <a:defRPr/>
            </a:pPr>
            <a:r>
              <a:t>DST (</a:t>
            </a:r>
            <a:r>
              <a:rPr err="1"/>
              <a:t>Daylight</a:t>
            </a:r>
            <a:r>
              <a:t> </a:t>
            </a:r>
            <a:r>
              <a:rPr err="1"/>
              <a:t>Saving</a:t>
            </a:r>
            <a:r>
              <a:t>)</a:t>
            </a:r>
          </a:p>
          <a:p>
            <a:pPr>
              <a:defRPr/>
            </a:pPr>
            <a:endParaRPr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88C528E-358E-5203-DC24-64B863DDFC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E4E5F0-A28E-78D3-05BF-245E24069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F5D802-19E5-AC02-043E-40844DE97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C105B2-5D9D-4977-B945-5D4457680A0B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192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257230"/>
      </p:ext>
    </p:extLst>
  </p:cSld>
  <p:clrMapOvr>
    <a:masterClrMapping/>
  </p:clrMapOvr>
  <p:transition spd="med"/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itle 1">
            <a:extLst>
              <a:ext uri="{FF2B5EF4-FFF2-40B4-BE49-F238E27FC236}">
                <a16:creationId xmlns:a16="http://schemas.microsoft.com/office/drawing/2014/main" id="{FB430C34-4623-A92E-6F51-B86C27C8C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Datumskonvertierung mit time</a:t>
            </a:r>
          </a:p>
        </p:txBody>
      </p:sp>
      <p:sp>
        <p:nvSpPr>
          <p:cNvPr id="183299" name="Rectangle 5">
            <a:extLst>
              <a:ext uri="{FF2B5EF4-FFF2-40B4-BE49-F238E27FC236}">
                <a16:creationId xmlns:a16="http://schemas.microsoft.com/office/drawing/2014/main" id="{0F8C1C91-436B-A1C5-7EA9-1A0DD5BD8B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altLang="de-DE">
                <a:latin typeface="Courier New" panose="02070309020205020404" pitchFamily="49" charset="0"/>
              </a:rPr>
              <a:t>strftime()</a:t>
            </a:r>
          </a:p>
          <a:p>
            <a:pPr lvl="1">
              <a:lnSpc>
                <a:spcPct val="110000"/>
              </a:lnSpc>
            </a:pPr>
            <a:r>
              <a:rPr altLang="de-DE"/>
              <a:t>gibt die Zeit gemäß dem gegebenen Formatstring formatiert aus: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altLang="de-DE">
                <a:latin typeface="Courier New" panose="02070309020205020404" pitchFamily="49" charset="0"/>
              </a:rPr>
              <a:t>		time.strftime("Uhrzeit: %H:%M:%S %d.%m.%Y")</a:t>
            </a:r>
            <a:br>
              <a:rPr altLang="de-DE">
                <a:latin typeface="Courier New" panose="02070309020205020404" pitchFamily="49" charset="0"/>
              </a:rPr>
            </a:br>
            <a:endParaRPr altLang="de-DE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altLang="de-DE">
                <a:latin typeface="Courier New" panose="02070309020205020404" pitchFamily="49" charset="0"/>
              </a:rPr>
              <a:t>strptime(String)</a:t>
            </a:r>
          </a:p>
          <a:p>
            <a:pPr lvl="1">
              <a:lnSpc>
                <a:spcPct val="110000"/>
              </a:lnSpc>
            </a:pPr>
            <a:r>
              <a:rPr altLang="de-DE"/>
              <a:t>Parst einen gegebenen String nach gegebenem Format</a:t>
            </a:r>
          </a:p>
          <a:p>
            <a:pPr>
              <a:lnSpc>
                <a:spcPct val="110000"/>
              </a:lnSpc>
            </a:pPr>
            <a:endParaRPr alt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6523BBB-5CBA-1FD4-7B91-923D4F5EB9A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AD45F8-F3E3-6BDD-51AA-63910627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8BFA64-3D14-E03E-D9EA-D6460F741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9D200F3-3F43-4AE1-B12F-411F5E15FD5F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193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73405"/>
      </p:ext>
    </p:extLst>
  </p:cSld>
  <p:clrMapOvr>
    <a:masterClrMapping/>
  </p:clrMapOvr>
  <p:transition spd="med"/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DA986-A8D1-ECF6-5150-01F78597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99CF3-A0E5-A393-6D77-D1D32561E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JSON</a:t>
            </a:r>
            <a:r>
              <a:rPr lang="de-DE" dirty="0"/>
              <a:t> (JavaScript Object Notation) ist ein weit verbreitetes Format für den Datenaustausch, das menschenlesbar ist und von praktisch allen Programmiersprachen unterstützt wird</a:t>
            </a:r>
          </a:p>
          <a:p>
            <a:pPr lvl="1"/>
            <a:r>
              <a:rPr lang="de-DE" dirty="0"/>
              <a:t>Das Standard-Format zum Datenaustausch im Internet</a:t>
            </a:r>
          </a:p>
          <a:p>
            <a:r>
              <a:rPr lang="de-DE" dirty="0"/>
              <a:t>Beispiel</a:t>
            </a:r>
          </a:p>
          <a:p>
            <a:pPr marL="288925" lvl="1" indent="0">
              <a:buNone/>
            </a:pP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8925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import json</a:t>
            </a:r>
          </a:p>
          <a:p>
            <a:pPr marL="288925" lvl="1" indent="0">
              <a:buNone/>
            </a:pP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8925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data = {'key': 'value'}</a:t>
            </a:r>
          </a:p>
          <a:p>
            <a:pPr marL="288925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with open('data.json', 'w') as file:</a:t>
            </a:r>
          </a:p>
          <a:p>
            <a:pPr marL="288925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json.dump(data, file)</a:t>
            </a:r>
          </a:p>
          <a:p>
            <a:pPr marL="288925" lvl="1" indent="0">
              <a:buNone/>
            </a:pP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8925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with open('data.json', 'r') as file:</a:t>
            </a:r>
          </a:p>
          <a:p>
            <a:pPr marL="288925" lvl="1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loaded_data = json.load(file)</a:t>
            </a:r>
          </a:p>
          <a:p>
            <a:pPr marL="288925" lvl="1" indent="0">
              <a:buNone/>
            </a:pP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368A3-41C8-6982-C71B-E7124C1B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5611C-A40F-A055-2CC5-63299C35B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8A978-E70B-583F-B701-DC336D218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194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001900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AF86-01C9-CD89-F905-4814DD78C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pip und PyPi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A59A5-E5A0-8961-72E6-EDFDB3F30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87DDB-800C-9ACE-3BF0-6A39273E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 smtClean="0"/>
              <a:pPr>
                <a:spcBef>
                  <a:spcPts val="0"/>
                </a:spcBef>
                <a:spcAft>
                  <a:spcPts val="0"/>
                </a:spcAft>
              </a:pPr>
              <a:t>195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828886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09A1C-D4D8-C357-3044-BAF0FB28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AF16-0483-4A09-86CC-56351682D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Bereitstellung von Modulen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89347-0A6C-F670-5972-9DBF76C38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16.1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08A58-86CF-39C8-A2F9-1551CBDD8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 smtClean="0"/>
              <a:pPr>
                <a:spcBef>
                  <a:spcPts val="0"/>
                </a:spcBef>
                <a:spcAft>
                  <a:spcPts val="0"/>
                </a:spcAft>
              </a:pPr>
              <a:t>196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4692341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2">
          <a:extLst>
            <a:ext uri="{FF2B5EF4-FFF2-40B4-BE49-F238E27FC236}">
              <a16:creationId xmlns:a16="http://schemas.microsoft.com/office/drawing/2014/main" id="{D90CD339-A934-185A-6F20-3756A433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Title 1">
            <a:extLst>
              <a:ext uri="{FF2B5EF4-FFF2-40B4-BE49-F238E27FC236}">
                <a16:creationId xmlns:a16="http://schemas.microsoft.com/office/drawing/2014/main" id="{BDAC2DC3-8C2B-82DE-DDAF-CE940E8A7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Das Modul-Repository PyPi</a:t>
            </a:r>
            <a:endParaRPr dirty="0"/>
          </a:p>
        </p:txBody>
      </p:sp>
      <p:sp>
        <p:nvSpPr>
          <p:cNvPr id="1424" name="Google Shape;1424;p147">
            <a:extLst>
              <a:ext uri="{FF2B5EF4-FFF2-40B4-BE49-F238E27FC236}">
                <a16:creationId xmlns:a16="http://schemas.microsoft.com/office/drawing/2014/main" id="{90A2CC3A-BF4A-16D7-C42F-A7872DE6331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</a:pPr>
              <a:t>197</a:t>
            </a:fld>
            <a:endParaRPr/>
          </a:p>
        </p:txBody>
      </p:sp>
      <p:sp>
        <p:nvSpPr>
          <p:cNvPr id="1425" name="Google Shape;1425;p147">
            <a:extLst>
              <a:ext uri="{FF2B5EF4-FFF2-40B4-BE49-F238E27FC236}">
                <a16:creationId xmlns:a16="http://schemas.microsoft.com/office/drawing/2014/main" id="{68E184BA-1A08-1D10-3D58-80FD81F66059}"/>
              </a:ext>
            </a:extLst>
          </p:cNvPr>
          <p:cNvSpPr/>
          <p:nvPr/>
        </p:nvSpPr>
        <p:spPr>
          <a:xfrm>
            <a:off x="137825" y="1662500"/>
            <a:ext cx="3591000" cy="3656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Developer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26" name="Google Shape;1426;p147">
            <a:extLst>
              <a:ext uri="{FF2B5EF4-FFF2-40B4-BE49-F238E27FC236}">
                <a16:creationId xmlns:a16="http://schemas.microsoft.com/office/drawing/2014/main" id="{363D729C-1A72-9C2C-68D8-00B0C70CE237}"/>
              </a:ext>
            </a:extLst>
          </p:cNvPr>
          <p:cNvSpPr/>
          <p:nvPr/>
        </p:nvSpPr>
        <p:spPr>
          <a:xfrm>
            <a:off x="290175" y="2337175"/>
            <a:ext cx="3351600" cy="24813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Python-Installation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27" name="Google Shape;1427;p147">
            <a:extLst>
              <a:ext uri="{FF2B5EF4-FFF2-40B4-BE49-F238E27FC236}">
                <a16:creationId xmlns:a16="http://schemas.microsoft.com/office/drawing/2014/main" id="{50FBCBE4-F895-877B-EB54-E24821B810C5}"/>
              </a:ext>
            </a:extLst>
          </p:cNvPr>
          <p:cNvSpPr/>
          <p:nvPr/>
        </p:nvSpPr>
        <p:spPr>
          <a:xfrm>
            <a:off x="1043608" y="2776425"/>
            <a:ext cx="2275717" cy="515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pip install paramiko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28" name="Google Shape;1428;p147">
            <a:extLst>
              <a:ext uri="{FF2B5EF4-FFF2-40B4-BE49-F238E27FC236}">
                <a16:creationId xmlns:a16="http://schemas.microsoft.com/office/drawing/2014/main" id="{F2E16138-B182-5E92-09ED-77D3B8C56632}"/>
              </a:ext>
            </a:extLst>
          </p:cNvPr>
          <p:cNvSpPr/>
          <p:nvPr/>
        </p:nvSpPr>
        <p:spPr>
          <a:xfrm>
            <a:off x="2023926" y="3635876"/>
            <a:ext cx="1392975" cy="914075"/>
          </a:xfrm>
          <a:prstGeom prst="flowChartMagneticDisk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Module-Cache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29" name="Google Shape;1429;p147">
            <a:extLst>
              <a:ext uri="{FF2B5EF4-FFF2-40B4-BE49-F238E27FC236}">
                <a16:creationId xmlns:a16="http://schemas.microsoft.com/office/drawing/2014/main" id="{089DF632-470D-1F6F-E6FC-859C55E72FF3}"/>
              </a:ext>
            </a:extLst>
          </p:cNvPr>
          <p:cNvSpPr/>
          <p:nvPr/>
        </p:nvSpPr>
        <p:spPr>
          <a:xfrm>
            <a:off x="5835289" y="2105912"/>
            <a:ext cx="3324782" cy="2368036"/>
          </a:xfrm>
          <a:prstGeom prst="cloud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PyPi-Repository</a:t>
            </a:r>
            <a:endParaRPr dirty="0">
              <a:solidFill>
                <a:schemeClr val="tx1"/>
              </a:solidFill>
            </a:endParaRPr>
          </a:p>
          <a:p>
            <a:pPr marL="457200" indent="-317500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 dirty="0">
                <a:solidFill>
                  <a:schemeClr val="tx1"/>
                </a:solidFill>
              </a:rPr>
              <a:t>paramiko</a:t>
            </a:r>
            <a:endParaRPr dirty="0">
              <a:solidFill>
                <a:schemeClr val="tx1"/>
              </a:solidFill>
            </a:endParaRPr>
          </a:p>
          <a:p>
            <a:pPr marL="457200" indent="-317500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 dirty="0">
                <a:solidFill>
                  <a:schemeClr val="tx1"/>
                </a:solidFill>
              </a:rPr>
              <a:t>mysql-connector-python</a:t>
            </a:r>
            <a:endParaRPr dirty="0">
              <a:solidFill>
                <a:schemeClr val="tx1"/>
              </a:solidFill>
            </a:endParaRPr>
          </a:p>
          <a:p>
            <a: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 dirty="0">
                <a:solidFill>
                  <a:schemeClr val="tx1"/>
                </a:solidFill>
              </a:rPr>
              <a:t>v5.0</a:t>
            </a:r>
            <a:endParaRPr dirty="0">
              <a:solidFill>
                <a:schemeClr val="tx1"/>
              </a:solidFill>
            </a:endParaRPr>
          </a:p>
          <a:p>
            <a: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 dirty="0">
                <a:solidFill>
                  <a:schemeClr val="tx1"/>
                </a:solidFill>
              </a:rPr>
              <a:t>v8.0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30" name="Google Shape;1430;p147">
            <a:extLst>
              <a:ext uri="{FF2B5EF4-FFF2-40B4-BE49-F238E27FC236}">
                <a16:creationId xmlns:a16="http://schemas.microsoft.com/office/drawing/2014/main" id="{25C18D36-36B7-4116-9441-AA612980ACCE}"/>
              </a:ext>
            </a:extLst>
          </p:cNvPr>
          <p:cNvSpPr/>
          <p:nvPr/>
        </p:nvSpPr>
        <p:spPr>
          <a:xfrm>
            <a:off x="3308100" y="2903050"/>
            <a:ext cx="2495700" cy="3411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1431" name="Google Shape;1431;p147">
            <a:extLst>
              <a:ext uri="{FF2B5EF4-FFF2-40B4-BE49-F238E27FC236}">
                <a16:creationId xmlns:a16="http://schemas.microsoft.com/office/drawing/2014/main" id="{48E1E31A-1BE5-F6F1-282E-A2A9B0B934F3}"/>
              </a:ext>
            </a:extLst>
          </p:cNvPr>
          <p:cNvCxnSpPr>
            <a:endCxn id="1428" idx="4"/>
          </p:cNvCxnSpPr>
          <p:nvPr/>
        </p:nvCxnSpPr>
        <p:spPr>
          <a:xfrm flipH="1">
            <a:off x="3416900" y="2409612"/>
            <a:ext cx="3300900" cy="168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E1BBA43-49F7-C602-596E-D254A94DE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990151"/>
            <a:ext cx="4355976" cy="11157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D9F33-2DDF-4523-3619-E3946913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4C4B9-5E26-AAFC-E7BD-EA028B90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</p:spTree>
    <p:extLst>
      <p:ext uri="{BB962C8B-B14F-4D97-AF65-F5344CB8AC3E}">
        <p14:creationId xmlns:p14="http://schemas.microsoft.com/office/powerpoint/2010/main" val="2002597889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1">
            <a:extLst>
              <a:ext uri="{FF2B5EF4-FFF2-40B4-BE49-F238E27FC236}">
                <a16:creationId xmlns:a16="http://schemas.microsoft.com/office/drawing/2014/main" id="{F9947DFF-BECB-A5F5-EBAC-9F198E6A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Externe Module</a:t>
            </a:r>
          </a:p>
        </p:txBody>
      </p:sp>
      <p:sp>
        <p:nvSpPr>
          <p:cNvPr id="120835" name="Inhaltsplatzhalter 2">
            <a:extLst>
              <a:ext uri="{FF2B5EF4-FFF2-40B4-BE49-F238E27FC236}">
                <a16:creationId xmlns:a16="http://schemas.microsoft.com/office/drawing/2014/main" id="{98FC0198-85FB-77B7-1B8A-F2EAD2C14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196975"/>
            <a:ext cx="8535988" cy="5091113"/>
          </a:xfrm>
        </p:spPr>
        <p:txBody>
          <a:bodyPr/>
          <a:lstStyle/>
          <a:p>
            <a:pPr>
              <a:lnSpc>
                <a:spcPct val="102000"/>
              </a:lnSpc>
            </a:pPr>
            <a:r>
              <a:rPr altLang="de-DE"/>
              <a:t>Konsequenzen</a:t>
            </a:r>
          </a:p>
          <a:p>
            <a:pPr lvl="1">
              <a:lnSpc>
                <a:spcPct val="102000"/>
              </a:lnSpc>
            </a:pPr>
            <a:r>
              <a:rPr altLang="de-DE"/>
              <a:t>Komplexere Projektorganisation</a:t>
            </a:r>
          </a:p>
          <a:p>
            <a:pPr lvl="1">
              <a:lnSpc>
                <a:spcPct val="102000"/>
              </a:lnSpc>
            </a:pPr>
            <a:r>
              <a:rPr altLang="de-DE"/>
              <a:t>Abhängigkeiten zu externen Projekten mit unbekannten Release-Zyklen</a:t>
            </a:r>
          </a:p>
          <a:p>
            <a:pPr lvl="1">
              <a:lnSpc>
                <a:spcPct val="102000"/>
              </a:lnSpc>
            </a:pPr>
            <a:r>
              <a:rPr altLang="de-DE"/>
              <a:t>Bug-Fixes erfordern erhöhten Kommunikationsaufwand</a:t>
            </a:r>
          </a:p>
          <a:p>
            <a:r>
              <a:rPr altLang="de-DE"/>
              <a:t>Lösungen</a:t>
            </a:r>
          </a:p>
          <a:p>
            <a:pPr lvl="1"/>
            <a:r>
              <a:rPr altLang="de-DE"/>
              <a:t>Einsatz eines Build-Werkzeugs mit </a:t>
            </a:r>
          </a:p>
          <a:p>
            <a:pPr lvl="2"/>
            <a:r>
              <a:rPr altLang="de-DE"/>
              <a:t>Modul-Repository</a:t>
            </a:r>
          </a:p>
          <a:p>
            <a:pPr lvl="2"/>
            <a:r>
              <a:rPr altLang="de-DE"/>
              <a:t>Dependency Management</a:t>
            </a:r>
          </a:p>
          <a:p>
            <a:pPr lvl="1"/>
            <a:r>
              <a:rPr altLang="de-DE"/>
              <a:t>PyPI, Python Package Index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77406A-83B3-2964-4428-7FED33FE0A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379E4E-5891-CBE1-A6B6-F1C623FE8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9840A-439A-DE9B-240B-7C5B807D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42A3382-B8A7-495A-9479-E9E7D99E5A51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198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794675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502BC-5C8C-D197-BD37-5F1139CB3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 in PIP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6B4CE-1D1F-05CA-CB8D-A06A8EFF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A0210-CA26-7961-0838-648FCA1B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3AB98-95AA-4E64-3FAC-8CAAA37F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199</a:t>
            </a:fld>
            <a:endParaRPr lang="de-DE" altLang="de-D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BC87A5-529D-5038-13F0-C3384459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PIP steht für "Pip Installs Packages" und ist das Paketverwaltungssystem für Python</a:t>
            </a:r>
          </a:p>
          <a:p>
            <a:r>
              <a:rPr lang="de-DE" dirty="0"/>
              <a:t>Es ermöglicht die Installation und Verwaltung von Softwarepaketen, die in Python geschrieben sind</a:t>
            </a:r>
          </a:p>
          <a:p>
            <a:r>
              <a:rPr lang="de-DE" dirty="0"/>
              <a:t>Einführung in Python 2.7.9 und Python 3.4</a:t>
            </a:r>
          </a:p>
          <a:p>
            <a:pPr lvl="1"/>
            <a:r>
              <a:rPr lang="de-DE" dirty="0"/>
              <a:t>Heute weit verbreitet in der Python-Community.</a:t>
            </a:r>
          </a:p>
        </p:txBody>
      </p:sp>
    </p:spTree>
    <p:extLst>
      <p:ext uri="{BB962C8B-B14F-4D97-AF65-F5344CB8AC3E}">
        <p14:creationId xmlns:p14="http://schemas.microsoft.com/office/powerpoint/2010/main" val="3178292448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59FC-FFCE-7126-65A7-AA0E14C89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Verwendung von PIP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378EB-FBF6-01BF-CC6E-26C166E8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installation</a:t>
            </a:r>
          </a:p>
          <a:p>
            <a:pPr lvl="1"/>
            <a:r>
              <a:rPr lang="de-DE" dirty="0"/>
              <a:t>PIP wird in der Regel mit Python installiert</a:t>
            </a:r>
          </a:p>
          <a:p>
            <a:pPr lvl="1"/>
            <a:r>
              <a:rPr lang="de-DE" dirty="0"/>
              <a:t>Prüfen mit pip –version</a:t>
            </a:r>
          </a:p>
          <a:p>
            <a:r>
              <a:rPr lang="de-DE" dirty="0"/>
              <a:t>Grundlegende Befehle</a:t>
            </a:r>
          </a:p>
          <a:p>
            <a:pPr lvl="1"/>
            <a:r>
              <a:rPr lang="de-DE" dirty="0"/>
              <a:t>installieren eines Pakets</a:t>
            </a:r>
          </a:p>
          <a:p>
            <a:pPr lvl="2"/>
            <a:r>
              <a:rPr lang="de-DE" dirty="0"/>
              <a:t>pip install paketname</a:t>
            </a:r>
          </a:p>
          <a:p>
            <a:pPr lvl="1"/>
            <a:r>
              <a:rPr lang="de-DE" dirty="0"/>
              <a:t>Aktualisieren eines Pakets</a:t>
            </a:r>
          </a:p>
          <a:p>
            <a:pPr lvl="2"/>
            <a:r>
              <a:rPr lang="de-DE" dirty="0"/>
              <a:t>pip install --upgrade paketname</a:t>
            </a:r>
          </a:p>
          <a:p>
            <a:pPr lvl="1"/>
            <a:r>
              <a:rPr lang="de-DE" dirty="0"/>
              <a:t>Deinstallieren eines Pakets</a:t>
            </a:r>
          </a:p>
          <a:p>
            <a:pPr lvl="2"/>
            <a:r>
              <a:rPr lang="de-DE" dirty="0"/>
              <a:t>pip uninstall paketname</a:t>
            </a:r>
          </a:p>
          <a:p>
            <a:pPr lvl="1"/>
            <a:r>
              <a:rPr lang="de-DE" dirty="0"/>
              <a:t>Auflisten installierter Pakete</a:t>
            </a:r>
          </a:p>
          <a:p>
            <a:pPr lvl="2"/>
            <a:r>
              <a:rPr lang="de-DE" dirty="0"/>
              <a:t>pip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DF6D2-C33D-9F22-5085-800D6A179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5FA82-E2A3-F96E-74FE-7A49E63A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C9AF6-48F3-E9B7-C61F-398934F4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200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2387181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B534-4246-888F-359F-BA3B0DF67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PIP in virtuellen Umgebungen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86CF1-333E-7AFB-BB33-BBA2FFC6D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Virtuelle Umgebungen</a:t>
            </a:r>
          </a:p>
          <a:p>
            <a:pPr lvl="1"/>
            <a:r>
              <a:rPr lang="de-DE" dirty="0"/>
              <a:t>Isolierte Python-Umgebungen für Projekte, um Konflikte zwischen Abhängigkeiten zu vermeiden</a:t>
            </a:r>
          </a:p>
          <a:p>
            <a:r>
              <a:rPr lang="de-DE" dirty="0"/>
              <a:t>Erstellung einer virtuellen Umgebung</a:t>
            </a:r>
          </a:p>
          <a:p>
            <a:pPr lvl="1"/>
            <a:r>
              <a:rPr lang="de-DE" dirty="0"/>
              <a:t>python -m venv envname</a:t>
            </a:r>
          </a:p>
          <a:p>
            <a:r>
              <a:rPr lang="de-DE" dirty="0"/>
              <a:t>Aktivierung</a:t>
            </a:r>
          </a:p>
          <a:p>
            <a:pPr lvl="1"/>
            <a:r>
              <a:rPr lang="de-DE" dirty="0"/>
              <a:t>Windows</a:t>
            </a:r>
          </a:p>
          <a:p>
            <a:pPr lvl="2"/>
            <a:r>
              <a:rPr lang="de-DE" dirty="0"/>
              <a:t>.\envname\Scripts\activate</a:t>
            </a:r>
          </a:p>
          <a:p>
            <a:pPr lvl="1"/>
            <a:r>
              <a:rPr lang="de-DE" dirty="0"/>
              <a:t>Mac/Linux</a:t>
            </a:r>
          </a:p>
          <a:p>
            <a:pPr lvl="2"/>
            <a:r>
              <a:rPr lang="de-DE" dirty="0"/>
              <a:t>source envname/bin/activate</a:t>
            </a:r>
          </a:p>
          <a:p>
            <a:r>
              <a:rPr lang="de-DE" dirty="0"/>
              <a:t>Installation von Paketen in der virtuellen Umgebung mit PIP</a:t>
            </a:r>
          </a:p>
          <a:p>
            <a:r>
              <a:rPr lang="de-DE" dirty="0"/>
              <a:t>Deaktivierung</a:t>
            </a:r>
          </a:p>
          <a:p>
            <a:pPr lvl="1"/>
            <a:r>
              <a:rPr lang="de-DE" dirty="0"/>
              <a:t>deactivate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A4FA9-3D38-6664-CDC5-5102E1B9C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8089E-30E6-CF01-B365-B520F53C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AF989-3CFE-8846-279A-F66342E5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201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3603966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2B072-160E-0CC8-2E58-C7CD5728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 Practices und 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BFDE3-0923-6C94-CA09-5AD0AAB1E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Häufige Probleme</a:t>
            </a:r>
          </a:p>
          <a:p>
            <a:pPr lvl="1"/>
            <a:r>
              <a:rPr lang="de-DE" dirty="0"/>
              <a:t>Verbindungsfehler, Konflikte zwischen Paketen</a:t>
            </a:r>
          </a:p>
          <a:p>
            <a:r>
              <a:rPr lang="de-DE" dirty="0"/>
              <a:t>Lösungen</a:t>
            </a:r>
          </a:p>
          <a:p>
            <a:pPr lvl="1"/>
            <a:r>
              <a:rPr lang="de-DE" dirty="0"/>
              <a:t>Verwendung von --user für Installationen</a:t>
            </a:r>
          </a:p>
          <a:p>
            <a:pPr lvl="1"/>
            <a:r>
              <a:rPr lang="de-DE" dirty="0"/>
              <a:t>Clearing des Cache</a:t>
            </a:r>
          </a:p>
          <a:p>
            <a:pPr lvl="2"/>
            <a:r>
              <a:rPr lang="de-DE" dirty="0"/>
              <a:t>pip cache purge</a:t>
            </a:r>
          </a:p>
          <a:p>
            <a:pPr lvl="1"/>
            <a:r>
              <a:rPr lang="de-DE" dirty="0"/>
              <a:t>spezifische Paketversionen installieren</a:t>
            </a:r>
          </a:p>
          <a:p>
            <a:pPr lvl="2"/>
            <a:r>
              <a:rPr lang="de-DE" dirty="0"/>
              <a:t>pip install paketname==version</a:t>
            </a:r>
          </a:p>
          <a:p>
            <a:r>
              <a:rPr lang="de-DE" dirty="0"/>
              <a:t>Sicherheit</a:t>
            </a:r>
          </a:p>
          <a:p>
            <a:pPr lvl="1"/>
            <a:r>
              <a:rPr lang="de-DE" dirty="0"/>
              <a:t>Vorsicht bei der Installation von Paketen aus unbekannten Quellen</a:t>
            </a:r>
          </a:p>
          <a:p>
            <a:pPr lvl="1"/>
            <a:r>
              <a:rPr lang="de-DE" dirty="0"/>
              <a:t>Überprüfung der Pakete </a:t>
            </a:r>
          </a:p>
          <a:p>
            <a:pPr lvl="2"/>
            <a:r>
              <a:rPr lang="de-DE" dirty="0"/>
              <a:t>pip show paketname.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029E8-3BA5-EF04-C6FA-D64CB30CD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030B1-6266-AF52-9E94-8B9C873A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079C6-D8BA-DD77-0D3F-4D9C6D95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202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1913915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54B5A-227C-A9D5-5CC2-71955F39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http-Zugriff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C9645D-FF23-FBD8-6CEC-411EA53D2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16.2</a:t>
            </a:r>
            <a:endParaRPr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F64EFE2-CC92-81C3-0AA0-8D67941343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4EEA2B8-6CEB-AB25-8D3C-C93D39264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5F97C85-78B8-9E0E-6DBA-94091D34E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AE4B207-AF39-4F43-B025-C8CB09B0755D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203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F54FBE-9263-4F14-DEB0-A738B6F8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Grundlagen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3BE071-4932-3B6F-76A6-548591544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 Netzwerkzugriff-Zugriff erfordert eine große Menge von technisch aufwändigen Aktionen</a:t>
            </a:r>
          </a:p>
          <a:p>
            <a:pPr lvl="1"/>
            <a:r>
              <a:rPr lang="de-DE" dirty="0"/>
              <a:t>Verbindungsaufbau zum Server durch Angabe einer IP-Adresse und einer Portnummer</a:t>
            </a:r>
          </a:p>
          <a:p>
            <a:pPr lvl="1"/>
            <a:r>
              <a:rPr lang="de-DE" dirty="0"/>
              <a:t>Erstellen eines privaten Socket-Socket-Verbindung </a:t>
            </a:r>
          </a:p>
          <a:p>
            <a:pPr lvl="1"/>
            <a:r>
              <a:rPr lang="de-DE" dirty="0"/>
              <a:t>Austausch von Daten in einer Form, die sowohl der Client als auch der Server verstehen</a:t>
            </a:r>
          </a:p>
          <a:p>
            <a:pPr lvl="1"/>
            <a:r>
              <a:rPr lang="de-DE" dirty="0"/>
              <a:t>Dekodieren und Enkodieren der Daten</a:t>
            </a:r>
          </a:p>
          <a:p>
            <a:r>
              <a:rPr lang="de-DE" dirty="0"/>
              <a:t>Http vereinfacht diese Kommunikation</a:t>
            </a:r>
          </a:p>
          <a:p>
            <a:pPr lvl="1"/>
            <a:r>
              <a:rPr lang="de-DE" dirty="0"/>
              <a:t>Portnummer 80</a:t>
            </a:r>
          </a:p>
          <a:p>
            <a:pPr lvl="1"/>
            <a:r>
              <a:rPr lang="de-DE" dirty="0"/>
              <a:t>Verwendung eines standardisierten Containers mit Headern und Body</a:t>
            </a:r>
          </a:p>
          <a:p>
            <a:pPr lvl="1"/>
            <a:r>
              <a:rPr lang="de-DE" dirty="0"/>
              <a:t>Durch diese Standardisierung können Module den Aufwand der Programmierung drastisch verringern</a:t>
            </a:r>
          </a:p>
          <a:p>
            <a:pPr lvl="2"/>
            <a:r>
              <a:rPr lang="de-DE" dirty="0"/>
              <a:t>Im Endeffekt ein Einzeiler (!)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74D10-1CBE-5459-0CC1-A75B0722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DCF6A-055D-6210-6258-F25EFB9A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E9778-963E-2D55-CB89-1B9F18A9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204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17175481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DC73-D65A-781A-AC0B-21D0AE04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Schritt für Schritt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32753-A9C1-7853-E124-042A66C1C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Eine Recherche führt schnell zum requests-Modul</a:t>
            </a:r>
          </a:p>
          <a:p>
            <a:pPr lvl="1"/>
            <a:r>
              <a:rPr lang="de-DE" dirty="0">
                <a:hlinkClick r:id="rId2"/>
              </a:rPr>
              <a:t>https://pypi.org/project/requests/</a:t>
            </a:r>
            <a:endParaRPr lang="de-DE" dirty="0"/>
          </a:p>
          <a:p>
            <a:r>
              <a:rPr lang="de-DE" dirty="0"/>
              <a:t>Installation mit </a:t>
            </a:r>
          </a:p>
          <a:p>
            <a:pPr lvl="1"/>
            <a:r>
              <a:rPr lang="de-DE" dirty="0"/>
              <a:t>pip install requests</a:t>
            </a:r>
          </a:p>
          <a:p>
            <a:r>
              <a:rPr lang="de-DE" dirty="0"/>
              <a:t>Aufruf einer Web-Seite mit z.B. Buchinformationen</a:t>
            </a:r>
          </a:p>
          <a:p>
            <a:pPr lvl="1"/>
            <a:r>
              <a:rPr lang="de-DE" dirty="0">
                <a:hlinkClick r:id="rId3"/>
              </a:rPr>
              <a:t>https://openlibrary.org/dev/docs</a:t>
            </a:r>
            <a:endParaRPr lang="de-DE" dirty="0"/>
          </a:p>
          <a:p>
            <a:r>
              <a:rPr lang="de-DE" dirty="0"/>
              <a:t>Ausführen einer Abfrage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8C254-C41E-CAAF-8E68-2123CC5C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9DBAF-6A6D-C5F8-4826-56F43DDE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AF860-0638-DABC-9831-BAB4CA84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205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2353293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53D18-F7F6-A110-41D6-E31CB22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Datenbankzugriff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8D469-6F82-0B92-CD5A-F38598727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17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9D14C-9262-3857-1E41-64CCC247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B7257-F52C-B060-8F15-77A6CBC04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EAFBC-57C0-DB42-97CB-23A96E6E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206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80932161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F9D43-FDD0-0A0E-784A-7D98A8F2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Überblick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1E9C8-B252-4A53-E7B9-786CA7950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17.1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135C4-4F57-9DF9-C84F-FF38CEF9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F2097-C83F-4802-AB38-D1195B07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5309F-0294-4599-6D66-3A2F0B47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207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26590350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Datenbanksysteme</a:t>
            </a:r>
            <a:endParaRPr/>
          </a:p>
        </p:txBody>
      </p:sp>
      <p:sp>
        <p:nvSpPr>
          <p:cNvPr id="1178" name="Google Shape;1178;p12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Datenbanken sind Produkte von Gerstellern und damit proprietär</a:t>
            </a:r>
            <a:endParaRPr dirty="0"/>
          </a:p>
          <a:p>
            <a:pPr lvl="1"/>
            <a:r>
              <a:rPr lang="de-DE" dirty="0"/>
              <a:t>Jeder Hersteller stellt ein Treibermodul zur Verfügung, um mit seiner Datenbank kommunizieren zu können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Allerdings existiert für die gebräuchlichen Datenbanken (alle klassischen!) eine gemeinsame Programmiersprache</a:t>
            </a:r>
            <a:endParaRPr dirty="0"/>
          </a:p>
          <a:p>
            <a:pPr lvl="1"/>
            <a:r>
              <a:rPr lang="de-DE" dirty="0"/>
              <a:t>SQL</a:t>
            </a:r>
            <a:endParaRPr dirty="0"/>
          </a:p>
          <a:p>
            <a:pPr lvl="2"/>
            <a:r>
              <a:rPr lang="de-DE" dirty="0"/>
              <a:t>Structured Query Language</a:t>
            </a:r>
            <a:endParaRPr dirty="0"/>
          </a:p>
          <a:p>
            <a:pPr lvl="2"/>
            <a:r>
              <a:rPr lang="de-DE" dirty="0"/>
              <a:t>Ausgesprochen "sequel"</a:t>
            </a:r>
            <a:endParaRPr dirty="0"/>
          </a:p>
          <a:p>
            <a:pPr lvl="1"/>
            <a:endParaRPr dirty="0"/>
          </a:p>
        </p:txBody>
      </p:sp>
      <p:sp>
        <p:nvSpPr>
          <p:cNvPr id="1177" name="Google Shape;1177;p1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208</a:t>
            </a:fld>
            <a:endParaRPr/>
          </a:p>
        </p:txBody>
      </p:sp>
      <p:sp>
        <p:nvSpPr>
          <p:cNvPr id="2" name="Google Shape;749;p93">
            <a:extLst>
              <a:ext uri="{FF2B5EF4-FFF2-40B4-BE49-F238E27FC236}">
                <a16:creationId xmlns:a16="http://schemas.microsoft.com/office/drawing/2014/main" id="{E7A0CC41-4A0F-432B-DAE9-788DF3F33765}"/>
              </a:ext>
            </a:extLst>
          </p:cNvPr>
          <p:cNvSpPr/>
          <p:nvPr/>
        </p:nvSpPr>
        <p:spPr>
          <a:xfrm>
            <a:off x="0" y="4437112"/>
            <a:ext cx="8748464" cy="180020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Hinweise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 Ausführungen beziehen sich primär auf sogenannte "relationale Datenbanken", die in der Praxis sehr häufig benutzt werden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Es gibt jedoch auch andere Datenbanksysteme ("NoSql")</a:t>
            </a:r>
          </a:p>
          <a:p>
            <a:pPr marL="1200150" lvl="2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Diese werden zwar nicht mit SQL abgefragt, aber das Prinzip ist dasselbe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5A397-6FF5-CB40-2D57-ED5FE984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31D6-CCD1-D948-95BA-4B9F21C3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SQL Primer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0289D-052D-34E2-83D5-E8FFBEF03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17.2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46115-E280-7601-6215-89B2C0531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988A1-5F41-F4D6-5604-935569B8B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B73B1-053B-DB77-8347-34D2511C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209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99836112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SQL</a:t>
            </a:r>
            <a:endParaRPr dirty="0"/>
          </a:p>
        </p:txBody>
      </p:sp>
      <p:sp>
        <p:nvSpPr>
          <p:cNvPr id="1185" name="Google Shape;1185;p12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Pragmatische Einführung in SQL mit Beschränkung auf Leseoperationen</a:t>
            </a:r>
            <a:endParaRPr/>
          </a:p>
          <a:p>
            <a:pPr lvl="1"/>
            <a:r>
              <a:rPr lang="de-DE"/>
              <a:t>w3school</a:t>
            </a:r>
            <a:endParaRPr/>
          </a:p>
          <a:p>
            <a:pPr lvl="1"/>
            <a:r>
              <a:rPr lang="de-DE"/>
              <a:t>https://www.w3schools.com/sql/</a:t>
            </a:r>
            <a:endParaRPr/>
          </a:p>
        </p:txBody>
      </p:sp>
      <p:sp>
        <p:nvSpPr>
          <p:cNvPr id="1184" name="Google Shape;1184;p1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210</a:t>
            </a:fld>
            <a:endParaRPr/>
          </a:p>
        </p:txBody>
      </p:sp>
      <p:pic>
        <p:nvPicPr>
          <p:cNvPr id="1186" name="Google Shape;1186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914" y="2406300"/>
            <a:ext cx="2162175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90B9F-0A1E-3D43-4591-84567B3DA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4859-A0A6-B88E-28D9-9A8307D3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715F4-7F47-C98C-EF7D-BF03DB0A4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17.3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CA16F-CE3B-710A-20D8-729F3D329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813A7-F335-11AB-824A-6D75EEA6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E2E4A-404A-F673-B4FE-253E1319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211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47983815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Python-Programm</a:t>
            </a:r>
            <a:endParaRPr dirty="0"/>
          </a:p>
        </p:txBody>
      </p:sp>
      <p:sp>
        <p:nvSpPr>
          <p:cNvPr id="1193" name="Google Shape;1193;p12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Datenbank ist eine MySql-Datenbank</a:t>
            </a:r>
            <a:endParaRPr dirty="0"/>
          </a:p>
          <a:p>
            <a:pPr lvl="1"/>
            <a:r>
              <a:rPr lang="de-DE" dirty="0"/>
              <a:t>Notwendig ist damit die Installation des Treibers von MySql</a:t>
            </a:r>
            <a:endParaRPr dirty="0"/>
          </a:p>
          <a:p>
            <a:pPr lvl="2"/>
            <a:r>
              <a:rPr lang="de-DE" dirty="0"/>
              <a:t>pip install mysql-connector-python</a:t>
            </a:r>
            <a:endParaRPr dirty="0"/>
          </a:p>
          <a:p>
            <a:pPr lvl="1"/>
            <a:r>
              <a:rPr lang="de-DE" dirty="0"/>
              <a:t>Weitere Informationen</a:t>
            </a:r>
          </a:p>
          <a:p>
            <a:pPr lvl="2"/>
            <a:r>
              <a:rPr lang="de-DE" dirty="0"/>
              <a:t>Datenbankname, User und Password müssen im Programm angepasst werden</a:t>
            </a:r>
            <a:endParaRPr dirty="0"/>
          </a:p>
        </p:txBody>
      </p:sp>
      <p:sp>
        <p:nvSpPr>
          <p:cNvPr id="1192" name="Google Shape;1192;p1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212</a:t>
            </a:fld>
            <a:endParaRPr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RESTful WebServices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C88157-6B2D-FF6F-4C21-9AF3678EB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18</a:t>
            </a:r>
          </a:p>
        </p:txBody>
      </p:sp>
      <p:sp>
        <p:nvSpPr>
          <p:cNvPr id="397" name="Google Shape;397;p3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213</a:t>
            </a:fld>
            <a:endParaRPr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FB5A-3875-9A3D-22DD-78BD661D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Rekapitulation und Überblick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F0CA5-4579-7870-46C3-48DC5505F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18.1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2A57D-9831-C948-61C2-D1B6287B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52A8E-D4AB-43D0-404F-892A18ED4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6F2C9-07BC-2816-DFD8-4781B3D0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214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26622873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Rekapitulation</a:t>
            </a:r>
            <a:endParaRPr/>
          </a:p>
        </p:txBody>
      </p:sp>
      <p:sp>
        <p:nvSpPr>
          <p:cNvPr id="404" name="Google Shape;404;p4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Kommunikation auf Basis des Internet-Protokolls http / https</a:t>
            </a:r>
            <a:endParaRPr/>
          </a:p>
          <a:p>
            <a:pPr lvl="1"/>
            <a:r>
              <a:rPr lang="de-DE"/>
              <a:t>http basiert auf dem Standard TCP/IP-Stack</a:t>
            </a:r>
            <a:endParaRPr/>
          </a:p>
          <a:p>
            <a:pPr>
              <a:spcBef>
                <a:spcPts val="0"/>
              </a:spcBef>
            </a:pPr>
            <a:r>
              <a:rPr lang="de-DE"/>
              <a:t>Modul zur Nutzung des http-Protokolls</a:t>
            </a:r>
            <a:endParaRPr/>
          </a:p>
          <a:p>
            <a:pPr lvl="1"/>
            <a:r>
              <a:rPr lang="de-DE"/>
              <a:t>z.B. requests</a:t>
            </a:r>
            <a:endParaRPr/>
          </a:p>
          <a:p>
            <a:pPr>
              <a:spcBef>
                <a:spcPts val="0"/>
              </a:spcBef>
            </a:pPr>
            <a:r>
              <a:rPr lang="de-DE"/>
              <a:t>Client-Applikation ist (fast) ein Einzeiler</a:t>
            </a:r>
            <a:endParaRPr/>
          </a:p>
          <a:p>
            <a:pPr>
              <a:spcBef>
                <a:spcPts val="0"/>
              </a:spcBef>
            </a:pPr>
            <a:r>
              <a:rPr lang="de-DE"/>
              <a:t>RESTful WebServices liefern in den allermeisten Fällen die Daten im JSON-Format</a:t>
            </a:r>
            <a:endParaRPr/>
          </a:p>
          <a:p>
            <a:pPr>
              <a:spcBef>
                <a:spcPts val="0"/>
              </a:spcBef>
            </a:pPr>
            <a:r>
              <a:rPr lang="de-DE"/>
              <a:t>Umwandlung des JSON-Datenformats in die Python-Welt erfolgt automatisch</a:t>
            </a:r>
            <a:endParaRPr/>
          </a:p>
          <a:p>
            <a:pPr lvl="1"/>
            <a:r>
              <a:rPr lang="de-DE"/>
              <a:t>Daten liegen als Liste von Dictionaries vor</a:t>
            </a:r>
            <a:endParaRPr/>
          </a:p>
        </p:txBody>
      </p:sp>
      <p:sp>
        <p:nvSpPr>
          <p:cNvPr id="403" name="Google Shape;403;p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215</a:t>
            </a:fld>
            <a:endParaRPr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REST im Detail</a:t>
            </a:r>
            <a:endParaRPr/>
          </a:p>
        </p:txBody>
      </p:sp>
      <p:sp>
        <p:nvSpPr>
          <p:cNvPr id="425" name="Google Shape;425;p4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Es gibt einen spezifizierten Satz von Header-Parameters</a:t>
            </a:r>
            <a:endParaRPr/>
          </a:p>
          <a:p>
            <a:pPr lvl="1"/>
            <a:r>
              <a:rPr lang="de-DE"/>
              <a:t>Content-Type (Request und Response)</a:t>
            </a:r>
            <a:endParaRPr/>
          </a:p>
          <a:p>
            <a:pPr lvl="2"/>
            <a:r>
              <a:rPr lang="de-DE"/>
              <a:t>Beschreibt, welches Datenformat dem Bytearray des Body zugrunde liegt</a:t>
            </a:r>
            <a:endParaRPr/>
          </a:p>
          <a:p>
            <a:pPr lvl="2"/>
            <a:r>
              <a:rPr lang="de-DE"/>
              <a:t>text/plain, text/html, application/pdf, application/json</a:t>
            </a:r>
            <a:endParaRPr/>
          </a:p>
          <a:p>
            <a:pPr lvl="1"/>
            <a:r>
              <a:rPr lang="de-DE"/>
              <a:t>Status (Response)</a:t>
            </a:r>
            <a:endParaRPr/>
          </a:p>
          <a:p>
            <a:pPr lvl="2"/>
            <a:r>
              <a:rPr lang="de-DE"/>
              <a:t>Zahl im Bereich 100-900</a:t>
            </a:r>
            <a:endParaRPr/>
          </a:p>
          <a:p>
            <a:pPr lvl="3"/>
            <a:r>
              <a:rPr lang="de-DE"/>
              <a:t>200-299 -&gt; Alles in Ordnung, "OK" = 200</a:t>
            </a:r>
            <a:endParaRPr/>
          </a:p>
          <a:p>
            <a:pPr lvl="3"/>
            <a:r>
              <a:rPr lang="de-DE"/>
              <a:t>400-499 -&gt; Fehlersituationen, die Daten betreffen, "Not Found" = 404</a:t>
            </a:r>
            <a:endParaRPr/>
          </a:p>
          <a:p>
            <a:pPr lvl="3"/>
            <a:r>
              <a:rPr lang="de-DE"/>
              <a:t>500-599 -&gt; Technische Fehler, "Informieren Sie den Server Administrator"</a:t>
            </a:r>
            <a:endParaRPr/>
          </a:p>
          <a:p>
            <a:pPr lvl="1"/>
            <a:r>
              <a:rPr lang="de-DE"/>
              <a:t>Method (Request)</a:t>
            </a:r>
            <a:endParaRPr/>
          </a:p>
          <a:p>
            <a:pPr lvl="2"/>
            <a:r>
              <a:rPr lang="de-DE"/>
              <a:t>Hinweis, was der Server mit den gesendeten Informationen machen soll</a:t>
            </a:r>
            <a:endParaRPr/>
          </a:p>
          <a:p>
            <a:pPr lvl="3"/>
            <a:r>
              <a:rPr lang="de-DE"/>
              <a:t>POST (Hinweis: Neue Ressource anlegen)</a:t>
            </a:r>
            <a:endParaRPr/>
          </a:p>
          <a:p>
            <a:pPr lvl="3"/>
            <a:r>
              <a:rPr lang="de-DE"/>
              <a:t>GET (Hinweis: Ressource lesen)</a:t>
            </a:r>
            <a:endParaRPr/>
          </a:p>
          <a:p>
            <a:pPr lvl="3"/>
            <a:r>
              <a:rPr lang="de-DE"/>
              <a:t>PUT / PATCH (Hinweis: Ressource aktualisieren)</a:t>
            </a:r>
            <a:endParaRPr/>
          </a:p>
          <a:p>
            <a:pPr lvl="3"/>
            <a:r>
              <a:rPr lang="de-DE"/>
              <a:t>DELETE (Hinweis: Ressource löschen)</a:t>
            </a:r>
            <a:endParaRPr/>
          </a:p>
        </p:txBody>
      </p:sp>
      <p:sp>
        <p:nvSpPr>
          <p:cNvPr id="424" name="Google Shape;424;p4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216</a:t>
            </a:fld>
            <a:endParaRPr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456B-B1B3-40E7-E94F-935DD4BB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FB63-22FB-B5DC-DB5F-514E2A9D8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568825"/>
            <a:ext cx="4953000" cy="1362075"/>
          </a:xfrm>
        </p:spPr>
        <p:txBody>
          <a:bodyPr/>
          <a:lstStyle/>
          <a:p>
            <a:pPr>
              <a:defRPr/>
            </a:pPr>
            <a:r>
              <a:rPr lang="de-DE" dirty="0"/>
              <a:t>Beispiel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E057A8-618C-18D8-0FC2-407BF5236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3068638"/>
            <a:ext cx="4953000" cy="1500187"/>
          </a:xfrm>
        </p:spPr>
        <p:txBody>
          <a:bodyPr/>
          <a:lstStyle/>
          <a:p>
            <a:pPr>
              <a:defRPr/>
            </a:pPr>
            <a:r>
              <a:rPr lang="de-DE"/>
              <a:t>18.2</a:t>
            </a:r>
            <a:endParaRPr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1A88F46-3813-841D-6EBA-1EBA2649DEC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8FD1E9-C62E-1D86-0AA5-C6838904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t>Python 3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8E17D76-BE33-2081-3295-8AA966B7E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AE4B207-AF39-4F43-B025-C8CB09B0755D}" type="slidenum">
              <a:rPr lang="de-DE" altLang="de-DE" sz="1000" b="0">
                <a:solidFill>
                  <a:srgbClr val="A7A7A7"/>
                </a:solidFill>
              </a:rPr>
              <a:pPr eaLnBrk="1" hangingPunct="1"/>
              <a:t>217</a:t>
            </a:fld>
            <a:endParaRPr lang="de-DE" altLang="de-DE" sz="1000" b="0">
              <a:solidFill>
                <a:srgbClr val="A7A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61187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B13A-13C3-9030-0429-91520D4B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Lesender Zugriff auf einen RESTful WebService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FF6C5-EC47-5AB0-89D5-6D19C0579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Hier wird wieder das requests-Modul genutzt</a:t>
            </a:r>
          </a:p>
          <a:p>
            <a:r>
              <a:rPr lang="de-DE" dirty="0"/>
              <a:t>requests bietet für alle Http-Operationen Methoden</a:t>
            </a:r>
          </a:p>
          <a:p>
            <a:r>
              <a:rPr lang="de-DE" dirty="0"/>
              <a:t>Die Konvertierung von JSON erfolgt automatisch</a:t>
            </a:r>
          </a:p>
          <a:p>
            <a:pPr lvl="1"/>
            <a:r>
              <a:rPr lang="de-DE" dirty="0"/>
              <a:t>JSON-Objekte werden Dictionaries</a:t>
            </a:r>
          </a:p>
          <a:p>
            <a:pPr lvl="1"/>
            <a:r>
              <a:rPr lang="de-DE" dirty="0"/>
              <a:t>JSON-Listen Python-Listen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26BF7-BF61-13D5-2DC7-45B83EE7A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8A993-E29F-32FB-69C7-300ABAF80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1E09E-652A-DA03-C0C4-FC7A78FC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A911-5634-4A4C-962D-00516315FFE4}" type="slidenum">
              <a:rPr lang="de-DE" altLang="de-DE" smtClean="0"/>
              <a:pPr/>
              <a:t>218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23510822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SSH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130C88-8F8E-6C73-2158-EC72A9331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19</a:t>
            </a:r>
          </a:p>
        </p:txBody>
      </p:sp>
      <p:sp>
        <p:nvSpPr>
          <p:cNvPr id="279" name="Google Shape;279;p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219</a:t>
            </a:fld>
            <a:endParaRPr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252D-7083-C7CF-D341-A3155121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Übersicht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3DC8D-6677-BECF-9F7E-9B7C92A29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19.1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FB6D0-D2F9-4BF7-A99F-46AC9B7AC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B6F00-2A86-6B50-22D0-26D952B5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B9C33-E8F3-64EE-269D-70704490A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220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24542976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/>
              <a:t>Prinzip</a:t>
            </a:r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</a:pPr>
              <a:t>221</a:t>
            </a:fld>
            <a:endParaRPr/>
          </a:p>
        </p:txBody>
      </p:sp>
      <p:sp>
        <p:nvSpPr>
          <p:cNvPr id="302" name="Google Shape;302;p31"/>
          <p:cNvSpPr/>
          <p:nvPr/>
        </p:nvSpPr>
        <p:spPr>
          <a:xfrm>
            <a:off x="5600051" y="1667251"/>
            <a:ext cx="2144775" cy="2885025"/>
          </a:xfrm>
          <a:prstGeom prst="flowChartMagneticDisk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SSH-Server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206925" y="2623475"/>
            <a:ext cx="1958400" cy="13599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SSH-Client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291975" y="3216600"/>
            <a:ext cx="1788300" cy="4248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Terminal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5867650" y="3192125"/>
            <a:ext cx="1604100" cy="4248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Shell-Prozess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306" name="Google Shape;306;p31"/>
          <p:cNvCxnSpPr>
            <a:stCxn id="304" idx="3"/>
            <a:endCxn id="305" idx="1"/>
          </p:cNvCxnSpPr>
          <p:nvPr/>
        </p:nvCxnSpPr>
        <p:spPr>
          <a:xfrm rot="10800000" flipH="1">
            <a:off x="2080275" y="3404400"/>
            <a:ext cx="3787500" cy="2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/>
              <a:t>Was ist alles im ersten S von SSH drin?</a:t>
            </a:r>
            <a:endParaRPr/>
          </a:p>
        </p:txBody>
      </p:sp>
      <p:sp>
        <p:nvSpPr>
          <p:cNvPr id="312" name="Google Shape;312;p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</a:pPr>
              <a:t>222</a:t>
            </a:fld>
            <a:endParaRPr/>
          </a:p>
        </p:txBody>
      </p:sp>
      <p:sp>
        <p:nvSpPr>
          <p:cNvPr id="313" name="Google Shape;313;p32"/>
          <p:cNvSpPr/>
          <p:nvPr/>
        </p:nvSpPr>
        <p:spPr>
          <a:xfrm>
            <a:off x="5600051" y="1785501"/>
            <a:ext cx="2144775" cy="2885025"/>
          </a:xfrm>
          <a:prstGeom prst="flowChartMagneticDisk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Rechner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SSH-Server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14" name="Google Shape;314;p32"/>
          <p:cNvSpPr/>
          <p:nvPr/>
        </p:nvSpPr>
        <p:spPr>
          <a:xfrm>
            <a:off x="5897300" y="3473350"/>
            <a:ext cx="1455900" cy="809036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Keystore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Server-Zertifikat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15" name="Google Shape;315;p32"/>
          <p:cNvSpPr/>
          <p:nvPr/>
        </p:nvSpPr>
        <p:spPr>
          <a:xfrm>
            <a:off x="206925" y="2623475"/>
            <a:ext cx="1958400" cy="13599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SSH-Client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316" name="Google Shape;316;p32"/>
          <p:cNvCxnSpPr>
            <a:endCxn id="313" idx="2"/>
          </p:cNvCxnSpPr>
          <p:nvPr/>
        </p:nvCxnSpPr>
        <p:spPr>
          <a:xfrm rot="10800000" flipH="1">
            <a:off x="2165350" y="3228013"/>
            <a:ext cx="3434700" cy="12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7" name="Google Shape;317;p32"/>
          <p:cNvCxnSpPr>
            <a:cxnSpLocks/>
            <a:stCxn id="314" idx="1"/>
            <a:endCxn id="318" idx="3"/>
          </p:cNvCxnSpPr>
          <p:nvPr/>
        </p:nvCxnSpPr>
        <p:spPr>
          <a:xfrm flipH="1" flipV="1">
            <a:off x="2080275" y="3429000"/>
            <a:ext cx="3817025" cy="4488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8" name="Google Shape;318;p32"/>
          <p:cNvSpPr/>
          <p:nvPr/>
        </p:nvSpPr>
        <p:spPr>
          <a:xfrm>
            <a:off x="291975" y="3216600"/>
            <a:ext cx="1788300" cy="4248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Truststore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Server-Zertifikat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192150" y="4781375"/>
            <a:ext cx="8628000" cy="1179174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Schritt 1: Verifikation der Server-Identität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Bei Erfolg vertraut der Client dem SSH-Zertifikat des Servers und erlaubt Verbindungen zum Server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/>
              <a:t>Was ist alles im ersten S von SSH drin?</a:t>
            </a:r>
            <a:endParaRPr/>
          </a:p>
        </p:txBody>
      </p:sp>
      <p:sp>
        <p:nvSpPr>
          <p:cNvPr id="325" name="Google Shape;325;p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223</a:t>
            </a:fld>
            <a:endParaRPr/>
          </a:p>
        </p:txBody>
      </p:sp>
      <p:sp>
        <p:nvSpPr>
          <p:cNvPr id="326" name="Google Shape;326;p33"/>
          <p:cNvSpPr/>
          <p:nvPr/>
        </p:nvSpPr>
        <p:spPr>
          <a:xfrm>
            <a:off x="5600051" y="1633101"/>
            <a:ext cx="2144775" cy="3148275"/>
          </a:xfrm>
          <a:prstGeom prst="flowChartMagneticDisk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SSH-Server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5897300" y="3016150"/>
            <a:ext cx="1455900" cy="77289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Keystore</a:t>
            </a:r>
            <a:endParaRPr dirty="0"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Server-Zertifikat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28" name="Google Shape;328;p33"/>
          <p:cNvSpPr/>
          <p:nvPr/>
        </p:nvSpPr>
        <p:spPr>
          <a:xfrm>
            <a:off x="206925" y="1980550"/>
            <a:ext cx="1958400" cy="25179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SSH-Client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29" name="Google Shape;329;p33"/>
          <p:cNvSpPr/>
          <p:nvPr/>
        </p:nvSpPr>
        <p:spPr>
          <a:xfrm>
            <a:off x="291975" y="2602725"/>
            <a:ext cx="1788300" cy="4248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Truststore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Server-Zertifikat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30" name="Google Shape;330;p33"/>
          <p:cNvSpPr/>
          <p:nvPr/>
        </p:nvSpPr>
        <p:spPr>
          <a:xfrm>
            <a:off x="291975" y="3429000"/>
            <a:ext cx="1455900" cy="835275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Keystore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Client-Zertifikat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31" name="Google Shape;331;p33"/>
          <p:cNvSpPr/>
          <p:nvPr/>
        </p:nvSpPr>
        <p:spPr>
          <a:xfrm>
            <a:off x="5854575" y="3868296"/>
            <a:ext cx="1788300" cy="4248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Truststore</a:t>
            </a:r>
            <a:endParaRPr dirty="0"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Client-Zertifikat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192150" y="4781374"/>
            <a:ext cx="8628000" cy="943763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Schritt 1: Optional: Verifikation der Client-Identität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Bei Erfolg vertraut der Client dem SSH-Zertifikat des Servers und erlaubt Verbindungen zum Server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333" name="Google Shape;333;p33"/>
          <p:cNvCxnSpPr>
            <a:cxnSpLocks/>
            <a:stCxn id="326" idx="2"/>
            <a:endCxn id="330" idx="3"/>
          </p:cNvCxnSpPr>
          <p:nvPr/>
        </p:nvCxnSpPr>
        <p:spPr>
          <a:xfrm flipH="1">
            <a:off x="1747875" y="3207239"/>
            <a:ext cx="3852176" cy="6393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" name="Google Shape;334;p33"/>
          <p:cNvCxnSpPr>
            <a:cxnSpLocks/>
            <a:stCxn id="330" idx="3"/>
            <a:endCxn id="331" idx="1"/>
          </p:cNvCxnSpPr>
          <p:nvPr/>
        </p:nvCxnSpPr>
        <p:spPr>
          <a:xfrm>
            <a:off x="1747875" y="3846638"/>
            <a:ext cx="4106700" cy="2340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/>
              <a:t>Was ist alles im ersten S von SSH drin?</a:t>
            </a:r>
            <a:endParaRPr/>
          </a:p>
        </p:txBody>
      </p:sp>
      <p:sp>
        <p:nvSpPr>
          <p:cNvPr id="340" name="Google Shape;340;p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224</a:t>
            </a:fld>
            <a:endParaRPr/>
          </a:p>
        </p:txBody>
      </p:sp>
      <p:sp>
        <p:nvSpPr>
          <p:cNvPr id="341" name="Google Shape;341;p34"/>
          <p:cNvSpPr/>
          <p:nvPr/>
        </p:nvSpPr>
        <p:spPr>
          <a:xfrm>
            <a:off x="5600051" y="1785501"/>
            <a:ext cx="2144775" cy="3417125"/>
          </a:xfrm>
          <a:prstGeom prst="flowChartMagneticDisk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SSH-Server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5897300" y="3284984"/>
            <a:ext cx="1483012" cy="698366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Keystore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Server-Zertifikat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206925" y="1980550"/>
            <a:ext cx="1958400" cy="31335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SSH-Client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291975" y="2602725"/>
            <a:ext cx="1788300" cy="4248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Truststore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Server-Zertifikat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5" name="Google Shape;345;p34"/>
          <p:cNvSpPr/>
          <p:nvPr/>
        </p:nvSpPr>
        <p:spPr>
          <a:xfrm>
            <a:off x="2682600" y="1684950"/>
            <a:ext cx="2389800" cy="11454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Problem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Kommunikation über eine potenziell komplett offenes = unsicheres Netzwerk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346" name="Google Shape;346;p34"/>
          <p:cNvCxnSpPr>
            <a:endCxn id="347" idx="0"/>
          </p:cNvCxnSpPr>
          <p:nvPr/>
        </p:nvCxnSpPr>
        <p:spPr>
          <a:xfrm>
            <a:off x="2179225" y="3753850"/>
            <a:ext cx="3420900" cy="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8" name="Google Shape;348;p34"/>
          <p:cNvSpPr/>
          <p:nvPr/>
        </p:nvSpPr>
        <p:spPr>
          <a:xfrm>
            <a:off x="291975" y="3501008"/>
            <a:ext cx="1522736" cy="763267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Keystore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Client-Zertifikat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5854575" y="4202925"/>
            <a:ext cx="1788300" cy="4248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Truststore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Client-Zertifikat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350" name="Google Shape;350;p34"/>
          <p:cNvCxnSpPr>
            <a:cxnSpLocks/>
          </p:cNvCxnSpPr>
          <p:nvPr/>
        </p:nvCxnSpPr>
        <p:spPr>
          <a:xfrm rot="10800000">
            <a:off x="2206300" y="3760625"/>
            <a:ext cx="33771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/>
              <a:t>Was ist alles im ersten S von SSH drin?</a:t>
            </a:r>
            <a:endParaRPr/>
          </a:p>
        </p:txBody>
      </p:sp>
      <p:sp>
        <p:nvSpPr>
          <p:cNvPr id="356" name="Google Shape;356;p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de-DE"/>
              <a:pPr>
                <a:spcBef>
                  <a:spcPts val="0"/>
                </a:spcBef>
                <a:spcAft>
                  <a:spcPts val="0"/>
                </a:spcAft>
              </a:pPr>
              <a:t>225</a:t>
            </a:fld>
            <a:endParaRPr/>
          </a:p>
        </p:txBody>
      </p:sp>
      <p:sp>
        <p:nvSpPr>
          <p:cNvPr id="357" name="Google Shape;357;p35"/>
          <p:cNvSpPr/>
          <p:nvPr/>
        </p:nvSpPr>
        <p:spPr>
          <a:xfrm>
            <a:off x="5600051" y="1785501"/>
            <a:ext cx="2144775" cy="3085025"/>
          </a:xfrm>
          <a:prstGeom prst="flowChartMagneticDisk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SSH-Server</a:t>
            </a:r>
            <a:endParaRPr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58" name="Google Shape;358;p35"/>
          <p:cNvSpPr/>
          <p:nvPr/>
        </p:nvSpPr>
        <p:spPr>
          <a:xfrm>
            <a:off x="5897300" y="3285284"/>
            <a:ext cx="1483012" cy="698066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Keystore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Server-Zertifikat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59" name="Google Shape;359;p35"/>
          <p:cNvSpPr/>
          <p:nvPr/>
        </p:nvSpPr>
        <p:spPr>
          <a:xfrm>
            <a:off x="206925" y="1980550"/>
            <a:ext cx="1958400" cy="27207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SSH-Client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60" name="Google Shape;360;p35"/>
          <p:cNvSpPr/>
          <p:nvPr/>
        </p:nvSpPr>
        <p:spPr>
          <a:xfrm>
            <a:off x="291975" y="2602725"/>
            <a:ext cx="1788300" cy="4248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Truststore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Server-Zertifikat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2158925" y="3530525"/>
            <a:ext cx="3420900" cy="4248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tx1"/>
              </a:solidFill>
            </a:endParaRPr>
          </a:p>
        </p:txBody>
      </p:sp>
      <p:cxnSp>
        <p:nvCxnSpPr>
          <p:cNvPr id="362" name="Google Shape;362;p35"/>
          <p:cNvCxnSpPr>
            <a:endCxn id="363" idx="0"/>
          </p:cNvCxnSpPr>
          <p:nvPr/>
        </p:nvCxnSpPr>
        <p:spPr>
          <a:xfrm>
            <a:off x="2179225" y="3753850"/>
            <a:ext cx="3420900" cy="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4" name="Google Shape;364;p35"/>
          <p:cNvSpPr/>
          <p:nvPr/>
        </p:nvSpPr>
        <p:spPr>
          <a:xfrm>
            <a:off x="291975" y="3429000"/>
            <a:ext cx="1455900" cy="835275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Keystore</a:t>
            </a:r>
            <a:endParaRPr dirty="0"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tx1"/>
                </a:solidFill>
              </a:rPr>
              <a:t>Client-Zertifikat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5854575" y="4202925"/>
            <a:ext cx="1788300" cy="4248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Truststore</a:t>
            </a:r>
            <a:endParaRPr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Client-Zertifikat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366" name="Google Shape;366;p35"/>
          <p:cNvCxnSpPr/>
          <p:nvPr/>
        </p:nvCxnSpPr>
        <p:spPr>
          <a:xfrm rot="10800000">
            <a:off x="2206300" y="3760625"/>
            <a:ext cx="33771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7" name="Google Shape;367;p35"/>
          <p:cNvSpPr/>
          <p:nvPr/>
        </p:nvSpPr>
        <p:spPr>
          <a:xfrm>
            <a:off x="192150" y="5009975"/>
            <a:ext cx="8628000" cy="6060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chemeClr val="tx1"/>
                </a:solidFill>
              </a:rPr>
              <a:t>Schritt 2: Erzeugung und sicherer Austausch von Schlüsselpaaren zur Kommunikation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69940-16B1-5409-1924-2B3574C5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Paramiko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BB3A8-194A-0590-59BA-D54C5E5C4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19.2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DB084-355A-5795-E10B-69D85D0C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1.9.2024 © Javacream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8D149-6F32-78AD-F8A2-C6A4ACE1A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Python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A0C11-C82A-2609-8062-99E1CD72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E11D-2694-4D01-89FC-B49C6B5950F4}" type="slidenum">
              <a:rPr lang="de-DE" altLang="de-DE" smtClean="0"/>
              <a:pPr/>
              <a:t>226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41280514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SSH-Module in Python</a:t>
            </a:r>
            <a:endParaRPr/>
          </a:p>
        </p:txBody>
      </p:sp>
      <p:sp>
        <p:nvSpPr>
          <p:cNvPr id="382" name="Google Shape;382;p3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/>
              <a:t>Beispiel Paramiko</a:t>
            </a:r>
            <a:endParaRPr dirty="0"/>
          </a:p>
          <a:p>
            <a:pPr lvl="1"/>
            <a:r>
              <a:rPr lang="de-DE" dirty="0"/>
              <a:t>Eine sehr etablierte Bibliothek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Nicht Bestandteil der Python-Standard-Umgebung</a:t>
            </a:r>
            <a:endParaRPr dirty="0"/>
          </a:p>
          <a:p>
            <a:pPr lvl="1"/>
            <a:r>
              <a:rPr lang="de-DE" dirty="0"/>
              <a:t>pip install paramiko</a:t>
            </a:r>
            <a:endParaRPr dirty="0"/>
          </a:p>
          <a:p>
            <a:pPr lvl="2"/>
            <a:r>
              <a:rPr lang="de-DE" dirty="0"/>
              <a:t>python -m pip install paramiko</a:t>
            </a:r>
            <a:endParaRPr dirty="0"/>
          </a:p>
          <a:p>
            <a:pPr>
              <a:spcBef>
                <a:spcPts val="0"/>
              </a:spcBef>
            </a:pPr>
            <a:r>
              <a:rPr lang="de-DE" dirty="0"/>
              <a:t>Sequenz</a:t>
            </a:r>
            <a:endParaRPr dirty="0"/>
          </a:p>
          <a:p>
            <a:pPr lvl="1"/>
            <a:r>
              <a:rPr lang="de-DE" dirty="0"/>
              <a:t>Aufbau der Verbindung</a:t>
            </a:r>
            <a:endParaRPr dirty="0"/>
          </a:p>
          <a:p>
            <a:pPr lvl="1"/>
            <a:r>
              <a:rPr lang="de-DE" dirty="0"/>
              <a:t>Nutzen der Verbindung</a:t>
            </a:r>
            <a:endParaRPr dirty="0"/>
          </a:p>
          <a:p>
            <a:pPr lvl="1"/>
            <a:r>
              <a:rPr lang="de-DE" dirty="0"/>
              <a:t>Schließen der Verbindung</a:t>
            </a:r>
            <a:endParaRPr dirty="0"/>
          </a:p>
        </p:txBody>
      </p:sp>
      <p:sp>
        <p:nvSpPr>
          <p:cNvPr id="381" name="Google Shape;381;p3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227</a:t>
            </a:fld>
            <a:endParaRPr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0000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Ein paar Hinweise</a:t>
            </a:r>
            <a:endParaRPr/>
          </a:p>
        </p:txBody>
      </p:sp>
      <p:sp>
        <p:nvSpPr>
          <p:cNvPr id="389" name="Google Shape;389;p3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/>
              <a:t>Der Paramiko-Client nutzt für jedes execute einen neuen Shell-Prozess</a:t>
            </a:r>
            <a:endParaRPr/>
          </a:p>
          <a:p>
            <a:pPr lvl="1"/>
            <a:r>
              <a:rPr lang="de-DE"/>
              <a:t>Beispielsweise Befehle mit cd verhalten sich "unerwartet"</a:t>
            </a:r>
            <a:endParaRPr/>
          </a:p>
          <a:p>
            <a:pPr>
              <a:spcBef>
                <a:spcPts val="0"/>
              </a:spcBef>
            </a:pPr>
            <a:r>
              <a:rPr lang="de-DE"/>
              <a:t>Password im Klartext des Scripts ist natürlich Unsinn</a:t>
            </a:r>
            <a:endParaRPr/>
          </a:p>
          <a:p>
            <a:pPr lvl="1"/>
            <a:r>
              <a:rPr lang="de-DE"/>
              <a:t>Sichere Ablage der Credentials z.B. mit keyring</a:t>
            </a:r>
            <a:endParaRPr/>
          </a:p>
          <a:p>
            <a:pPr>
              <a:spcBef>
                <a:spcPts val="0"/>
              </a:spcBef>
            </a:pPr>
            <a:r>
              <a:rPr lang="de-DE"/>
              <a:t>Fehlerbehandlung</a:t>
            </a:r>
            <a:endParaRPr/>
          </a:p>
          <a:p>
            <a:pPr lvl="1"/>
            <a:r>
              <a:rPr lang="de-DE"/>
              <a:t>SSH-Fehler wie </a:t>
            </a:r>
            <a:endParaRPr/>
          </a:p>
          <a:p>
            <a:pPr lvl="2"/>
            <a:r>
              <a:rPr lang="de-DE"/>
              <a:t>Falscher Host, Port</a:t>
            </a:r>
            <a:endParaRPr/>
          </a:p>
          <a:p>
            <a:pPr lvl="2"/>
            <a:r>
              <a:rPr lang="de-DE"/>
              <a:t>Falsche Credentials</a:t>
            </a:r>
            <a:endParaRPr/>
          </a:p>
          <a:p>
            <a:pPr lvl="1"/>
            <a:r>
              <a:rPr lang="de-DE"/>
              <a:t>stderr unbedingt ebenfalls auslesen und dekodieren</a:t>
            </a:r>
            <a:endParaRPr/>
          </a:p>
        </p:txBody>
      </p:sp>
      <p:sp>
        <p:nvSpPr>
          <p:cNvPr id="390" name="Google Shape;390;p3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fld id="{00000000-1234-1234-1234-123412341234}" type="slidenum">
              <a:rPr lang="de-DE"/>
              <a:pPr/>
              <a:t>228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 Master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Integrata201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Integrata2012">
      <a: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9999" dist="48400" dir="27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40000"/>
            <a:lumOff val="60000"/>
          </a:schemeClr>
        </a:solidFill>
        <a:effectLst>
          <a:outerShdw blurRad="50800" dist="38100" algn="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5-07-10 VORLAGE Integrata PowerPoint_Unterlagen.potx" id="{1E72B039-C689-4C33-95B4-68F5C076914B}" vid="{1C8A03A1-D8E7-456B-A320-BD15DD668F6B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 Warm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</a:themeOverride>
</file>

<file path=ppt/theme/themeOverride2.xml><?xml version="1.0" encoding="utf-8"?>
<a:themeOverride xmlns:a="http://schemas.openxmlformats.org/drawingml/2006/main">
  <a:clrScheme name="Blue Warm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10305</Words>
  <Application>Microsoft Office PowerPoint</Application>
  <PresentationFormat>On-screen Show (4:3)</PresentationFormat>
  <Paragraphs>2451</Paragraphs>
  <Slides>228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228</vt:i4>
      </vt:variant>
    </vt:vector>
  </HeadingPairs>
  <TitlesOfParts>
    <vt:vector size="238" baseType="lpstr">
      <vt:lpstr>Arial</vt:lpstr>
      <vt:lpstr>Broadway</vt:lpstr>
      <vt:lpstr>Calibri</vt:lpstr>
      <vt:lpstr>Consolas</vt:lpstr>
      <vt:lpstr>Courier New</vt:lpstr>
      <vt:lpstr>DejaVu Sans</vt:lpstr>
      <vt:lpstr>Symbol</vt:lpstr>
      <vt:lpstr>Times New Roman</vt:lpstr>
      <vt:lpstr>Wingdings</vt:lpstr>
      <vt:lpstr>Titel Master</vt:lpstr>
      <vt:lpstr>Python 3</vt:lpstr>
      <vt:lpstr>Literatur und Quellen</vt:lpstr>
      <vt:lpstr>Einige Hinweise</vt:lpstr>
      <vt:lpstr>PowerPoint Presentation</vt:lpstr>
      <vt:lpstr>Inhalt</vt:lpstr>
      <vt:lpstr>Einführung</vt:lpstr>
      <vt:lpstr>Vorstellung</vt:lpstr>
      <vt:lpstr>Startpunkt</vt:lpstr>
      <vt:lpstr>Ziel</vt:lpstr>
      <vt:lpstr>Ergänzungen</vt:lpstr>
      <vt:lpstr>Vorstellungsrunde</vt:lpstr>
      <vt:lpstr>Ein paar Grundlegende Dinge</vt:lpstr>
      <vt:lpstr>Python – Eine Skriptsprache</vt:lpstr>
      <vt:lpstr>Anwendungsentwicklung</vt:lpstr>
      <vt:lpstr>Die Arbeitsumgebung</vt:lpstr>
      <vt:lpstr>Installation</vt:lpstr>
      <vt:lpstr>Details zur Python-Installation</vt:lpstr>
      <vt:lpstr>Anlegen des Python-Projekts in Visual Studio Code</vt:lpstr>
      <vt:lpstr>Ein erstes Programm</vt:lpstr>
      <vt:lpstr>Entwicklunsumgebungen</vt:lpstr>
      <vt:lpstr>Entwicklungsumgebungen</vt:lpstr>
      <vt:lpstr>Beispiel: Python-Skript in Visual Studio Code</vt:lpstr>
      <vt:lpstr>Beispiel: PyDev</vt:lpstr>
      <vt:lpstr>Beispiel: Repl.It - Eine Online-IDE</vt:lpstr>
      <vt:lpstr>Dokumentation UND RESSOURCEN</vt:lpstr>
      <vt:lpstr>Python Online Dokumentation</vt:lpstr>
      <vt:lpstr>w3school – Eine öffentliche Lernplattform</vt:lpstr>
      <vt:lpstr>Was erwartet uns im nächsten Teil?</vt:lpstr>
      <vt:lpstr>Variablen</vt:lpstr>
      <vt:lpstr>Übersicht</vt:lpstr>
      <vt:lpstr>Prinzip</vt:lpstr>
      <vt:lpstr>Best Practices</vt:lpstr>
      <vt:lpstr>Erstes Programmieren mit Variablen</vt:lpstr>
      <vt:lpstr>Zahlen</vt:lpstr>
      <vt:lpstr>Strings</vt:lpstr>
      <vt:lpstr>Konsolenausgabe und -eingabe</vt:lpstr>
      <vt:lpstr>Stand</vt:lpstr>
      <vt:lpstr>Datentypen und Operatoren</vt:lpstr>
      <vt:lpstr>Literale und Datentypen</vt:lpstr>
      <vt:lpstr>Literale revisited</vt:lpstr>
      <vt:lpstr>Typisierung</vt:lpstr>
      <vt:lpstr>Typumwandlung</vt:lpstr>
      <vt:lpstr>Operatoren</vt:lpstr>
      <vt:lpstr>Was sind "Operatoren"?</vt:lpstr>
      <vt:lpstr>Operatoren und Datentypen</vt:lpstr>
      <vt:lpstr>Operationen mit Zahlen</vt:lpstr>
      <vt:lpstr>Strings</vt:lpstr>
      <vt:lpstr>ToDo: BMI-Berechnung</vt:lpstr>
      <vt:lpstr>Zur Aufgabenstellung</vt:lpstr>
      <vt:lpstr>Kontrollstrukturen</vt:lpstr>
      <vt:lpstr>Vergleichsoperatoren und der Datentyp bool</vt:lpstr>
      <vt:lpstr>Boolean Werte und Operatoren</vt:lpstr>
      <vt:lpstr>Vergleichsoperatoren</vt:lpstr>
      <vt:lpstr>Bedingte Programmausführung</vt:lpstr>
      <vt:lpstr>Abfragen</vt:lpstr>
      <vt:lpstr>Pattern Matching in Python</vt:lpstr>
      <vt:lpstr>Schleifen</vt:lpstr>
      <vt:lpstr>Schleifen</vt:lpstr>
      <vt:lpstr>Break und Continue</vt:lpstr>
      <vt:lpstr>Exception Handling</vt:lpstr>
      <vt:lpstr>Standard-Verhalten im Fehlerfall</vt:lpstr>
      <vt:lpstr>Fehlerbehandlung mit try-except</vt:lpstr>
      <vt:lpstr>ToDo: BMI-Kategorisierung</vt:lpstr>
      <vt:lpstr>Zur Aufgabenstellung</vt:lpstr>
      <vt:lpstr>Datencontainer</vt:lpstr>
      <vt:lpstr>Motivation</vt:lpstr>
      <vt:lpstr>Datencontainer: Motivation</vt:lpstr>
      <vt:lpstr>Kategorien</vt:lpstr>
      <vt:lpstr>Liste in Python</vt:lpstr>
      <vt:lpstr>Dictionary in Python</vt:lpstr>
      <vt:lpstr>Set / Menge in Python</vt:lpstr>
      <vt:lpstr>Allgemeine Eigenschaften der Collections</vt:lpstr>
      <vt:lpstr>Range in Python</vt:lpstr>
      <vt:lpstr>Tupels in Python</vt:lpstr>
      <vt:lpstr>Ein komplexeres Beispiel</vt:lpstr>
      <vt:lpstr>Aufgabenstellung</vt:lpstr>
      <vt:lpstr>Vorgabe</vt:lpstr>
      <vt:lpstr>Lösung</vt:lpstr>
      <vt:lpstr>Ablage auf GitHub</vt:lpstr>
      <vt:lpstr>Funktionen</vt:lpstr>
      <vt:lpstr>Übersicht</vt:lpstr>
      <vt:lpstr>Funktionen</vt:lpstr>
      <vt:lpstr>Deklaration</vt:lpstr>
      <vt:lpstr>Parameter</vt:lpstr>
      <vt:lpstr>Gültigkeitsbereiche der Variablen</vt:lpstr>
      <vt:lpstr>Rückgabewerte von Funktionen</vt:lpstr>
      <vt:lpstr>Ein praktisches Beispiel</vt:lpstr>
      <vt:lpstr>Exkurs: Refactoring</vt:lpstr>
      <vt:lpstr>Zur Aufgabenstellung</vt:lpstr>
      <vt:lpstr>Details zu Funktionen</vt:lpstr>
      <vt:lpstr>Parameter</vt:lpstr>
      <vt:lpstr>Optionale Parameter</vt:lpstr>
      <vt:lpstr>Parameter-Liste</vt:lpstr>
      <vt:lpstr>Benannte Parameter</vt:lpstr>
      <vt:lpstr>Funktionen als Variablen</vt:lpstr>
      <vt:lpstr>Funktionsdefinition revisited</vt:lpstr>
      <vt:lpstr>Noch ein paar Details</vt:lpstr>
      <vt:lpstr>Die Objektorientierte Syntax</vt:lpstr>
      <vt:lpstr>Methoden</vt:lpstr>
      <vt:lpstr>Stand</vt:lpstr>
      <vt:lpstr>Und was bringt uns das?</vt:lpstr>
      <vt:lpstr>String Methods: Code Assist</vt:lpstr>
      <vt:lpstr>String Methods: w3school</vt:lpstr>
      <vt:lpstr>Weitere "Probleme"</vt:lpstr>
      <vt:lpstr>Referenzen</vt:lpstr>
      <vt:lpstr>Speichermodell der Python Laufzeit</vt:lpstr>
      <vt:lpstr>Variable sind Referenzen im Stack</vt:lpstr>
      <vt:lpstr>Literale erzeugen Objekte im Heap</vt:lpstr>
      <vt:lpstr>Warum so kompliziert?</vt:lpstr>
      <vt:lpstr>Parameterübergabe per Referenz</vt:lpstr>
      <vt:lpstr>Objektorientierte Programmierung</vt:lpstr>
      <vt:lpstr>Der OOP-Ansatz</vt:lpstr>
      <vt:lpstr>Das Problem</vt:lpstr>
      <vt:lpstr>Der objektorientierte Ansatz</vt:lpstr>
      <vt:lpstr>Klassifizieren</vt:lpstr>
      <vt:lpstr>Abstrahieren</vt:lpstr>
      <vt:lpstr>Abstrahieren</vt:lpstr>
      <vt:lpstr>Ordnen, Bilden von Hierarchien</vt:lpstr>
      <vt:lpstr>Ordnen, Bilden von Hierarchien</vt:lpstr>
      <vt:lpstr>Objekte</vt:lpstr>
      <vt:lpstr>Klassenmodell und Umsetzung in Python</vt:lpstr>
      <vt:lpstr>Ein Modell visualisiert über ein Klassendiagramm</vt:lpstr>
      <vt:lpstr>Umsetzung in Python</vt:lpstr>
      <vt:lpstr>Erzeugung eines Personen-Objekts</vt:lpstr>
      <vt:lpstr>Implementierung der Methoden</vt:lpstr>
      <vt:lpstr>Erweiterung</vt:lpstr>
      <vt:lpstr>Erweiterung</vt:lpstr>
      <vt:lpstr>Erweiterung</vt:lpstr>
      <vt:lpstr>Erweiterung</vt:lpstr>
      <vt:lpstr>Komplexere Modelle sind natürlich möglich</vt:lpstr>
      <vt:lpstr>Polymorphie</vt:lpstr>
      <vt:lpstr>Polymorphie</vt:lpstr>
      <vt:lpstr>Polymorphie in eigenen Klassen</vt:lpstr>
      <vt:lpstr>Das Klassenobjekt</vt:lpstr>
      <vt:lpstr>Revisited Referenzen</vt:lpstr>
      <vt:lpstr>Revisited Referenzen</vt:lpstr>
      <vt:lpstr>Das Klassenobjekt</vt:lpstr>
      <vt:lpstr>Das Klassenobjekt</vt:lpstr>
      <vt:lpstr>Vererbung</vt:lpstr>
      <vt:lpstr>Direkte Referenzierung des Klassenobjekts</vt:lpstr>
      <vt:lpstr>Eine komplexe Anwendung</vt:lpstr>
      <vt:lpstr>Modell</vt:lpstr>
      <vt:lpstr>Publishing</vt:lpstr>
      <vt:lpstr>Lösung</vt:lpstr>
      <vt:lpstr>Komplette Lösung auf GitHub</vt:lpstr>
      <vt:lpstr>Dunder-Methoden </vt:lpstr>
      <vt:lpstr>Motivation</vt:lpstr>
      <vt:lpstr>Allgemeines</vt:lpstr>
      <vt:lpstr>__repr__ und __str__</vt:lpstr>
      <vt:lpstr>__eq__ und __hash__</vt:lpstr>
      <vt:lpstr>Die object-Klasse</vt:lpstr>
      <vt:lpstr>Problem</vt:lpstr>
      <vt:lpstr>object im Speicher</vt:lpstr>
      <vt:lpstr>Datenverarbeitung mit Collections</vt:lpstr>
      <vt:lpstr>Comprehensions</vt:lpstr>
      <vt:lpstr>Was sind Comprehension?</vt:lpstr>
      <vt:lpstr>Weitere Informationen</vt:lpstr>
      <vt:lpstr>Publishing</vt:lpstr>
      <vt:lpstr>Lambdas</vt:lpstr>
      <vt:lpstr>Funktionen als Objekte</vt:lpstr>
      <vt:lpstr>Lambda-Funktionsdefinition</vt:lpstr>
      <vt:lpstr>Weitere Informationen</vt:lpstr>
      <vt:lpstr>Dateioperationen</vt:lpstr>
      <vt:lpstr>Lesen und Schreiben von Dateien</vt:lpstr>
      <vt:lpstr>open</vt:lpstr>
      <vt:lpstr>Dateien öffnen und lesen</vt:lpstr>
      <vt:lpstr>Fehlerbehandlung</vt:lpstr>
      <vt:lpstr>Dateien schreiben</vt:lpstr>
      <vt:lpstr>Contextmanager</vt:lpstr>
      <vt:lpstr>Motivation</vt:lpstr>
      <vt:lpstr>Lesen mit with</vt:lpstr>
      <vt:lpstr>Schreiben mit with</vt:lpstr>
      <vt:lpstr>Module</vt:lpstr>
      <vt:lpstr>Übersicht</vt:lpstr>
      <vt:lpstr>Entwicklung</vt:lpstr>
      <vt:lpstr>Best Practice</vt:lpstr>
      <vt:lpstr>Details zum import-Statements</vt:lpstr>
      <vt:lpstr>Details zum import-Statements</vt:lpstr>
      <vt:lpstr>Modulkonzept in Python</vt:lpstr>
      <vt:lpstr>Eigenene Module</vt:lpstr>
      <vt:lpstr>Anzeigen von Modul-Informationen</vt:lpstr>
      <vt:lpstr>Beispiele</vt:lpstr>
      <vt:lpstr>Das Modul __main__</vt:lpstr>
      <vt:lpstr>Das Modul math</vt:lpstr>
      <vt:lpstr>Das Modul random</vt:lpstr>
      <vt:lpstr>Variablen von  os</vt:lpstr>
      <vt:lpstr>Methoden von os</vt:lpstr>
      <vt:lpstr>Das Modul sys</vt:lpstr>
      <vt:lpstr>Regular Expressions mit re</vt:lpstr>
      <vt:lpstr>Regular Expressions</vt:lpstr>
      <vt:lpstr>Regular Expressions</vt:lpstr>
      <vt:lpstr>Das Modul datetime</vt:lpstr>
      <vt:lpstr>Datumskonvertierung mit time</vt:lpstr>
      <vt:lpstr>JSON</vt:lpstr>
      <vt:lpstr>pip und PyPi</vt:lpstr>
      <vt:lpstr>Bereitstellung von Modulen</vt:lpstr>
      <vt:lpstr>Das Modul-Repository PyPi</vt:lpstr>
      <vt:lpstr>Externe Module</vt:lpstr>
      <vt:lpstr>Einführung in PIP</vt:lpstr>
      <vt:lpstr>Verwendung von PIP</vt:lpstr>
      <vt:lpstr>PIP in virtuellen Umgebungen</vt:lpstr>
      <vt:lpstr>Best Practices und Troubleshooting</vt:lpstr>
      <vt:lpstr>http-Zugriff</vt:lpstr>
      <vt:lpstr>Grundlagen</vt:lpstr>
      <vt:lpstr>Schritt für Schritt</vt:lpstr>
      <vt:lpstr>Datenbankzugriff</vt:lpstr>
      <vt:lpstr>Überblick</vt:lpstr>
      <vt:lpstr>Datenbanksysteme</vt:lpstr>
      <vt:lpstr>SQL Primer</vt:lpstr>
      <vt:lpstr>SQL</vt:lpstr>
      <vt:lpstr>Beispiel</vt:lpstr>
      <vt:lpstr>Python-Programm</vt:lpstr>
      <vt:lpstr>RESTful WebServices</vt:lpstr>
      <vt:lpstr>Rekapitulation und Überblick</vt:lpstr>
      <vt:lpstr>Rekapitulation</vt:lpstr>
      <vt:lpstr>REST im Detail</vt:lpstr>
      <vt:lpstr>Beispiel</vt:lpstr>
      <vt:lpstr>Lesender Zugriff auf einen RESTful WebService</vt:lpstr>
      <vt:lpstr>SSH</vt:lpstr>
      <vt:lpstr>Übersicht</vt:lpstr>
      <vt:lpstr>Prinzip</vt:lpstr>
      <vt:lpstr>Was ist alles im ersten S von SSH drin?</vt:lpstr>
      <vt:lpstr>Was ist alles im ersten S von SSH drin?</vt:lpstr>
      <vt:lpstr>Was ist alles im ersten S von SSH drin?</vt:lpstr>
      <vt:lpstr>Was ist alles im ersten S von SSH drin?</vt:lpstr>
      <vt:lpstr>Paramiko</vt:lpstr>
      <vt:lpstr>SSH-Module in Python</vt:lpstr>
      <vt:lpstr>Ein paar Hinweise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Unilog Integrata Training</dc:title>
  <dc:creator>Administrator</dc:creator>
  <cp:lastModifiedBy>Rainer Sawitzki</cp:lastModifiedBy>
  <cp:revision>428</cp:revision>
  <cp:lastPrinted>2005-09-19T06:45:10Z</cp:lastPrinted>
  <dcterms:modified xsi:type="dcterms:W3CDTF">2025-05-20T04:51:36Z</dcterms:modified>
</cp:coreProperties>
</file>